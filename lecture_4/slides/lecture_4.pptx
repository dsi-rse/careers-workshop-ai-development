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anthropic.com/engineering/building-effective-agent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thropics/claude-code/tree/main/plugins/ralph-wiggu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Lecture 4: AI Agents &amp; Tool Use</a:t>
            </a:r>
            <a:endParaRPr sz="40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Building an Application Routing Agent</a:t>
            </a:r>
            <a:endParaRPr sz="1800"/>
          </a:p>
          <a:p>
            <a:pPr lvl="0" rtl="0" algn="l" mar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/>
              <a:t>University of Chicago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Outline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Where We Are and Where We're Going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The Optimized Scorer: What “Solved” Looks Like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AI Agents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Readings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Production Considerations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Agentic Email Outreach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Your Turn: Building the Agent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Where We Are and Where We're Going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The Story So Far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Lecture 1</a:t>
            </a:r>
            <a:r>
              <a:rPr lang="en" sz="1600"/>
              <a:t>: Foundations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LLMs, tokens, context windows, APIs, pricing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Lecture 2</a:t>
            </a:r>
            <a:r>
              <a:rPr lang="en" sz="1600"/>
              <a:t>: Building a System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Vertical slices and Crawl-Walk-Run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Built a resume scorer: one prompt → one score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Lecture 3</a:t>
            </a:r>
            <a:r>
              <a:rPr lang="en" sz="1600"/>
              <a:t>: Making It Good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Decomposition, citations, few-shot examples, temperature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Improved the scorer until gold and silver resumes separate cleanly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Result</a:t>
            </a:r>
            <a:r>
              <a:rPr lang="en" sz="1600"/>
              <a:t>: We have a reliable process for scoring resumes.</a:t>
            </a:r>
            <a:br/>
            <a:r>
              <a:rPr lang="en" b="1" sz="1600"/>
              <a:t>Question</a:t>
            </a:r>
            <a:r>
              <a:rPr lang="en" sz="1600"/>
              <a:t>: Now what do we </a:t>
            </a:r>
            <a:r>
              <a:rPr lang="en" i="1" sz="1600"/>
              <a:t>do</a:t>
            </a:r>
            <a:r>
              <a:rPr lang="en" sz="1600"/>
              <a:t> with those scores?</a:t>
            </a:r>
            <a:endParaRPr sz="16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What We Want to Build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A hiring pipeline doesn't end at a score.</a:t>
            </a:r>
            <a:r>
              <a:rPr lang="en" sz="1800"/>
              <a:t> After scoring, you need to: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Schedule interviews for strong candidates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Reject poor matches with a polite email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Flag edge cases for human review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Route specialists to the right department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These are </a:t>
            </a:r>
            <a:r>
              <a:rPr lang="en" b="1" sz="1800"/>
              <a:t>actions</a:t>
            </a:r>
            <a:r>
              <a:rPr lang="en" sz="1800"/>
              <a:t>, not text. Our current system can't do any of them.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Today</a:t>
            </a:r>
            <a:r>
              <a:rPr lang="en" sz="1800"/>
              <a:t>: Give LLMs the ability to </a:t>
            </a:r>
            <a:r>
              <a:rPr lang="en" i="1" sz="1800"/>
              <a:t>act</a:t>
            </a:r>
            <a:r>
              <a:rPr lang="en" sz="1800"/>
              <a:t> — through </a:t>
            </a:r>
            <a:r>
              <a:rPr lang="en" b="1" sz="1800"/>
              <a:t>tools</a:t>
            </a:r>
            <a:r>
              <a:rPr lang="en" sz="1800"/>
              <a:t> and </a:t>
            </a:r>
            <a:r>
              <a:rPr lang="en" b="1" sz="1800"/>
              <a:t>agents</a:t>
            </a:r>
            <a:r>
              <a:rPr lang="en" sz="1800"/>
              <a:t>.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The Optimized Scorer: What “Solved” Looks Like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Recap: The Prompt That Works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After three lectures of iteration, we have a scoring prompt with: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 sz="1800"/>
              <a:t>Core disqualifier checks</a:t>
            </a:r>
            <a:r>
              <a:rPr lang="en" sz="1800"/>
              <a:t> — missing .NET → cap at 55, no SQL → cap at 60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 sz="1800"/>
              <a:t>Anchor-point scoring bands</a:t>
            </a:r>
            <a:r>
              <a:rPr lang="en" sz="1800"/>
              <a:t> — explicit ranges (0–30, 31–49, …, 93–100)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 sz="1800"/>
              <a:t>Bonus/penalty system</a:t>
            </a:r>
            <a:r>
              <a:rPr lang="en" sz="1800"/>
              <a:t> — AWS +3, no Agile -2, frontend-only -10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 sz="1800"/>
              <a:t>7 calibration examples</a:t>
            </a:r>
            <a:r>
              <a:rPr lang="en" sz="1800"/>
              <a:t> — from “registered nurse → 5–15” to “9 years C#/.NET + React + AWS → 93–97”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This is context engineering in action: every rule, cap, and example is steering the model toward consistent, defensible scores.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The Results</a:t>
            </a:r>
            <a:endParaRPr sz="2800"/>
          </a:p>
        </p:txBody>
      </p:sp>
      <p:sp>
        <p:nvSpPr>
          <p:cNvPr id="3" name="TextBox"/>
          <p:cNvSpPr txBox="1"/>
          <p:nvPr/>
        </p:nvSpPr>
        <p:spPr>
          <a:xfrm>
            <a:off x="311700" y="1152475"/>
            <a:ext cx="8520600" cy="434340"/>
          </a:xfrm>
          <a:prstGeom prst="rect">
            <a:avLst/>
          </a:prstGeom>
          <a:noFill/>
        </p:spPr>
        <p:txBody>
          <a:bodyPr wrap="square" anchor="t" lIns="91425" rIns="91425" tIns="45700" bIns="45700">
            <a:noAutofit/>
          </a:bodyPr>
          <a:lstStyle/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b="1" sz="1500"/>
              <a:t>Scoring 8 resumes</a:t>
            </a:r>
            <a:r>
              <a:rPr lang="en" sz="1500"/>
              <a:t> (2 gold, 2 silver, 4 wild) with Mistral Small:</a:t>
            </a:r>
            <a:endParaRPr sz="150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1700" y="1688415"/>
          <a:ext cx="8520599" cy="1360170"/>
        </p:xfrm>
        <a:graphic>
          <a:graphicData uri="http://schemas.openxmlformats.org/drawingml/2006/table">
            <a:tbl>
              <a:tblPr firstRow="0" bandRow="0"/>
              <a:tblGrid>
                <a:gridCol w="4260300"/>
                <a:gridCol w="3139168"/>
                <a:gridCol w="1121131"/>
              </a:tblGrid>
              <a:tr h="340042"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300"/>
                        <a:t>Tier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300"/>
                        <a:t>Scores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300"/>
                        <a:t>Mean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Gold (strong match)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97, 98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97.5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Silver (weak match)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72, 72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72.0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</a:tr>
              <a:tr h="340044"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Wild (random)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10, 15, 15, 15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rtl="0"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13.75</a:t>
                      </a:r>
                      <a:endParaRPr sz="1300"/>
                    </a:p>
                  </a:txBody>
                  <a:tcPr marL="68580" marR="68580" marT="34290" marB="34290">
                    <a:lnL w="9525" cap="flat" cmpd="sng" algn="ctr">
                      <a:solidFill>
                        <a:srgbClr val="999999"/>
                      </a:solidFill>
                      <a:prstDash val="soli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"/>
          <p:cNvSpPr txBox="1"/>
          <p:nvPr/>
        </p:nvSpPr>
        <p:spPr>
          <a:xfrm>
            <a:off x="311700" y="3150185"/>
            <a:ext cx="8520600" cy="1605915"/>
          </a:xfrm>
          <a:prstGeom prst="rect">
            <a:avLst/>
          </a:prstGeom>
          <a:noFill/>
        </p:spPr>
        <p:txBody>
          <a:bodyPr wrap="square" anchor="t" lIns="91425" rIns="91425" tIns="45700" bIns="45700">
            <a:noAutofit/>
          </a:bodyPr>
          <a:lstStyle/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Clean separation: gold &gt;&gt; silver &gt;&gt; wild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Total cost: $0.002 for all 8 resumes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Uses a </a:t>
            </a:r>
            <a:r>
              <a:rPr lang="en" i="1" sz="1500"/>
              <a:t>cheap</a:t>
            </a:r>
            <a:r>
              <a:rPr lang="en" sz="1500"/>
              <a:t> model (Mistral Small) — the prompt does the heavy lifting</a:t>
            </a:r>
            <a:endParaRPr sz="1500"/>
          </a:p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b="1" sz="1500"/>
              <a:t>Takeaway</a:t>
            </a:r>
            <a:r>
              <a:rPr lang="en" sz="1500"/>
              <a:t>: A well-engineered prompt can make even inexpensive models perform well. Now let's use these scores to </a:t>
            </a:r>
            <a:r>
              <a:rPr lang="en" i="1" sz="1500"/>
              <a:t>take action</a:t>
            </a:r>
            <a:r>
              <a:rPr lang="en" sz="1500"/>
              <a:t>.</a:t>
            </a:r>
            <a:endParaRPr sz="1500"/>
          </a:p>
        </p:txBody>
      </p:sp>
      <p:sp>
        <p:nvSpPr>
          <p:cNvPr id="6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AI Agents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What is an AI Agent?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An </a:t>
            </a:r>
            <a:r>
              <a:rPr lang="en" b="1" sz="1800"/>
              <a:t>AI Agent</a:t>
            </a:r>
            <a:r>
              <a:rPr lang="en" sz="1800"/>
              <a:t> is an LLM that can use </a:t>
            </a:r>
            <a:r>
              <a:rPr lang="en" b="1" sz="1800"/>
              <a:t>tools</a:t>
            </a:r>
            <a:r>
              <a:rPr lang="en" sz="1800"/>
              <a:t> to interact with the outside world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While a basic LLM can only generate text based on its training data, an agent can interact with “tools" that:</a:t>
            </a:r>
            <a:endParaRPr sz="18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Database Tools</a:t>
            </a:r>
            <a:r>
              <a:rPr lang="en" sz="1700"/>
              <a:t>: Query databases, insert/update/delete records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API Tools</a:t>
            </a:r>
            <a:r>
              <a:rPr lang="en" sz="1700"/>
              <a:t>: Call REST APIs, interact with web services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File System Tools</a:t>
            </a:r>
            <a:r>
              <a:rPr lang="en" sz="1700"/>
              <a:t>: Read/write files, list directories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Code Execution Tools</a:t>
            </a:r>
            <a:r>
              <a:rPr lang="en" sz="1700"/>
              <a:t>: Run Python code, execute shell commands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Web Tools</a:t>
            </a:r>
            <a:r>
              <a:rPr lang="en" sz="1700"/>
              <a:t>: Search the web, scrape websites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...and more</a:t>
            </a:r>
            <a:endParaRPr sz="17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How Do They Work?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Agents are surprisingly simple</a:t>
            </a:r>
            <a:r>
              <a:rPr lang="en" sz="1800"/>
              <a:t>: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Key idea</a:t>
            </a:r>
            <a:r>
              <a:rPr lang="en" sz="1800"/>
              <a:t>: The LLM chooses which tool to use (or decides not to use any)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The Agent Loop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ctr" marL="0" indent="0">
              <a:spcBef>
                <a:spcPts val="1019"/>
              </a:spcBef>
              <a:spcAft>
                <a:spcPts val="0"/>
              </a:spcAft>
              <a:buNone/>
            </a:pPr>
            <a:r>
              <a:rPr lang="en" sz="1700"/>
              <a:t>We can simplify this into “The Agent Loop"</a:t>
            </a:r>
            <a:endParaRPr sz="1700"/>
          </a:p>
          <a:p>
            <a:pPr lvl="0" rtl="0" algn="ctr" marL="0" indent="0">
              <a:spcBef>
                <a:spcPts val="1019"/>
              </a:spcBef>
              <a:spcAft>
                <a:spcPts val="0"/>
              </a:spcAft>
              <a:buNone/>
            </a:pPr>
            <a:r>
              <a:rPr lang="en" sz="1700"/>
              <a:t>Observe → Think → Act → Observe → …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b="1" sz="1700"/>
              <a:t>Observe</a:t>
            </a:r>
            <a:r>
              <a:rPr lang="en" sz="1700"/>
              <a:t>: Receive input (user query, tool results, system state)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b="1" sz="1700"/>
              <a:t>Think</a:t>
            </a:r>
            <a:r>
              <a:rPr lang="en" sz="1700"/>
              <a:t>: Process information and decide what to do next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b="1" sz="1700"/>
              <a:t>Act</a:t>
            </a:r>
            <a:r>
              <a:rPr lang="en" sz="1700"/>
              <a:t>: Execute actions (call tools, generate responses)</a:t>
            </a:r>
            <a:endParaRPr sz="1700"/>
          </a:p>
          <a:p>
            <a:pPr lvl="0" rtl="0" algn="l" marL="0" indent="0">
              <a:spcBef>
                <a:spcPts val="1019"/>
              </a:spcBef>
              <a:spcAft>
                <a:spcPts val="0"/>
              </a:spcAft>
              <a:buNone/>
            </a:pPr>
            <a:r>
              <a:rPr lang="en" b="1" sz="1700"/>
              <a:t>Each turn of the loop</a:t>
            </a:r>
            <a:r>
              <a:rPr lang="en" sz="1700"/>
              <a:t>: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Agent sees: current state + what's been done so far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Agent decides: which tool to call next (via LLM)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Execute tool, log result</a:t>
            </a:r>
            <a:endParaRPr sz="1700"/>
          </a:p>
          <a:p>
            <a:pPr lvl="0" rtl="0" algn="l" marL="457200" indent="-342900"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Repeat until agent calls 'done' or max turns reached</a:t>
            </a:r>
            <a:endParaRPr sz="17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Core Components of an Agent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b="1" sz="1500"/>
              <a:t>Every agent system has four main components</a:t>
            </a:r>
            <a:r>
              <a:rPr lang="en" sz="1500"/>
              <a:t>: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b="1" sz="1500"/>
              <a:t>System Prompt</a:t>
            </a:r>
            <a:endParaRPr sz="1500"/>
          </a:p>
          <a:p>
            <a:pPr lvl="1" rtl="0" algn="l" marL="914400" indent="-317500">
              <a:spcBef>
                <a:spcPts val="63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Overall system parameters</a:t>
            </a:r>
            <a:endParaRPr sz="14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b="1" sz="1500"/>
              <a:t>Tool Registry</a:t>
            </a:r>
            <a:endParaRPr sz="1500"/>
          </a:p>
          <a:p>
            <a:pPr lvl="1" rtl="0" algn="l" marL="914400" indent="-317500">
              <a:spcBef>
                <a:spcPts val="63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Collection of available functions/tools with their descriptions and required parameters</a:t>
            </a:r>
            <a:endParaRPr sz="1400"/>
          </a:p>
          <a:p>
            <a:pPr lvl="1" rtl="0" algn="l" marL="914400" indent="-317500">
              <a:spcBef>
                <a:spcPts val="63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The agent may choose from this registry</a:t>
            </a:r>
            <a:endParaRPr sz="14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b="1" sz="1500"/>
              <a:t>Action History / Conversation Memory</a:t>
            </a:r>
            <a:endParaRPr sz="1500"/>
          </a:p>
          <a:p>
            <a:pPr lvl="1" rtl="0" algn="l" marL="914400" indent="-317500">
              <a:spcBef>
                <a:spcPts val="63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What tools have been called so far?</a:t>
            </a:r>
            <a:endParaRPr sz="1400"/>
          </a:p>
          <a:p>
            <a:pPr lvl="1" rtl="0" algn="l" marL="914400" indent="-317500">
              <a:spcBef>
                <a:spcPts val="63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What were the results?</a:t>
            </a:r>
            <a:endParaRPr sz="14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b="1" sz="1500"/>
              <a:t>User Prompt / Task</a:t>
            </a:r>
            <a:endParaRPr sz="1500"/>
          </a:p>
          <a:p>
            <a:pPr lvl="1" rtl="0" algn="l" marL="914400" indent="-317500">
              <a:spcBef>
                <a:spcPts val="63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The user-provided prompt</a:t>
            </a:r>
            <a:endParaRPr sz="14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The Tool Ecosystem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840"/>
              </a:spcBef>
              <a:spcAft>
                <a:spcPts val="0"/>
              </a:spcAft>
              <a:buNone/>
            </a:pPr>
            <a:r>
              <a:rPr lang="en" b="1" sz="1400"/>
              <a:t>Different approaches for defining and sharing tools</a:t>
            </a:r>
            <a:r>
              <a:rPr lang="en" sz="1400"/>
              <a:t>:</a:t>
            </a:r>
            <a:endParaRPr sz="14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b="1" sz="1400"/>
              <a:t>MCP (Model Context Protocol)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Standardized protocol for connecting AI assistants to external tools and data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Developed by Anthropic; allows tools to be shared across different AI systems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Example: Database connections, API integrations, file system access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b="1" sz="1400"/>
              <a:t>agents.txt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Markdown file describing available tools and agent capabilities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Simple, human-readable format for tool discovery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Often placed in project root for documentation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b="1" sz="1400"/>
              <a:t>Skills / Plugins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Pre-packaged tool collections for specific tasks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Examples: PDF parsing, web scraping, git operations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Can be installed and configured per-project</a:t>
            </a:r>
            <a:endParaRPr sz="13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Example: Weather Query (Context)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Agent has access to a web search tool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User asks</a:t>
            </a:r>
            <a:r>
              <a:rPr lang="en" sz="1600"/>
              <a:t>: “What's the weather tomorrow in Chicago?"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Context window contains</a:t>
            </a:r>
            <a:r>
              <a:rPr lang="en" sz="1600"/>
              <a:t>: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System Prompt:</a:t>
            </a:r>
            <a:endParaRPr sz="1600"/>
          </a:p>
          <a:p>
            <a:pPr lvl="1" rtl="0" algn="l" marL="914400" indent="-317500"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Use the tools below to answer the user's query. Return your decision as JSON: {"tool": ..., "parameters": {...}, "reasoning": "..."}"</a:t>
            </a:r>
            <a:endParaRPr sz="15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Tool Registry</a:t>
            </a:r>
            <a:r>
              <a:rPr lang="en" sz="1600"/>
              <a:t>:</a:t>
            </a:r>
            <a:endParaRPr sz="1600"/>
          </a:p>
          <a:p>
            <a:pPr lvl="1" rtl="0" algn="l" marL="914400" indent="-317500"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web_search(query: str) -&gt; str</a:t>
            </a:r>
            <a:r>
              <a:rPr lang="en" sz="1500"/>
              <a:t>: Search the web and return results</a:t>
            </a:r>
            <a:endParaRPr sz="1500"/>
          </a:p>
          <a:p>
            <a:pPr lvl="1" rtl="0" algn="l" marL="914400" indent="-317500"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done(message: str)</a:t>
            </a:r>
            <a:r>
              <a:rPr lang="en" sz="1500"/>
              <a:t>: Signal completion with a final message</a:t>
            </a:r>
            <a:endParaRPr sz="15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User Query</a:t>
            </a:r>
            <a:r>
              <a:rPr lang="en" sz="1600"/>
              <a:t>: “What's the weather tomorrow in Chicago?"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CODE sends this to LLM</a:t>
            </a:r>
            <a:endParaRPr sz="16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Example: Weather Query (Response)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LLM Response (Turn 1)</a:t>
            </a:r>
            <a:r>
              <a:rPr lang="en" sz="1800"/>
              <a:t>: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JSON Output</a:t>
            </a:r>
            <a:endParaRPr sz="1800"/>
          </a:p>
          <a:p>
            <a:pPr lvl="1" rtl="0" algn="l" marL="45720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"tool": "web_search",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"parameters": {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  "query": "Chicago weather tomorrow forecast"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},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"reasoning": "Need to search for current weather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              forecast to answer the user's question"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311700" y="445025"/>
            <a:ext cx="8520600" cy="2011679"/>
          </a:xfrm>
          <a:prstGeom prst="rect">
            <a:avLst/>
          </a:prstGeom>
          <a:noFill/>
        </p:spPr>
        <p:txBody>
          <a:bodyPr wrap="square" anchor="t" lIns="91425" rIns="91425" tIns="45700" bIns="45700"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CODE Response</a:t>
            </a:r>
            <a:r>
              <a:rPr lang="en" sz="1800"/>
              <a:t>: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Parses this JSON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Executes </a:t>
            </a:r>
            <a:r>
              <a:rPr lang="en" sz="1800">
                <a:latin typeface="Courier New"/>
                <a:ea typeface="Courier New"/>
                <a:cs typeface="Courier New"/>
                <a:sym typeface="Courier New"/>
              </a:rPr>
              <a:t>web_search("Chicago weather tomorrow forecast")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Gets result: “Tomorrow: 45 deg F, partly cloudy, 20% chance of rain"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Adds result to context for next turn</a:t>
            </a:r>
            <a:endParaRPr sz="18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Example: Weather Query (Turn 2)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Updated context window now includes</a:t>
            </a:r>
            <a:r>
              <a:rPr lang="en" sz="1800"/>
              <a:t>: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Original query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Tool registry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Previous action: Called </a:t>
            </a:r>
            <a:r>
              <a:rPr lang="en" sz="1800">
                <a:latin typeface="Courier New"/>
                <a:ea typeface="Courier New"/>
                <a:cs typeface="Courier New"/>
                <a:sym typeface="Courier New"/>
              </a:rPr>
              <a:t>web_search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Previous result: “Tomorrow: 45 deg F, partly cloudy, 20% chance of rain"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CODE Sends this to LLM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311700" y="445025"/>
            <a:ext cx="8520600" cy="3086100"/>
          </a:xfrm>
          <a:prstGeom prst="rect">
            <a:avLst/>
          </a:prstGeom>
          <a:noFill/>
        </p:spPr>
        <p:txBody>
          <a:bodyPr wrap="square" anchor="t" lIns="91425" rIns="91425" tIns="45700" bIns="45700"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LLM Response (Turn 2)</a:t>
            </a:r>
            <a:r>
              <a:rPr lang="en" sz="1800"/>
              <a:t>: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JSON Output</a:t>
            </a:r>
            <a:endParaRPr sz="1800"/>
          </a:p>
          <a:p>
            <a:pPr lvl="1" rtl="0" algn="l" marL="45720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"tool": "done",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"parameters": {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  "message": "Tomorrow in Chicago will be 45 deg F with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              partly cloudy skies and a 20% chance of rain."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},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"reasoning": "I have the weather information needed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               to answer the user's question"</a:t>
            </a:r>
            <a:endParaRPr sz="15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311700" y="445025"/>
            <a:ext cx="8520600" cy="1154430"/>
          </a:xfrm>
          <a:prstGeom prst="rect">
            <a:avLst/>
          </a:prstGeom>
          <a:noFill/>
        </p:spPr>
        <p:txBody>
          <a:bodyPr wrap="square" anchor="t" lIns="91425" rIns="91425" tIns="45700" bIns="45700"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CODE Response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Since the tool is “done", the code knows to stop the loop and return control to the user.</a:t>
            </a:r>
            <a:endParaRPr sz="18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Implementing the Loop in Code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This is just a simple loop!</a:t>
            </a:r>
            <a:r>
              <a:rPr lang="en" sz="1800"/>
              <a:t>: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Pseudo-code</a:t>
            </a:r>
            <a:endParaRPr sz="1800"/>
          </a:p>
          <a:p>
            <a:pPr lvl="1" rtl="0" algn="l" marL="45720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action_history = []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for turn in range(1, max_turns):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decision = call_llm(context, tools, action_history)     # LLM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tool_name = decision['tool']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params = decision['parameters']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result = execute_tool(tool_name, params) # execute tool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action_history.append({ 'tool': tool_name, 'result': result}) # update context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if tool_name == 'done':     # Check if done</a:t>
            </a:r>
            <a:endParaRPr sz="1294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94">
                <a:latin typeface="Courier New"/>
                <a:ea typeface="Courier New"/>
                <a:cs typeface="Courier New"/>
                <a:sym typeface="Courier New"/>
              </a:rPr>
              <a:t>        break</a:t>
            </a:r>
            <a:endParaRPr sz="1294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Readings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Required Reading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Agents and Tools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linkClick r:id="rId2"/>
              </a:rPr>
              <a:t>Building Effective Agents</a:t>
            </a:r>
            <a:r>
              <a:rPr lang="en" sz="1800"/>
              <a:t> — Anthropic's guide to agent patterns and best practices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Reading Takeaway: Start Simple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b="1" sz="1500"/>
              <a:t>Anthropic's #1 finding</a:t>
            </a:r>
            <a:r>
              <a:rPr lang="en" sz="1500"/>
              <a:t>: The most successful agent deployments use simple, composable patterns — not fancy frameworks.</a:t>
            </a:r>
            <a:endParaRPr sz="1500"/>
          </a:p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b="1" sz="1500"/>
              <a:t>Their recommended progression</a:t>
            </a:r>
            <a:r>
              <a:rPr lang="en" sz="1500"/>
              <a:t>: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Start with a single, well-engineered LLM call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Add retrieval and structured output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Only then consider multi-step agents</a:t>
            </a:r>
            <a:endParaRPr sz="1500"/>
          </a:p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b="1" sz="1500"/>
              <a:t>Sound familiar?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Lecture 2: single prompt → score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Lecture 3: decomposition, citations, few-shot</a:t>
            </a:r>
            <a:endParaRPr sz="1500"/>
          </a:p>
          <a:p>
            <a:pPr lvl="0" rtl="0" algn="l" marL="457200" indent="-342900">
              <a:spcBef>
                <a:spcPts val="67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Lecture 4 (today): agent loop with tools</a:t>
            </a:r>
            <a:endParaRPr sz="1500"/>
          </a:p>
          <a:p>
            <a:pPr lvl="0" rtl="0" algn="l"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500"/>
              <a:t>You've been following best practice all along. Most real-world problems </a:t>
            </a:r>
            <a:r>
              <a:rPr lang="en" b="1" sz="1500"/>
              <a:t>don't need agents</a:t>
            </a:r>
            <a:r>
              <a:rPr lang="en" sz="1500"/>
              <a:t> — a good prompt is enough.</a:t>
            </a:r>
            <a:endParaRPr sz="15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Reading Takeaway: Tool Design &gt; Prompt Design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Anthropic spent more time optimizing tools than prompts</a:t>
            </a:r>
            <a:r>
              <a:rPr lang="en" sz="1600"/>
              <a:t> on their coding agent.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sz="1600"/>
              <a:t>Why? Because tools are the </a:t>
            </a:r>
            <a:r>
              <a:rPr lang="en" b="1" sz="1600"/>
              <a:t>interface</a:t>
            </a:r>
            <a:r>
              <a:rPr lang="en" sz="1600"/>
              <a:t> the model uses to act. Bad tool design → bad decisions.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What makes a good tool?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Clear descriptions</a:t>
            </a:r>
            <a:r>
              <a:rPr lang="en" sz="1600"/>
              <a:t> — would a new employee understand what this tool does?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Examples</a:t>
            </a:r>
            <a:r>
              <a:rPr lang="en" sz="1600"/>
              <a:t> in the tool description (edge cases, expected formats)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Obvious parameters</a:t>
            </a:r>
            <a:r>
              <a:rPr lang="en" sz="1600"/>
              <a:t> — don't make the model guess</a:t>
            </a:r>
            <a:endParaRPr sz="1600"/>
          </a:p>
          <a:p>
            <a:pPr lvl="0" rtl="0" algn="l" marL="457200" indent="-342900"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b="1" sz="1600"/>
              <a:t>Error-proof design</a:t>
            </a:r>
            <a:r>
              <a:rPr lang="en" sz="1600"/>
              <a:t> — when relative file paths caused bugs, they switched to absolute paths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Lesson</a:t>
            </a:r>
            <a:r>
              <a:rPr lang="en" sz="1600"/>
              <a:t>: Treat tool descriptions like you treat prompts — iterate, test, improve.</a:t>
            </a:r>
            <a:endParaRPr sz="16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Reading Takeaway: Ground Truth From the Environment</a:t>
            </a:r>
            <a:endParaRPr sz="25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What makes agents different from a chain of prompts?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Agents get </a:t>
            </a:r>
            <a:r>
              <a:rPr lang="en" b="1" sz="1800"/>
              <a:t>real information back</a:t>
            </a:r>
            <a:r>
              <a:rPr lang="en" sz="1800"/>
              <a:t> from tools that they didn't have before.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agent </a:t>
            </a:r>
            <a:r>
              <a:rPr lang="en" b="1" sz="1800"/>
              <a:t>couldn't decide</a:t>
            </a:r>
            <a:r>
              <a:rPr lang="en" sz="1800"/>
              <a:t> on turn 1 — it needed the score first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tool result </a:t>
            </a:r>
            <a:r>
              <a:rPr lang="en" b="1" sz="1800"/>
              <a:t>changed what happened next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This is why the loop exists: each step depends on what came before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Without this feedback, you just have a checklist — not an agent.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Production Considerations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Common Failure Modes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840"/>
              </a:spcBef>
              <a:spcAft>
                <a:spcPts val="0"/>
              </a:spcAft>
              <a:buNone/>
            </a:pPr>
            <a:r>
              <a:rPr lang="en" b="1" sz="1400"/>
              <a:t>Agents can fail in predictable ways</a:t>
            </a:r>
            <a:r>
              <a:rPr lang="en" sz="1400"/>
              <a:t>:</a:t>
            </a:r>
            <a:endParaRPr sz="14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Infinite Loops / Repeated Actions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Agent calls the same tool repeatedly without progress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i="1" sz="1300"/>
              <a:t>Mitigation</a:t>
            </a:r>
            <a:r>
              <a:rPr lang="en" sz="1300"/>
              <a:t>: Track action history, detect cycles, set max turns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Tool Hallucination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Agent invents tool names that don't exist in the registry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i="1" sz="1300"/>
              <a:t>Mitigation</a:t>
            </a:r>
            <a:r>
              <a:rPr lang="en" sz="1300"/>
              <a:t>: Validate tool names, provide clear error messages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Parameter Errors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Agent provides wrong types or missing required parameters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i="1" sz="1300"/>
              <a:t>Mitigation</a:t>
            </a:r>
            <a:r>
              <a:rPr lang="en" sz="1300"/>
              <a:t>: Schema validation, examples in tool descriptions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Premature Completion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Agent calls 'done' before completing necessary actions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i="1" sz="1300"/>
              <a:t>Mitigation</a:t>
            </a:r>
            <a:r>
              <a:rPr lang="en" sz="1300"/>
              <a:t>: Clear instructions about required steps, validate state</a:t>
            </a:r>
            <a:endParaRPr sz="13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Ralph Wiggum: Preventing Premature Completion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A viral tool for preventing premature completion</a:t>
            </a:r>
            <a:endParaRPr sz="1800"/>
          </a:p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Source: </a:t>
            </a:r>
            <a:r>
              <a:rPr lang="en" sz="1800">
                <a:hlinkClick r:id="rId2"/>
              </a:rPr>
              <a:t>https://github.com/anthropics/claude-code/tree/main/plugins/ralph-wiggum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Real-World and Ethical Considerations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Agents act in the world — that raises the stakes.</a:t>
            </a:r>
            <a:endParaRPr sz="1300"/>
          </a:p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Engineering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b="1" sz="1300"/>
              <a:t>Safety</a:t>
            </a:r>
            <a:r>
              <a:rPr lang="en" sz="1300"/>
              <a:t>: Max turn limits, cost caps, emergency stops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b="1" sz="1300"/>
              <a:t>Observability</a:t>
            </a:r>
            <a:r>
              <a:rPr lang="en" sz="1300"/>
              <a:t>: Log every tool call, track costs, monitor success rates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b="1" sz="1300"/>
              <a:t>Reliability</a:t>
            </a:r>
            <a:r>
              <a:rPr lang="en" sz="1300"/>
              <a:t>: Validate parameters, retry on transient errors, fall back to humans</a:t>
            </a:r>
            <a:endParaRPr sz="1300"/>
          </a:p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Ethics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b="1" sz="1300"/>
              <a:t>Bias</a:t>
            </a:r>
            <a:r>
              <a:rPr lang="en" sz="1300"/>
              <a:t>: Agents perpetuate training data biases — resume screening can disadvantage demographics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b="1" sz="1300"/>
              <a:t>Transparency</a:t>
            </a:r>
            <a:r>
              <a:rPr lang="en" sz="1300"/>
              <a:t>: Decisions must be explainable to stakeholders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b="1" sz="1300"/>
              <a:t>Accountability</a:t>
            </a:r>
            <a:r>
              <a:rPr lang="en" sz="1300"/>
              <a:t>: Who is responsible when the agent is wrong?</a:t>
            </a:r>
            <a:endParaRPr sz="1300"/>
          </a:p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The common answer: human-in-the-loop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Design explicit “flag for review” tools for high-stakes, edge-case, or low-confidence decisions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Keep an audit trail of every action and why it was taken</a:t>
            </a:r>
            <a:endParaRPr sz="13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Agentic Email Outreach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Agentic Resume Outreach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An agentic system that scores resumes and drafts personalized emails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Tools make </a:t>
            </a:r>
            <a:r>
              <a:rPr lang="en" b="1" sz="1800"/>
              <a:t>real LLM calls</a:t>
            </a:r>
            <a:r>
              <a:rPr lang="en" sz="1800"/>
              <a:t> — the agent genuinely needs the loop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Agent can't draft the email until it knows the score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Each tool creates new information that flows into the next decision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Components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Tool Registry</a:t>
            </a:r>
            <a:r>
              <a:rPr lang="en" sz="1400"/>
              <a:t> — Python functions the agent can call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score_resume</a:t>
            </a:r>
            <a:r>
              <a:rPr lang="en" sz="1300"/>
              <a:t> — runs the L3 optimized scorer (real LLM call)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draft_outreach_email</a:t>
            </a:r>
            <a:r>
              <a:rPr lang="en" sz="1300"/>
              <a:t> — generates a personalized email (real LLM call)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done</a:t>
            </a:r>
            <a:r>
              <a:rPr lang="en" sz="1300"/>
              <a:t> — signals processing is complete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Agent Loop</a:t>
            </a:r>
            <a:r>
              <a:rPr lang="en" sz="1400"/>
              <a:t> — Multi-turn decision making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Observe action history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Decide which tool to call next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Execute tool and log result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Repeat until done</a:t>
            </a:r>
            <a:endParaRPr sz="1300"/>
          </a:p>
          <a:p>
            <a:pPr lvl="0" rtl="0" algn="l" marL="457200" indent="-342900">
              <a:spcBef>
                <a:spcPts val="630"/>
              </a:spcBef>
              <a:spcAft>
                <a:spcPts val="0"/>
              </a:spcAft>
              <a:buSzPts val="1400"/>
              <a:buAutoNum type="arabicPeriod"/>
            </a:pPr>
            <a:r>
              <a:rPr lang="en" b="1" sz="1400"/>
              <a:t>Routing Rules</a:t>
            </a:r>
            <a:endParaRPr sz="14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Score ≥ 80 → INTERVIEW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Score 40–79 → REVIEW</a:t>
            </a:r>
            <a:endParaRPr sz="1300"/>
          </a:p>
          <a:p>
            <a:pPr lvl="1" rtl="0" algn="l" marL="914400" indent="-317500">
              <a:spcBef>
                <a:spcPts val="585"/>
              </a:spcBef>
              <a:spcAft>
                <a:spcPts val="0"/>
              </a:spcAft>
              <a:buSzPts val="1300"/>
              <a:buChar char="○"/>
            </a:pPr>
            <a:r>
              <a:rPr lang="en" sz="1300"/>
              <a:t>Score &lt; 40 → REJECT</a:t>
            </a:r>
            <a:endParaRPr sz="13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Tool Example: score_resume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A tool is a Python function that makes a real LLM call</a:t>
            </a:r>
            <a:endParaRPr sz="1600"/>
          </a:p>
          <a:p>
            <a:pPr lvl="0" rtl="0" algn="l" marL="0" indent="0">
              <a:spcBef>
                <a:spcPts val="960"/>
              </a:spcBef>
              <a:spcAft>
                <a:spcPts val="0"/>
              </a:spcAft>
              <a:buNone/>
            </a:pPr>
            <a:r>
              <a:rPr lang="en" b="1" sz="1600"/>
              <a:t>Python Code</a:t>
            </a:r>
            <a:endParaRPr sz="1600"/>
          </a:p>
          <a:p>
            <a:pPr lvl="1" rtl="0" algn="l" marL="457200" indent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def score_resume(candidate_id):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"""Score a candidate's resume. Returns score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(0-100) and reasoning."""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result = structured_llm_call(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api_key=OPENROUTER_API_KEY,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prompt=scoring_prompt,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context_data={"resume": resume_text},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output_schema={"score": "integer 0-100",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               "reasoning": "1-3 sentences"},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model=MODEL,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return {"status": "success",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    "score": result['result']['score'],</a:t>
            </a:r>
            <a:endParaRPr sz="1300"/>
          </a:p>
          <a:p>
            <a:pPr lvl="1" rtl="0" algn="l" marL="45720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            "message": f"Score: {score}/100"}</a:t>
            </a:r>
            <a:endParaRPr sz="13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Tool Registry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</a:t>
            </a:r>
            <a:r>
              <a:rPr lang="en" b="1" sz="1800"/>
              <a:t>Tool Registry</a:t>
            </a:r>
            <a:r>
              <a:rPr lang="en" sz="1800"/>
              <a:t> is a Python dictionary passed to the agent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LLM sees what tools are available and decides which to call</a:t>
            </a:r>
            <a:endParaRPr sz="18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Each entry contains:</a:t>
            </a:r>
            <a:endParaRPr sz="18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function</a:t>
            </a:r>
            <a:r>
              <a:rPr lang="en" sz="1700"/>
              <a:t>: the callable Python function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description</a:t>
            </a:r>
            <a:r>
              <a:rPr lang="en" sz="1700"/>
              <a:t>: what the tool does (used in the agent prompt)</a:t>
            </a:r>
            <a:endParaRPr sz="1700"/>
          </a:p>
          <a:p>
            <a:pPr lvl="1" rtl="0" algn="l" marL="914400" indent="-317500"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b="1" sz="1700"/>
              <a:t>parameters</a:t>
            </a:r>
            <a:r>
              <a:rPr lang="en" sz="1700"/>
              <a:t>: expected inputs</a:t>
            </a:r>
            <a:endParaRPr sz="1700"/>
          </a:p>
          <a:p>
            <a:pPr lvl="0" rtl="0" algn="l" marL="457200" indent="-342900"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You define the tools — </a:t>
            </a:r>
            <a:r>
              <a:rPr lang="en" sz="1800">
                <a:latin typeface="Courier New"/>
                <a:ea typeface="Courier New"/>
                <a:cs typeface="Courier New"/>
                <a:sym typeface="Courier New"/>
              </a:rPr>
              <a:t>agent_utils.py</a:t>
            </a:r>
            <a:r>
              <a:rPr lang="en" sz="1800"/>
              <a:t> provides the loop machinery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Example Agent Flow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Candidate</a:t>
            </a:r>
            <a:r>
              <a:rPr lang="en" sz="1300"/>
              <a:t>: 7 years C#/.NET, React, SQL Server</a:t>
            </a:r>
            <a:endParaRPr sz="1300"/>
          </a:p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Turn 1</a:t>
            </a:r>
            <a:r>
              <a:rPr lang="en" sz="1300"/>
              <a:t>: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Observe: No actions taken yet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Decide: </a:t>
            </a: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score_resume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Execute: Score 88/100 — strong .NET/React/SQL match</a:t>
            </a:r>
            <a:endParaRPr sz="1300"/>
          </a:p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Turn 2</a:t>
            </a:r>
            <a:r>
              <a:rPr lang="en" sz="1300"/>
              <a:t>: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Observe: Score is 88 → INTERVIEW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Decide: </a:t>
            </a: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draft_outreach_email</a:t>
            </a:r>
            <a:r>
              <a:rPr lang="en" sz="1300"/>
              <a:t>(outcome=INTERVIEW)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Execute: Personalized interview invite drafted (312 chars)</a:t>
            </a:r>
            <a:endParaRPr sz="1300"/>
          </a:p>
          <a:p>
            <a:pPr lvl="0" rtl="0" algn="l" marL="0" indent="0">
              <a:spcBef>
                <a:spcPts val="780"/>
              </a:spcBef>
              <a:spcAft>
                <a:spcPts val="0"/>
              </a:spcAft>
              <a:buNone/>
            </a:pPr>
            <a:r>
              <a:rPr lang="en" b="1" sz="1300"/>
              <a:t>Turn 3</a:t>
            </a:r>
            <a:r>
              <a:rPr lang="en" sz="1300"/>
              <a:t>: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Observe: Score and email both complete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Decide: </a:t>
            </a:r>
            <a:r>
              <a:rPr lang="en" sz="1300">
                <a:latin typeface="Courier New"/>
                <a:ea typeface="Courier New"/>
                <a:cs typeface="Courier New"/>
                <a:sym typeface="Courier New"/>
              </a:rPr>
              <a:t>done</a:t>
            </a:r>
            <a:endParaRPr sz="1300"/>
          </a:p>
          <a:p>
            <a:pPr lvl="0" rtl="0" algn="l" marL="457200" indent="-342900">
              <a:spcBef>
                <a:spcPts val="585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Execute: Processing complete</a:t>
            </a:r>
            <a:endParaRPr sz="13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728125"/>
            <a:ext cx="8520600" cy="16873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Your Turn: Building the Agent</a:t>
            </a:r>
            <a:endParaRPr sz="4000"/>
          </a:p>
        </p:txBody>
      </p:sp>
      <p:sp>
        <p:nvSpPr>
          <p:cNvPr id="3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pPr lvl="0" rtl="0"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Today's Workflow</a:t>
            </a:r>
            <a:endParaRPr sz="28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58000"/>
          </a:xfrm>
        </p:spPr>
        <p:txBody>
          <a:bodyPr>
            <a:noAutofit/>
          </a:bodyPr>
          <a:lstStyle/>
          <a:p>
            <a:pPr lvl="0" rtl="0" algn="ctr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b="1" sz="1800"/>
              <a:t>You will build an email outreach agent</a:t>
            </a:r>
            <a:r>
              <a:rPr lang="en" sz="1800"/>
              <a:t>:</a:t>
            </a:r>
            <a:br/>
            <a:r>
              <a:rPr lang="en" sz="1800"/>
              <a:t>Open the notebook:</a:t>
            </a:r>
            <a:br/>
            <a:r>
              <a:rPr lang="en" sz="1800">
                <a:latin typeface="Courier New"/>
                <a:ea typeface="Courier New"/>
                <a:cs typeface="Courier New"/>
                <a:sym typeface="Courier New"/>
              </a:rPr>
              <a:t>lecture_4_application_routing_agent.ipynb</a:t>
            </a:r>
            <a:endParaRPr sz="1800"/>
          </a:p>
          <a:p>
            <a:pPr lvl="0" rtl="0" algn="ctr" marL="0" indent="0">
              <a:spcBef>
                <a:spcPts val="1080"/>
              </a:spcBef>
              <a:spcAft>
                <a:spcPts val="0"/>
              </a:spcAft>
              <a:buNone/>
            </a:pPr>
            <a:r>
              <a:rPr lang="en" sz="1800"/>
              <a:t>Define 3 tools (score, email, done)</a:t>
            </a:r>
            <a:br/>
            <a:r>
              <a:rPr lang="en" sz="1800"/>
              <a:t>Run the agent loop and watch it work</a:t>
            </a:r>
            <a:br/>
            <a:r>
              <a:rPr lang="en" sz="1800"/>
              <a:t>Read and compare the drafted emails</a:t>
            </a:r>
            <a:br/>
            <a:r>
              <a:rPr lang="en" sz="1800"/>
              <a:t>Submit to the leaderboard</a:t>
            </a:r>
            <a:endParaRPr sz="1800"/>
          </a:p>
        </p:txBody>
      </p:sp>
      <p:sp>
        <p:nvSpPr>
          <p:cNvPr id="4" name="Google Shape;62;p14"/>
          <p:cNvSpPr/>
          <p:nvPr/>
        </p:nvSpPr>
        <p:spPr>
          <a:xfrm>
            <a:off x="37325" y="-37325"/>
            <a:ext cx="2071386" cy="572724"/>
          </a:xfrm>
          <a:prstGeom prst="irregularSeal1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UNEDITED!</a:t>
            </a:r>
            <a:endParaRPr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