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y="5143500" cx="9144000"/>
  <p:notesSz cx="6858000" cy="9144000"/>
  <p:embeddedFontLst>
    <p:embeddedFont>
      <p:font typeface="Roboto Mono"/>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font" Target="fonts/RobotoMono-regular.fntdata"/><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font" Target="fonts/RobotoMono-italic.fntdata"/><Relationship Id="rId14" Type="http://schemas.openxmlformats.org/officeDocument/2006/relationships/slide" Target="slides/slide8.xml"/><Relationship Id="rId36" Type="http://schemas.openxmlformats.org/officeDocument/2006/relationships/font" Target="fonts/RobotoMono-bold.fntdata"/><Relationship Id="rId17" Type="http://schemas.openxmlformats.org/officeDocument/2006/relationships/slide" Target="slides/slide11.xml"/><Relationship Id="rId16" Type="http://schemas.openxmlformats.org/officeDocument/2006/relationships/slide" Target="slides/slide10.xml"/><Relationship Id="rId38" Type="http://schemas.openxmlformats.org/officeDocument/2006/relationships/font" Target="fonts/RobotoMono-bold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h17392cfebc00c8e7_3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h17392cfebc00c8e7_3_4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h17392cfebc00c8e7_3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h17392cfebc00c8e7_3_5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h17392cfebc00c8e7_3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h17392cfebc00c8e7_3_5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h17392cfebc00c8e7_3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h17392cfebc00c8e7_3_6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h17392cfebc00c8e7_3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h17392cfebc00c8e7_3_6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h17392cfebc00c8e7_3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h17392cfebc00c8e7_3_9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h17392cfebc00c8e7_3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h17392cfebc00c8e7_3_9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h69472911190b2808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h69472911190b2808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h69472911190b280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h69472911190b280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h17392cfebc00c8e7_3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h17392cfebc00c8e7_3_11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h17392cfebc00c8e7_3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h17392cfebc00c8e7_3_11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h6d12d5ea0ea88a8c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h6d12d5ea0ea88a8c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h17392cfebc00c8e7_3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h17392cfebc00c8e7_3_12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h17392cfebc00c8e7_3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h17392cfebc00c8e7_3_13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h69472911190b2808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h69472911190b2808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h17392cfebc00c8e7_3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h17392cfebc00c8e7_3_14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h17392cfebc00c8e7_3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h17392cfebc00c8e7_3_15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h17392cfebc00c8e7_3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h17392cfebc00c8e7_3_15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h17392cfebc00c8e7_3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h17392cfebc00c8e7_3_16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h17392cfebc00c8e7_3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h17392cfebc00c8e7_3_21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h17392cfebc00c8e7_3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h17392cfebc00c8e7_3_21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h17392cfebc00c8e7_3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h17392cfebc00c8e7_3_22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h6d12d5ea0ea88a8c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h6d12d5ea0ea88a8c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h6d12d5ea0ea88a8c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h6d12d5ea0ea88a8c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h6d12d5ea0ea88a8c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h6d12d5ea0ea88a8c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h6d12d5ea0ea88a8c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h6d12d5ea0ea88a8c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h6d12d5ea0ea88a8c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h6d12d5ea0ea88a8c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h17392cfebc00c8e7_3_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h17392cfebc00c8e7_3_25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56" name="Google Shape;56;p1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7" name="Google Shape;57;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8" name="Shape 58"/>
        <p:cNvGrpSpPr/>
        <p:nvPr/>
      </p:nvGrpSpPr>
      <p:grpSpPr>
        <a:xfrm>
          <a:off x="0" y="0"/>
          <a:ext cx="0" cy="0"/>
          <a:chOff x="0" y="0"/>
          <a:chExt cx="0" cy="0"/>
        </a:xfrm>
      </p:grpSpPr>
      <p:sp>
        <p:nvSpPr>
          <p:cNvPr id="59" name="Google Shape;59;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0" name="Google Shape;60;p1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61" name="Google Shape;61;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2" name="Shape 62"/>
        <p:cNvGrpSpPr/>
        <p:nvPr/>
      </p:nvGrpSpPr>
      <p:grpSpPr>
        <a:xfrm>
          <a:off x="0" y="0"/>
          <a:ext cx="0" cy="0"/>
          <a:chOff x="0" y="0"/>
          <a:chExt cx="0" cy="0"/>
        </a:xfrm>
      </p:grpSpPr>
      <p:sp>
        <p:nvSpPr>
          <p:cNvPr id="63" name="Google Shape;63;p16"/>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64" name="Google Shape;64;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5" name="Shape 65"/>
        <p:cNvGrpSpPr/>
        <p:nvPr/>
      </p:nvGrpSpPr>
      <p:grpSpPr>
        <a:xfrm>
          <a:off x="0" y="0"/>
          <a:ext cx="0" cy="0"/>
          <a:chOff x="0" y="0"/>
          <a:chExt cx="0" cy="0"/>
        </a:xfrm>
      </p:grpSpPr>
      <p:sp>
        <p:nvSpPr>
          <p:cNvPr id="66" name="Google Shape;66;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7" name="Google Shape;67;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8" name="Shape 68"/>
        <p:cNvGrpSpPr/>
        <p:nvPr/>
      </p:nvGrpSpPr>
      <p:grpSpPr>
        <a:xfrm>
          <a:off x="0" y="0"/>
          <a:ext cx="0" cy="0"/>
          <a:chOff x="0" y="0"/>
          <a:chExt cx="0" cy="0"/>
        </a:xfrm>
      </p:grpSpPr>
      <p:sp>
        <p:nvSpPr>
          <p:cNvPr id="69" name="Google Shape;69;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0" name="Google Shape;70;p18"/>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1" name="Google Shape;71;p18"/>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2" name="Google Shape;72;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3" name="Shape 73"/>
        <p:cNvGrpSpPr/>
        <p:nvPr/>
      </p:nvGrpSpPr>
      <p:grpSpPr>
        <a:xfrm>
          <a:off x="0" y="0"/>
          <a:ext cx="0" cy="0"/>
          <a:chOff x="0" y="0"/>
          <a:chExt cx="0" cy="0"/>
        </a:xfrm>
      </p:grpSpPr>
      <p:sp>
        <p:nvSpPr>
          <p:cNvPr id="74" name="Google Shape;74;p19"/>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75" name="Google Shape;75;p19"/>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6" name="Google Shape;76;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7" name="Shape 77"/>
        <p:cNvGrpSpPr/>
        <p:nvPr/>
      </p:nvGrpSpPr>
      <p:grpSpPr>
        <a:xfrm>
          <a:off x="0" y="0"/>
          <a:ext cx="0" cy="0"/>
          <a:chOff x="0" y="0"/>
          <a:chExt cx="0" cy="0"/>
        </a:xfrm>
      </p:grpSpPr>
      <p:sp>
        <p:nvSpPr>
          <p:cNvPr id="78" name="Google Shape;78;p20"/>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79" name="Google Shape;79;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0"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21"/>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83" name="Google Shape;83;p21"/>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4" name="Google Shape;84;p21"/>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85" name="Google Shape;85;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6" name="Shape 86"/>
        <p:cNvGrpSpPr/>
        <p:nvPr/>
      </p:nvGrpSpPr>
      <p:grpSpPr>
        <a:xfrm>
          <a:off x="0" y="0"/>
          <a:ext cx="0" cy="0"/>
          <a:chOff x="0" y="0"/>
          <a:chExt cx="0" cy="0"/>
        </a:xfrm>
      </p:grpSpPr>
      <p:sp>
        <p:nvSpPr>
          <p:cNvPr id="87" name="Google Shape;87;p22"/>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88" name="Google Shape;88;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9" name="Shape 89"/>
        <p:cNvGrpSpPr/>
        <p:nvPr/>
      </p:nvGrpSpPr>
      <p:grpSpPr>
        <a:xfrm>
          <a:off x="0" y="0"/>
          <a:ext cx="0" cy="0"/>
          <a:chOff x="0" y="0"/>
          <a:chExt cx="0" cy="0"/>
        </a:xfrm>
      </p:grpSpPr>
      <p:sp>
        <p:nvSpPr>
          <p:cNvPr id="90" name="Google Shape;90;p2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1" name="Google Shape;91;p2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92" name="Google Shape;92;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3" name="Shape 93"/>
        <p:cNvGrpSpPr/>
        <p:nvPr/>
      </p:nvGrpSpPr>
      <p:grpSpPr>
        <a:xfrm>
          <a:off x="0" y="0"/>
          <a:ext cx="0" cy="0"/>
          <a:chOff x="0" y="0"/>
          <a:chExt cx="0" cy="0"/>
        </a:xfrm>
      </p:grpSpPr>
      <p:sp>
        <p:nvSpPr>
          <p:cNvPr id="94" name="Google Shape;94;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5"/>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5200"/>
              <a:buNone/>
            </a:pPr>
            <a:r>
              <a:rPr lang="en" sz="4000"/>
              <a:t>Lecture 4: AI Agents &amp; Tool Use</a:t>
            </a:r>
            <a:endParaRPr sz="4000"/>
          </a:p>
        </p:txBody>
      </p:sp>
      <p:sp>
        <p:nvSpPr>
          <p:cNvPr id="100" name="Google Shape;100;p25"/>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1800"/>
              <a:t>Building an Application Routing Agent</a:t>
            </a:r>
            <a:endParaRPr sz="1800"/>
          </a:p>
          <a:p>
            <a:pPr indent="0" lvl="0" marL="0" rtl="0" algn="l">
              <a:lnSpc>
                <a:spcPct val="100000"/>
              </a:lnSpc>
              <a:spcBef>
                <a:spcPts val="600"/>
              </a:spcBef>
              <a:spcAft>
                <a:spcPts val="0"/>
              </a:spcAft>
              <a:buSzPts val="2800"/>
              <a:buNone/>
            </a:pPr>
            <a:r>
              <a:rPr lang="en" sz="1800"/>
              <a:t>University of Chicago</a:t>
            </a:r>
            <a:endParaRPr sz="1800"/>
          </a:p>
        </p:txBody>
      </p:sp>
      <p:pic>
        <p:nvPicPr>
          <p:cNvPr id="101" name="Google Shape;101;p25" title="uchicago-dsi-logo.png"/>
          <p:cNvPicPr preferRelativeResize="0"/>
          <p:nvPr/>
        </p:nvPicPr>
        <p:blipFill>
          <a:blip r:embed="rId3">
            <a:alphaModFix/>
          </a:blip>
          <a:stretch>
            <a:fillRect/>
          </a:stretch>
        </p:blipFill>
        <p:spPr>
          <a:xfrm>
            <a:off x="6531775" y="76200"/>
            <a:ext cx="2536018" cy="526225"/>
          </a:xfrm>
          <a:prstGeom prst="rect">
            <a:avLst/>
          </a:prstGeom>
          <a:noFill/>
          <a:ln>
            <a:noFill/>
          </a:ln>
        </p:spPr>
      </p:pic>
      <p:pic>
        <p:nvPicPr>
          <p:cNvPr id="102" name="Google Shape;102;p25" title="uchicago-logo.png"/>
          <p:cNvPicPr preferRelativeResize="0"/>
          <p:nvPr/>
        </p:nvPicPr>
        <p:blipFill>
          <a:blip r:embed="rId4">
            <a:alphaModFix/>
          </a:blip>
          <a:stretch>
            <a:fillRect/>
          </a:stretch>
        </p:blipFill>
        <p:spPr>
          <a:xfrm>
            <a:off x="76200" y="76200"/>
            <a:ext cx="2461174" cy="5262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2800"/>
              <a:t>Outline</a:t>
            </a:r>
            <a:endParaRPr sz="2800"/>
          </a:p>
        </p:txBody>
      </p:sp>
      <p:sp>
        <p:nvSpPr>
          <p:cNvPr id="108" name="Google Shape;108;p26"/>
          <p:cNvSpPr txBox="1"/>
          <p:nvPr>
            <p:ph idx="1" type="body"/>
          </p:nvPr>
        </p:nvSpPr>
        <p:spPr>
          <a:xfrm>
            <a:off x="311700" y="1152475"/>
            <a:ext cx="8520600" cy="38580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810"/>
              </a:spcBef>
              <a:spcAft>
                <a:spcPts val="0"/>
              </a:spcAft>
              <a:buSzPts val="1800"/>
              <a:buAutoNum type="arabicPeriod"/>
            </a:pPr>
            <a:r>
              <a:rPr lang="en" sz="1800"/>
              <a:t>Where We Are and Where We're Going</a:t>
            </a:r>
            <a:endParaRPr sz="1800"/>
          </a:p>
          <a:p>
            <a:pPr indent="-342900" lvl="0" marL="457200" rtl="0" algn="l">
              <a:lnSpc>
                <a:spcPct val="115000"/>
              </a:lnSpc>
              <a:spcBef>
                <a:spcPts val="810"/>
              </a:spcBef>
              <a:spcAft>
                <a:spcPts val="0"/>
              </a:spcAft>
              <a:buSzPts val="1800"/>
              <a:buAutoNum type="arabicPeriod"/>
            </a:pPr>
            <a:r>
              <a:rPr lang="en" sz="1800"/>
              <a:t>AI Agents</a:t>
            </a:r>
            <a:endParaRPr sz="1800"/>
          </a:p>
          <a:p>
            <a:pPr indent="-342900" lvl="0" marL="457200" rtl="0" algn="l">
              <a:lnSpc>
                <a:spcPct val="115000"/>
              </a:lnSpc>
              <a:spcBef>
                <a:spcPts val="810"/>
              </a:spcBef>
              <a:spcAft>
                <a:spcPts val="0"/>
              </a:spcAft>
              <a:buSzPts val="1800"/>
              <a:buAutoNum type="arabicPeriod"/>
            </a:pPr>
            <a:r>
              <a:rPr lang="en"/>
              <a:t>Today’s exercise: Agentic resume review assistant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7"/>
          <p:cNvSpPr txBox="1"/>
          <p:nvPr>
            <p:ph type="title"/>
          </p:nvPr>
        </p:nvSpPr>
        <p:spPr>
          <a:xfrm>
            <a:off x="311700" y="1728125"/>
            <a:ext cx="8520600" cy="168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600"/>
              <a:buNone/>
            </a:pPr>
            <a:r>
              <a:rPr lang="en" sz="4000"/>
              <a:t>Where We Are and Where We're Going</a:t>
            </a:r>
            <a:endParaRPr sz="4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2800"/>
              <a:t>The Story So Far</a:t>
            </a:r>
            <a:endParaRPr sz="2800"/>
          </a:p>
        </p:txBody>
      </p:sp>
      <p:sp>
        <p:nvSpPr>
          <p:cNvPr id="119" name="Google Shape;119;p28"/>
          <p:cNvSpPr txBox="1"/>
          <p:nvPr>
            <p:ph idx="1" type="body"/>
          </p:nvPr>
        </p:nvSpPr>
        <p:spPr>
          <a:xfrm>
            <a:off x="311700" y="1152475"/>
            <a:ext cx="8520600" cy="3858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960"/>
              </a:spcBef>
              <a:spcAft>
                <a:spcPts val="0"/>
              </a:spcAft>
              <a:buSzPts val="1800"/>
              <a:buNone/>
            </a:pPr>
            <a:r>
              <a:rPr b="1" lang="en" sz="1600"/>
              <a:t>Lecture 1</a:t>
            </a:r>
            <a:r>
              <a:rPr lang="en" sz="1600"/>
              <a:t>: Foundations</a:t>
            </a:r>
            <a:endParaRPr sz="1600"/>
          </a:p>
          <a:p>
            <a:pPr indent="-342900" lvl="0" marL="457200" rtl="0" algn="l">
              <a:lnSpc>
                <a:spcPct val="115000"/>
              </a:lnSpc>
              <a:spcBef>
                <a:spcPts val="720"/>
              </a:spcBef>
              <a:spcAft>
                <a:spcPts val="0"/>
              </a:spcAft>
              <a:buSzPts val="1600"/>
              <a:buChar char="●"/>
            </a:pPr>
            <a:r>
              <a:rPr lang="en" sz="1600"/>
              <a:t>LLMs, tokens, context windows, APIs, pricing</a:t>
            </a:r>
            <a:endParaRPr sz="1600"/>
          </a:p>
          <a:p>
            <a:pPr indent="0" lvl="0" marL="0" rtl="0" algn="l">
              <a:lnSpc>
                <a:spcPct val="115000"/>
              </a:lnSpc>
              <a:spcBef>
                <a:spcPts val="960"/>
              </a:spcBef>
              <a:spcAft>
                <a:spcPts val="0"/>
              </a:spcAft>
              <a:buSzPts val="1800"/>
              <a:buNone/>
            </a:pPr>
            <a:r>
              <a:rPr b="1" lang="en" sz="1600"/>
              <a:t>Lecture 2</a:t>
            </a:r>
            <a:r>
              <a:rPr lang="en" sz="1600"/>
              <a:t>: Building a System</a:t>
            </a:r>
            <a:endParaRPr sz="1600"/>
          </a:p>
          <a:p>
            <a:pPr indent="-342900" lvl="0" marL="457200" rtl="0" algn="l">
              <a:lnSpc>
                <a:spcPct val="115000"/>
              </a:lnSpc>
              <a:spcBef>
                <a:spcPts val="720"/>
              </a:spcBef>
              <a:spcAft>
                <a:spcPts val="0"/>
              </a:spcAft>
              <a:buSzPts val="1600"/>
              <a:buChar char="●"/>
            </a:pPr>
            <a:r>
              <a:rPr lang="en" sz="1600"/>
              <a:t>Vertical slices and Crawl-Walk-Run</a:t>
            </a:r>
            <a:endParaRPr sz="1600"/>
          </a:p>
          <a:p>
            <a:pPr indent="-342900" lvl="0" marL="457200" rtl="0" algn="l">
              <a:lnSpc>
                <a:spcPct val="115000"/>
              </a:lnSpc>
              <a:spcBef>
                <a:spcPts val="720"/>
              </a:spcBef>
              <a:spcAft>
                <a:spcPts val="0"/>
              </a:spcAft>
              <a:buSzPts val="1600"/>
              <a:buChar char="●"/>
            </a:pPr>
            <a:r>
              <a:rPr lang="en" sz="1600"/>
              <a:t>Built a resume scorer: one prompt → one score</a:t>
            </a:r>
            <a:endParaRPr sz="1600"/>
          </a:p>
          <a:p>
            <a:pPr indent="0" lvl="0" marL="0" rtl="0" algn="l">
              <a:lnSpc>
                <a:spcPct val="115000"/>
              </a:lnSpc>
              <a:spcBef>
                <a:spcPts val="960"/>
              </a:spcBef>
              <a:spcAft>
                <a:spcPts val="0"/>
              </a:spcAft>
              <a:buSzPts val="1800"/>
              <a:buNone/>
            </a:pPr>
            <a:r>
              <a:rPr b="1" lang="en" sz="1600"/>
              <a:t>Lecture 3</a:t>
            </a:r>
            <a:r>
              <a:rPr lang="en" sz="1600"/>
              <a:t>: Making It Good</a:t>
            </a:r>
            <a:endParaRPr sz="1600"/>
          </a:p>
          <a:p>
            <a:pPr indent="-342900" lvl="0" marL="457200" rtl="0" algn="l">
              <a:lnSpc>
                <a:spcPct val="115000"/>
              </a:lnSpc>
              <a:spcBef>
                <a:spcPts val="720"/>
              </a:spcBef>
              <a:spcAft>
                <a:spcPts val="0"/>
              </a:spcAft>
              <a:buSzPts val="1600"/>
              <a:buChar char="●"/>
            </a:pPr>
            <a:r>
              <a:rPr lang="en" sz="1600"/>
              <a:t>Decomposition, citations, few-shot examples, temperature</a:t>
            </a:r>
            <a:endParaRPr sz="1600"/>
          </a:p>
          <a:p>
            <a:pPr indent="-342900" lvl="0" marL="457200" rtl="0" algn="l">
              <a:lnSpc>
                <a:spcPct val="115000"/>
              </a:lnSpc>
              <a:spcBef>
                <a:spcPts val="720"/>
              </a:spcBef>
              <a:spcAft>
                <a:spcPts val="0"/>
              </a:spcAft>
              <a:buSzPts val="1600"/>
              <a:buChar char="●"/>
            </a:pPr>
            <a:r>
              <a:rPr lang="en" sz="1600"/>
              <a:t>Improved the scorer until gold and silver resumes separate cleanly</a:t>
            </a:r>
            <a:endParaRPr sz="1600"/>
          </a:p>
          <a:p>
            <a:pPr indent="0" lvl="0" marL="0" rtl="0" algn="l">
              <a:lnSpc>
                <a:spcPct val="115000"/>
              </a:lnSpc>
              <a:spcBef>
                <a:spcPts val="960"/>
              </a:spcBef>
              <a:spcAft>
                <a:spcPts val="0"/>
              </a:spcAft>
              <a:buSzPts val="1800"/>
              <a:buNone/>
            </a:pPr>
            <a:r>
              <a:rPr b="1" lang="en" sz="1600"/>
              <a:t>Result</a:t>
            </a:r>
            <a:r>
              <a:rPr lang="en" sz="1600"/>
              <a:t>: We have a reliable process for resume → score.</a:t>
            </a:r>
            <a:br>
              <a:rPr lang="en"/>
            </a:br>
            <a:r>
              <a:rPr b="1" lang="en" sz="1600"/>
              <a:t>Question</a:t>
            </a:r>
            <a:r>
              <a:rPr lang="en" sz="1600"/>
              <a:t>: How do we use this to enable a better workflow?</a:t>
            </a:r>
            <a:endParaRPr sz="16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2800"/>
              <a:t>What We Want to Build</a:t>
            </a:r>
            <a:endParaRPr sz="2800"/>
          </a:p>
        </p:txBody>
      </p:sp>
      <p:sp>
        <p:nvSpPr>
          <p:cNvPr id="125" name="Google Shape;125;p29"/>
          <p:cNvSpPr txBox="1"/>
          <p:nvPr>
            <p:ph idx="1" type="body"/>
          </p:nvPr>
        </p:nvSpPr>
        <p:spPr>
          <a:xfrm>
            <a:off x="311700" y="1152475"/>
            <a:ext cx="8520600" cy="3858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080"/>
              </a:spcBef>
              <a:spcAft>
                <a:spcPts val="0"/>
              </a:spcAft>
              <a:buSzPts val="1800"/>
              <a:buNone/>
            </a:pPr>
            <a:r>
              <a:rPr b="1" lang="en" sz="1700"/>
              <a:t>Ultimately, a human will be making hiring decisions</a:t>
            </a:r>
            <a:r>
              <a:rPr b="1" lang="en" sz="1700"/>
              <a:t>.</a:t>
            </a:r>
            <a:r>
              <a:rPr lang="en" sz="1700"/>
              <a:t> </a:t>
            </a:r>
            <a:r>
              <a:rPr lang="en" sz="1700"/>
              <a:t>The AI system needs to effectively assist the human workflow.</a:t>
            </a:r>
            <a:endParaRPr sz="1700"/>
          </a:p>
          <a:p>
            <a:pPr indent="0" lvl="0" marL="0" rtl="0" algn="l">
              <a:lnSpc>
                <a:spcPct val="115000"/>
              </a:lnSpc>
              <a:spcBef>
                <a:spcPts val="1080"/>
              </a:spcBef>
              <a:spcAft>
                <a:spcPts val="0"/>
              </a:spcAft>
              <a:buSzPts val="1800"/>
              <a:buNone/>
            </a:pPr>
            <a:r>
              <a:rPr lang="en" sz="1700"/>
              <a:t>For this we need:</a:t>
            </a:r>
            <a:endParaRPr sz="1700"/>
          </a:p>
          <a:p>
            <a:pPr indent="-336550" lvl="0" marL="457200" rtl="0" algn="l">
              <a:lnSpc>
                <a:spcPct val="115000"/>
              </a:lnSpc>
              <a:spcBef>
                <a:spcPts val="810"/>
              </a:spcBef>
              <a:spcAft>
                <a:spcPts val="0"/>
              </a:spcAft>
              <a:buSzPts val="1700"/>
              <a:buChar char="●"/>
            </a:pPr>
            <a:r>
              <a:rPr b="1" lang="en" sz="1700"/>
              <a:t>An interface </a:t>
            </a:r>
            <a:r>
              <a:rPr lang="en" sz="1700"/>
              <a:t>through which a human user can interact with the system. Our interface will be..</a:t>
            </a:r>
            <a:endParaRPr sz="1700"/>
          </a:p>
          <a:p>
            <a:pPr indent="-336550" lvl="1" marL="914400" rtl="0" algn="l">
              <a:lnSpc>
                <a:spcPct val="115000"/>
              </a:lnSpc>
              <a:spcBef>
                <a:spcPts val="810"/>
              </a:spcBef>
              <a:spcAft>
                <a:spcPts val="0"/>
              </a:spcAft>
              <a:buSzPts val="1700"/>
              <a:buChar char="○"/>
            </a:pPr>
            <a:r>
              <a:rPr b="1" lang="en" sz="1300"/>
              <a:t>A chat </a:t>
            </a:r>
            <a:r>
              <a:rPr lang="en" sz="1300"/>
              <a:t>that the user can talk to in ordinary </a:t>
            </a:r>
            <a:r>
              <a:rPr lang="en" sz="1300"/>
              <a:t>language and…</a:t>
            </a:r>
            <a:endParaRPr sz="1300"/>
          </a:p>
          <a:p>
            <a:pPr indent="-336550" lvl="1" marL="914400" rtl="0" algn="l">
              <a:lnSpc>
                <a:spcPct val="115000"/>
              </a:lnSpc>
              <a:spcBef>
                <a:spcPts val="810"/>
              </a:spcBef>
              <a:spcAft>
                <a:spcPts val="0"/>
              </a:spcAft>
              <a:buSzPts val="1700"/>
              <a:buChar char="○"/>
            </a:pPr>
            <a:r>
              <a:rPr b="1" lang="en" sz="1300"/>
              <a:t>A</a:t>
            </a:r>
            <a:r>
              <a:rPr b="1" lang="en" sz="1300"/>
              <a:t> directory </a:t>
            </a:r>
            <a:r>
              <a:rPr lang="en" sz="1300"/>
              <a:t>where the user can put resumes to be reviewed.</a:t>
            </a:r>
            <a:endParaRPr sz="1300"/>
          </a:p>
          <a:p>
            <a:pPr indent="-336550" lvl="0" marL="457200" rtl="0" algn="l">
              <a:lnSpc>
                <a:spcPct val="115000"/>
              </a:lnSpc>
              <a:spcBef>
                <a:spcPts val="810"/>
              </a:spcBef>
              <a:spcAft>
                <a:spcPts val="0"/>
              </a:spcAft>
              <a:buSzPts val="1700"/>
              <a:buChar char="●"/>
            </a:pPr>
            <a:r>
              <a:rPr b="1" lang="en" sz="1700"/>
              <a:t>An agentic AI </a:t>
            </a:r>
            <a:r>
              <a:rPr lang="en" sz="1700"/>
              <a:t>that can take the user’s instructions from the chat and use them to call tools to interact with the available resumes instead of relying on data already in the context window.</a:t>
            </a:r>
            <a:endParaRPr sz="17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30"/>
          <p:cNvSpPr txBox="1"/>
          <p:nvPr>
            <p:ph type="title"/>
          </p:nvPr>
        </p:nvSpPr>
        <p:spPr>
          <a:xfrm>
            <a:off x="311700" y="1728125"/>
            <a:ext cx="8520600" cy="168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600"/>
              <a:buNone/>
            </a:pPr>
            <a:r>
              <a:rPr lang="en" sz="4000"/>
              <a:t>AI Agents</a:t>
            </a:r>
            <a:endParaRPr sz="40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31"/>
          <p:cNvSpPr txBox="1"/>
          <p:nvPr>
            <p:ph idx="1" type="body"/>
          </p:nvPr>
        </p:nvSpPr>
        <p:spPr>
          <a:xfrm>
            <a:off x="311700" y="1152475"/>
            <a:ext cx="8520600" cy="3858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810"/>
              </a:spcBef>
              <a:spcAft>
                <a:spcPts val="0"/>
              </a:spcAft>
              <a:buNone/>
            </a:pPr>
            <a:r>
              <a:rPr lang="en" sz="1600"/>
              <a:t>An </a:t>
            </a:r>
            <a:r>
              <a:rPr b="1" lang="en" sz="1600"/>
              <a:t>AI Agent</a:t>
            </a:r>
            <a:r>
              <a:rPr lang="en" sz="1600"/>
              <a:t> is an LLM that </a:t>
            </a:r>
            <a:r>
              <a:rPr lang="en" sz="1600"/>
              <a:t>dynamically uses</a:t>
            </a:r>
            <a:r>
              <a:rPr lang="en" sz="1600"/>
              <a:t> </a:t>
            </a:r>
            <a:r>
              <a:rPr b="1" lang="en" sz="1600"/>
              <a:t>tools</a:t>
            </a:r>
            <a:r>
              <a:rPr lang="en" sz="1600"/>
              <a:t> to interact with the outside world.</a:t>
            </a:r>
            <a:endParaRPr sz="1600"/>
          </a:p>
          <a:p>
            <a:pPr indent="0" lvl="0" marL="0" rtl="0" algn="l">
              <a:lnSpc>
                <a:spcPct val="115000"/>
              </a:lnSpc>
              <a:spcBef>
                <a:spcPts val="810"/>
              </a:spcBef>
              <a:spcAft>
                <a:spcPts val="0"/>
              </a:spcAft>
              <a:buNone/>
            </a:pPr>
            <a:r>
              <a:t/>
            </a:r>
            <a:endParaRPr sz="1600"/>
          </a:p>
          <a:p>
            <a:pPr indent="0" lvl="0" marL="0" rtl="0" algn="l">
              <a:lnSpc>
                <a:spcPct val="115000"/>
              </a:lnSpc>
              <a:spcBef>
                <a:spcPts val="810"/>
              </a:spcBef>
              <a:spcAft>
                <a:spcPts val="0"/>
              </a:spcAft>
              <a:buNone/>
            </a:pPr>
            <a:r>
              <a:rPr lang="en" sz="1600"/>
              <a:t>Three components:</a:t>
            </a:r>
            <a:endParaRPr sz="1600"/>
          </a:p>
          <a:p>
            <a:pPr indent="-330200" lvl="0" marL="457200" rtl="0" algn="l">
              <a:lnSpc>
                <a:spcPct val="115000"/>
              </a:lnSpc>
              <a:spcBef>
                <a:spcPts val="810"/>
              </a:spcBef>
              <a:spcAft>
                <a:spcPts val="0"/>
              </a:spcAft>
              <a:buSzPts val="1600"/>
              <a:buChar char="●"/>
            </a:pPr>
            <a:r>
              <a:rPr b="1" lang="en" sz="1600"/>
              <a:t>A prompt </a:t>
            </a:r>
            <a:r>
              <a:rPr lang="en" sz="1600"/>
              <a:t>with a tool registry</a:t>
            </a:r>
            <a:r>
              <a:rPr b="1" lang="en" sz="1600"/>
              <a:t> </a:t>
            </a:r>
            <a:r>
              <a:rPr lang="en" sz="1600"/>
              <a:t>that tells an LLM how to “use” the tools.</a:t>
            </a:r>
            <a:endParaRPr sz="1600"/>
          </a:p>
          <a:p>
            <a:pPr indent="-304800" lvl="1" marL="914400" rtl="0" algn="l">
              <a:lnSpc>
                <a:spcPct val="115000"/>
              </a:lnSpc>
              <a:spcBef>
                <a:spcPts val="0"/>
              </a:spcBef>
              <a:spcAft>
                <a:spcPts val="0"/>
              </a:spcAft>
              <a:buSzPts val="1200"/>
              <a:buChar char="○"/>
            </a:pPr>
            <a:r>
              <a:rPr lang="en" sz="1200"/>
              <a:t>The </a:t>
            </a:r>
            <a:r>
              <a:rPr lang="en" sz="1200"/>
              <a:t>only thing LLMs can do is output tokens; so when we say an LLM “used a tool,” we mean it outputted a series of tokens that are understood to mean “use the tool”</a:t>
            </a:r>
            <a:br>
              <a:rPr lang="en" sz="1200"/>
            </a:br>
            <a:endParaRPr sz="1200"/>
          </a:p>
          <a:p>
            <a:pPr indent="-330200" lvl="0" marL="457200" rtl="0" algn="l">
              <a:lnSpc>
                <a:spcPct val="115000"/>
              </a:lnSpc>
              <a:spcBef>
                <a:spcPts val="0"/>
              </a:spcBef>
              <a:spcAft>
                <a:spcPts val="0"/>
              </a:spcAft>
              <a:buSzPts val="1600"/>
              <a:buChar char="●"/>
            </a:pPr>
            <a:r>
              <a:rPr b="1" lang="en" sz="1600"/>
              <a:t>An LLM </a:t>
            </a:r>
            <a:r>
              <a:rPr lang="en" sz="1600"/>
              <a:t>that “uses” the tools, per the instructions in the system prompt, and inserts relevant results back into the LLM context.</a:t>
            </a:r>
            <a:br>
              <a:rPr lang="en" sz="1600"/>
            </a:br>
            <a:endParaRPr sz="1600"/>
          </a:p>
          <a:p>
            <a:pPr indent="-330200" lvl="0" marL="457200" rtl="0" algn="l">
              <a:lnSpc>
                <a:spcPct val="115000"/>
              </a:lnSpc>
              <a:spcBef>
                <a:spcPts val="0"/>
              </a:spcBef>
              <a:spcAft>
                <a:spcPts val="0"/>
              </a:spcAft>
              <a:buSzPts val="1600"/>
              <a:buChar char="●"/>
            </a:pPr>
            <a:r>
              <a:rPr b="1" lang="en" sz="1600"/>
              <a:t>A harness </a:t>
            </a:r>
            <a:r>
              <a:rPr lang="en" sz="1600"/>
              <a:t>that watches the LLM’s token outputs and executes tool use when in response to the specified LLM outputs.</a:t>
            </a:r>
            <a:endParaRPr sz="1500"/>
          </a:p>
        </p:txBody>
      </p:sp>
      <p:sp>
        <p:nvSpPr>
          <p:cNvPr id="136" name="Google Shape;136;p3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2800"/>
              <a:t>What is an AI Agent?</a:t>
            </a:r>
            <a:endParaRPr sz="28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32"/>
          <p:cNvSpPr txBox="1"/>
          <p:nvPr>
            <p:ph type="title"/>
          </p:nvPr>
        </p:nvSpPr>
        <p:spPr>
          <a:xfrm>
            <a:off x="311700" y="445025"/>
            <a:ext cx="52962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All of this can be short-handed as the agent “doing things”</a:t>
            </a:r>
            <a:endParaRPr sz="28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3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What can agents do?</a:t>
            </a:r>
            <a:endParaRPr sz="2800"/>
          </a:p>
        </p:txBody>
      </p:sp>
      <p:sp>
        <p:nvSpPr>
          <p:cNvPr id="147" name="Google Shape;147;p33"/>
          <p:cNvSpPr txBox="1"/>
          <p:nvPr>
            <p:ph idx="1" type="body"/>
          </p:nvPr>
        </p:nvSpPr>
        <p:spPr>
          <a:xfrm>
            <a:off x="311700" y="1152475"/>
            <a:ext cx="8520600" cy="3858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810"/>
              </a:spcBef>
              <a:spcAft>
                <a:spcPts val="0"/>
              </a:spcAft>
              <a:buNone/>
            </a:pPr>
            <a:r>
              <a:rPr lang="en" sz="1800"/>
              <a:t>While a basic LLM can only generate text based on its training data, an agent can interact with “tools" </a:t>
            </a:r>
            <a:r>
              <a:rPr lang="en"/>
              <a:t>like…</a:t>
            </a:r>
            <a:endParaRPr sz="1800"/>
          </a:p>
          <a:p>
            <a:pPr indent="-336550" lvl="0" marL="457200" rtl="0" algn="l">
              <a:spcBef>
                <a:spcPts val="765"/>
              </a:spcBef>
              <a:spcAft>
                <a:spcPts val="0"/>
              </a:spcAft>
              <a:buSzPts val="1700"/>
              <a:buChar char="●"/>
            </a:pPr>
            <a:r>
              <a:rPr b="1" lang="en" sz="1700"/>
              <a:t>File System Tools</a:t>
            </a:r>
            <a:r>
              <a:rPr lang="en" sz="1700"/>
              <a:t>: Read/write files, list directories</a:t>
            </a:r>
            <a:endParaRPr sz="1700"/>
          </a:p>
          <a:p>
            <a:pPr indent="-336550" lvl="0" marL="457200" rtl="0" algn="l">
              <a:lnSpc>
                <a:spcPct val="115000"/>
              </a:lnSpc>
              <a:spcBef>
                <a:spcPts val="765"/>
              </a:spcBef>
              <a:spcAft>
                <a:spcPts val="0"/>
              </a:spcAft>
              <a:buSzPts val="1700"/>
              <a:buChar char="●"/>
            </a:pPr>
            <a:r>
              <a:rPr b="1" lang="en" sz="1700"/>
              <a:t>Database Tools</a:t>
            </a:r>
            <a:r>
              <a:rPr lang="en" sz="1700"/>
              <a:t>: Query databases, insert/update/delete records</a:t>
            </a:r>
            <a:endParaRPr sz="1700"/>
          </a:p>
          <a:p>
            <a:pPr indent="-336550" lvl="0" marL="457200" rtl="0" algn="l">
              <a:lnSpc>
                <a:spcPct val="115000"/>
              </a:lnSpc>
              <a:spcBef>
                <a:spcPts val="765"/>
              </a:spcBef>
              <a:spcAft>
                <a:spcPts val="0"/>
              </a:spcAft>
              <a:buSzPts val="1700"/>
              <a:buChar char="●"/>
            </a:pPr>
            <a:r>
              <a:rPr b="1" lang="en" sz="1700"/>
              <a:t>API Tools</a:t>
            </a:r>
            <a:r>
              <a:rPr lang="en" sz="1700"/>
              <a:t>: Call REST APIs, interact with web services</a:t>
            </a:r>
            <a:endParaRPr sz="1700"/>
          </a:p>
          <a:p>
            <a:pPr indent="-336550" lvl="0" marL="457200" rtl="0" algn="l">
              <a:lnSpc>
                <a:spcPct val="115000"/>
              </a:lnSpc>
              <a:spcBef>
                <a:spcPts val="765"/>
              </a:spcBef>
              <a:spcAft>
                <a:spcPts val="0"/>
              </a:spcAft>
              <a:buSzPts val="1700"/>
              <a:buChar char="●"/>
            </a:pPr>
            <a:r>
              <a:rPr b="1" lang="en" sz="1700"/>
              <a:t>Code Execution Tools</a:t>
            </a:r>
            <a:r>
              <a:rPr lang="en" sz="1700"/>
              <a:t>: Run Python code, execute shell commands</a:t>
            </a:r>
            <a:endParaRPr sz="1700"/>
          </a:p>
          <a:p>
            <a:pPr indent="-336550" lvl="0" marL="457200" rtl="0" algn="l">
              <a:lnSpc>
                <a:spcPct val="115000"/>
              </a:lnSpc>
              <a:spcBef>
                <a:spcPts val="765"/>
              </a:spcBef>
              <a:spcAft>
                <a:spcPts val="0"/>
              </a:spcAft>
              <a:buSzPts val="1700"/>
              <a:buChar char="●"/>
            </a:pPr>
            <a:r>
              <a:rPr b="1" lang="en" sz="1700"/>
              <a:t>Web Tools</a:t>
            </a:r>
            <a:r>
              <a:rPr lang="en" sz="1700"/>
              <a:t>: Search the web, scrape websites</a:t>
            </a:r>
            <a:endParaRPr sz="1700"/>
          </a:p>
          <a:p>
            <a:pPr indent="-336550" lvl="0" marL="457200" rtl="0" algn="l">
              <a:lnSpc>
                <a:spcPct val="115000"/>
              </a:lnSpc>
              <a:spcBef>
                <a:spcPts val="765"/>
              </a:spcBef>
              <a:spcAft>
                <a:spcPts val="0"/>
              </a:spcAft>
              <a:buSzPts val="1700"/>
              <a:buChar char="●"/>
            </a:pPr>
            <a:r>
              <a:rPr lang="en" sz="1700"/>
              <a:t>...and more</a:t>
            </a:r>
            <a:endParaRPr sz="17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3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2800"/>
              <a:t>The Agent Loop</a:t>
            </a:r>
            <a:endParaRPr sz="2800"/>
          </a:p>
        </p:txBody>
      </p:sp>
      <p:sp>
        <p:nvSpPr>
          <p:cNvPr id="153" name="Google Shape;153;p34"/>
          <p:cNvSpPr txBox="1"/>
          <p:nvPr>
            <p:ph idx="1" type="body"/>
          </p:nvPr>
        </p:nvSpPr>
        <p:spPr>
          <a:xfrm>
            <a:off x="311700" y="1152475"/>
            <a:ext cx="8520600" cy="38580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1019"/>
              </a:spcBef>
              <a:spcAft>
                <a:spcPts val="0"/>
              </a:spcAft>
              <a:buSzPts val="1800"/>
              <a:buNone/>
            </a:pPr>
            <a:r>
              <a:rPr lang="en" sz="1700"/>
              <a:t>We can simplify this into “The Agent Loop"</a:t>
            </a:r>
            <a:endParaRPr sz="1700"/>
          </a:p>
          <a:p>
            <a:pPr indent="0" lvl="0" marL="0" rtl="0" algn="ctr">
              <a:lnSpc>
                <a:spcPct val="115000"/>
              </a:lnSpc>
              <a:spcBef>
                <a:spcPts val="1019"/>
              </a:spcBef>
              <a:spcAft>
                <a:spcPts val="0"/>
              </a:spcAft>
              <a:buSzPts val="1800"/>
              <a:buNone/>
            </a:pPr>
            <a:r>
              <a:rPr lang="en" sz="1700"/>
              <a:t>Observe → Think → Act → Observe → …</a:t>
            </a:r>
            <a:endParaRPr sz="1700"/>
          </a:p>
          <a:p>
            <a:pPr indent="0" lvl="0" marL="0" rtl="0" algn="l">
              <a:lnSpc>
                <a:spcPct val="115000"/>
              </a:lnSpc>
              <a:spcBef>
                <a:spcPts val="1019"/>
              </a:spcBef>
              <a:spcAft>
                <a:spcPts val="0"/>
              </a:spcAft>
              <a:buSzPts val="1800"/>
              <a:buNone/>
            </a:pPr>
            <a:r>
              <a:t/>
            </a:r>
            <a:endParaRPr sz="1700"/>
          </a:p>
          <a:p>
            <a:pPr indent="-342900" lvl="0" marL="457200" rtl="0" algn="l">
              <a:lnSpc>
                <a:spcPct val="115000"/>
              </a:lnSpc>
              <a:spcBef>
                <a:spcPts val="765"/>
              </a:spcBef>
              <a:spcAft>
                <a:spcPts val="0"/>
              </a:spcAft>
              <a:buSzPts val="1700"/>
              <a:buAutoNum type="arabicPeriod"/>
            </a:pPr>
            <a:r>
              <a:rPr b="1" lang="en" sz="1700"/>
              <a:t>Observe</a:t>
            </a:r>
            <a:r>
              <a:rPr lang="en" sz="1700"/>
              <a:t>: Add input (user query, tool results, etc) to context</a:t>
            </a:r>
            <a:endParaRPr sz="1700"/>
          </a:p>
          <a:p>
            <a:pPr indent="-342900" lvl="0" marL="457200" rtl="0" algn="l">
              <a:lnSpc>
                <a:spcPct val="115000"/>
              </a:lnSpc>
              <a:spcBef>
                <a:spcPts val="765"/>
              </a:spcBef>
              <a:spcAft>
                <a:spcPts val="0"/>
              </a:spcAft>
              <a:buSzPts val="1700"/>
              <a:buAutoNum type="arabicPeriod"/>
            </a:pPr>
            <a:r>
              <a:rPr b="1" lang="en" sz="1700"/>
              <a:t>Think</a:t>
            </a:r>
            <a:r>
              <a:rPr lang="en" sz="1700"/>
              <a:t>: Process information and decide what to do next</a:t>
            </a:r>
            <a:endParaRPr sz="1700"/>
          </a:p>
          <a:p>
            <a:pPr indent="-342900" lvl="0" marL="457200" rtl="0" algn="l">
              <a:lnSpc>
                <a:spcPct val="115000"/>
              </a:lnSpc>
              <a:spcBef>
                <a:spcPts val="765"/>
              </a:spcBef>
              <a:spcAft>
                <a:spcPts val="0"/>
              </a:spcAft>
              <a:buSzPts val="1700"/>
              <a:buAutoNum type="arabicPeriod"/>
            </a:pPr>
            <a:r>
              <a:rPr b="1" lang="en" sz="1700"/>
              <a:t>Act</a:t>
            </a:r>
            <a:r>
              <a:rPr lang="en" sz="1700"/>
              <a:t>: Execute actions (call tools, respond to user, etc)</a:t>
            </a:r>
            <a:endParaRPr sz="17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3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The Tools Registry</a:t>
            </a:r>
            <a:endParaRPr sz="2800"/>
          </a:p>
        </p:txBody>
      </p:sp>
      <p:sp>
        <p:nvSpPr>
          <p:cNvPr id="159" name="Google Shape;159;p35"/>
          <p:cNvSpPr txBox="1"/>
          <p:nvPr>
            <p:ph idx="1" type="body"/>
          </p:nvPr>
        </p:nvSpPr>
        <p:spPr>
          <a:xfrm>
            <a:off x="311700" y="1152475"/>
            <a:ext cx="8520600" cy="3858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630"/>
              </a:spcBef>
              <a:spcAft>
                <a:spcPts val="0"/>
              </a:spcAft>
              <a:buNone/>
            </a:pPr>
            <a:r>
              <a:rPr b="1" lang="en" sz="1400"/>
              <a:t>What makes this all possible is a tools registry, which tells the LLM how to “use” a tool and tells the harness how to know that the LLM is “using” a tool.</a:t>
            </a:r>
            <a:endParaRPr b="1" sz="1400"/>
          </a:p>
          <a:p>
            <a:pPr indent="0" lvl="0" marL="0" rtl="0" algn="l">
              <a:lnSpc>
                <a:spcPct val="115000"/>
              </a:lnSpc>
              <a:spcBef>
                <a:spcPts val="630"/>
              </a:spcBef>
              <a:spcAft>
                <a:spcPts val="0"/>
              </a:spcAft>
              <a:buNone/>
            </a:pPr>
            <a:r>
              <a:t/>
            </a:r>
            <a:endParaRPr b="1" sz="1400"/>
          </a:p>
          <a:p>
            <a:pPr indent="0" lvl="0" marL="0" rtl="0" algn="l">
              <a:lnSpc>
                <a:spcPct val="115000"/>
              </a:lnSpc>
              <a:spcBef>
                <a:spcPts val="630"/>
              </a:spcBef>
              <a:spcAft>
                <a:spcPts val="0"/>
              </a:spcAft>
              <a:buNone/>
            </a:pPr>
            <a:r>
              <a:rPr b="1" lang="en" sz="1400"/>
              <a:t>A registry has:</a:t>
            </a:r>
            <a:endParaRPr b="1" sz="1400"/>
          </a:p>
          <a:p>
            <a:pPr indent="-317500" lvl="0" marL="457200" rtl="0" algn="l">
              <a:lnSpc>
                <a:spcPct val="115000"/>
              </a:lnSpc>
              <a:spcBef>
                <a:spcPts val="630"/>
              </a:spcBef>
              <a:spcAft>
                <a:spcPts val="0"/>
              </a:spcAft>
              <a:buSzPts val="1400"/>
              <a:buChar char="●"/>
            </a:pPr>
            <a:r>
              <a:rPr lang="en" sz="1400"/>
              <a:t>A </a:t>
            </a:r>
            <a:r>
              <a:rPr b="1" lang="en" sz="1400"/>
              <a:t>name</a:t>
            </a:r>
            <a:r>
              <a:rPr lang="en" sz="1400"/>
              <a:t>, which the LLM will use to call this tool</a:t>
            </a:r>
            <a:endParaRPr sz="1400"/>
          </a:p>
          <a:p>
            <a:pPr indent="-317500" lvl="0" marL="457200" rtl="0" algn="l">
              <a:lnSpc>
                <a:spcPct val="115000"/>
              </a:lnSpc>
              <a:spcBef>
                <a:spcPts val="0"/>
              </a:spcBef>
              <a:spcAft>
                <a:spcPts val="0"/>
              </a:spcAft>
              <a:buSzPts val="1400"/>
              <a:buChar char="●"/>
            </a:pPr>
            <a:r>
              <a:rPr lang="en" sz="1400"/>
              <a:t>A </a:t>
            </a:r>
            <a:r>
              <a:rPr b="1" lang="en" sz="1400"/>
              <a:t>description</a:t>
            </a:r>
            <a:r>
              <a:rPr lang="en" sz="1400"/>
              <a:t> of the tool, for the LLM to read</a:t>
            </a:r>
            <a:endParaRPr sz="1400"/>
          </a:p>
          <a:p>
            <a:pPr indent="-317500" lvl="0" marL="457200" rtl="0" algn="l">
              <a:lnSpc>
                <a:spcPct val="115000"/>
              </a:lnSpc>
              <a:spcBef>
                <a:spcPts val="0"/>
              </a:spcBef>
              <a:spcAft>
                <a:spcPts val="0"/>
              </a:spcAft>
              <a:buSzPts val="1400"/>
              <a:buChar char="●"/>
            </a:pPr>
            <a:r>
              <a:rPr lang="en" sz="1400"/>
              <a:t>A </a:t>
            </a:r>
            <a:r>
              <a:rPr b="1" lang="en" sz="1400"/>
              <a:t>schema</a:t>
            </a:r>
            <a:r>
              <a:rPr lang="en" sz="1400"/>
              <a:t>, which defines what information the LLM should provide, beyond the name</a:t>
            </a:r>
            <a:endParaRPr sz="1400"/>
          </a:p>
          <a:p>
            <a:pPr indent="-317500" lvl="0" marL="457200" rtl="0" algn="l">
              <a:lnSpc>
                <a:spcPct val="115000"/>
              </a:lnSpc>
              <a:spcBef>
                <a:spcPts val="0"/>
              </a:spcBef>
              <a:spcAft>
                <a:spcPts val="0"/>
              </a:spcAft>
              <a:buSzPts val="1400"/>
              <a:buChar char="●"/>
            </a:pPr>
            <a:r>
              <a:rPr lang="en" sz="1400"/>
              <a:t>A </a:t>
            </a:r>
            <a:r>
              <a:rPr b="1" lang="en" sz="1400"/>
              <a:t>function</a:t>
            </a:r>
            <a:r>
              <a:rPr lang="en" sz="1400"/>
              <a:t> that the harness will run when the tool is used</a:t>
            </a:r>
            <a:endParaRPr sz="14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3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The Tools Registry</a:t>
            </a:r>
            <a:endParaRPr sz="2800"/>
          </a:p>
        </p:txBody>
      </p:sp>
      <p:sp>
        <p:nvSpPr>
          <p:cNvPr id="165" name="Google Shape;165;p36"/>
          <p:cNvSpPr txBox="1"/>
          <p:nvPr>
            <p:ph idx="1" type="body"/>
          </p:nvPr>
        </p:nvSpPr>
        <p:spPr>
          <a:xfrm>
            <a:off x="311700" y="1152475"/>
            <a:ext cx="8718000" cy="3858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630"/>
              </a:spcBef>
              <a:spcAft>
                <a:spcPts val="0"/>
              </a:spcAft>
              <a:buNone/>
            </a:pPr>
            <a:r>
              <a:rPr b="1" lang="en" sz="1400"/>
              <a:t>What makes this all possible is a tools registry, which tells the LLM how to “use” a tool and tells the harness how to know that the LLM is “using” a tool.</a:t>
            </a:r>
            <a:endParaRPr b="1" sz="1400"/>
          </a:p>
          <a:p>
            <a:pPr indent="0" lvl="0" marL="0" rtl="0" algn="l">
              <a:lnSpc>
                <a:spcPct val="115000"/>
              </a:lnSpc>
              <a:spcBef>
                <a:spcPts val="630"/>
              </a:spcBef>
              <a:spcAft>
                <a:spcPts val="0"/>
              </a:spcAft>
              <a:buNone/>
            </a:pPr>
            <a:r>
              <a:t/>
            </a:r>
            <a:endParaRPr b="1" sz="1400"/>
          </a:p>
          <a:p>
            <a:pPr indent="0" lvl="0" marL="0" rtl="0" algn="l">
              <a:lnSpc>
                <a:spcPct val="115000"/>
              </a:lnSpc>
              <a:spcBef>
                <a:spcPts val="630"/>
              </a:spcBef>
              <a:spcAft>
                <a:spcPts val="0"/>
              </a:spcAft>
              <a:buNone/>
            </a:pPr>
            <a:r>
              <a:rPr b="1" lang="en" sz="1400"/>
              <a:t>Each tool in a registry has</a:t>
            </a:r>
            <a:r>
              <a:rPr b="1" lang="en" sz="1400"/>
              <a:t>:</a:t>
            </a:r>
            <a:endParaRPr b="1" sz="1400"/>
          </a:p>
          <a:p>
            <a:pPr indent="-317500" lvl="0" marL="457200" rtl="0" algn="l">
              <a:lnSpc>
                <a:spcPct val="115000"/>
              </a:lnSpc>
              <a:spcBef>
                <a:spcPts val="630"/>
              </a:spcBef>
              <a:spcAft>
                <a:spcPts val="0"/>
              </a:spcAft>
              <a:buSzPts val="1400"/>
              <a:buChar char="●"/>
            </a:pPr>
            <a:r>
              <a:rPr lang="en" sz="1400"/>
              <a:t>A </a:t>
            </a:r>
            <a:r>
              <a:rPr b="1" lang="en" sz="1400"/>
              <a:t>name</a:t>
            </a:r>
            <a:r>
              <a:rPr lang="en" sz="1400"/>
              <a:t>, which the LLM will use to call this tool</a:t>
            </a:r>
            <a:endParaRPr sz="1400"/>
          </a:p>
          <a:p>
            <a:pPr indent="-317500" lvl="0" marL="457200" rtl="0" algn="l">
              <a:lnSpc>
                <a:spcPct val="115000"/>
              </a:lnSpc>
              <a:spcBef>
                <a:spcPts val="0"/>
              </a:spcBef>
              <a:spcAft>
                <a:spcPts val="0"/>
              </a:spcAft>
              <a:buSzPts val="1400"/>
              <a:buChar char="●"/>
            </a:pPr>
            <a:r>
              <a:rPr lang="en" sz="1400"/>
              <a:t>A </a:t>
            </a:r>
            <a:r>
              <a:rPr b="1" lang="en" sz="1400"/>
              <a:t>description</a:t>
            </a:r>
            <a:r>
              <a:rPr lang="en" sz="1400"/>
              <a:t> of the tool, for the LLM to read</a:t>
            </a:r>
            <a:endParaRPr sz="1400"/>
          </a:p>
          <a:p>
            <a:pPr indent="-317500" lvl="0" marL="457200" rtl="0" algn="l">
              <a:lnSpc>
                <a:spcPct val="115000"/>
              </a:lnSpc>
              <a:spcBef>
                <a:spcPts val="0"/>
              </a:spcBef>
              <a:spcAft>
                <a:spcPts val="0"/>
              </a:spcAft>
              <a:buSzPts val="1400"/>
              <a:buChar char="●"/>
            </a:pPr>
            <a:r>
              <a:rPr lang="en" sz="1400"/>
              <a:t>A </a:t>
            </a:r>
            <a:r>
              <a:rPr b="1" lang="en" sz="1400"/>
              <a:t>schema</a:t>
            </a:r>
            <a:r>
              <a:rPr lang="en" sz="1400"/>
              <a:t>, which defines what information the LLM should provide, beyond the name</a:t>
            </a:r>
            <a:endParaRPr sz="1400"/>
          </a:p>
          <a:p>
            <a:pPr indent="-317500" lvl="0" marL="457200" rtl="0" algn="l">
              <a:lnSpc>
                <a:spcPct val="115000"/>
              </a:lnSpc>
              <a:spcBef>
                <a:spcPts val="0"/>
              </a:spcBef>
              <a:spcAft>
                <a:spcPts val="0"/>
              </a:spcAft>
              <a:buSzPts val="1400"/>
              <a:buChar char="●"/>
            </a:pPr>
            <a:r>
              <a:rPr lang="en" sz="1400"/>
              <a:t>A </a:t>
            </a:r>
            <a:r>
              <a:rPr b="1" lang="en" sz="1400"/>
              <a:t>function</a:t>
            </a:r>
            <a:r>
              <a:rPr lang="en" sz="1400"/>
              <a:t> that the harness will run when the tool is used</a:t>
            </a:r>
            <a:endParaRPr sz="1400"/>
          </a:p>
          <a:p>
            <a:pPr indent="0" lvl="0" marL="0" rtl="0" algn="l">
              <a:lnSpc>
                <a:spcPct val="115000"/>
              </a:lnSpc>
              <a:spcBef>
                <a:spcPts val="630"/>
              </a:spcBef>
              <a:spcAft>
                <a:spcPts val="0"/>
              </a:spcAft>
              <a:buNone/>
            </a:pPr>
            <a:r>
              <a:t/>
            </a:r>
            <a:endParaRPr sz="1200"/>
          </a:p>
          <a:p>
            <a:pPr indent="0" lvl="0" marL="0" rtl="0" algn="l">
              <a:lnSpc>
                <a:spcPct val="115000"/>
              </a:lnSpc>
              <a:spcBef>
                <a:spcPts val="630"/>
              </a:spcBef>
              <a:spcAft>
                <a:spcPts val="0"/>
              </a:spcAft>
              <a:buNone/>
            </a:pPr>
            <a:r>
              <a:rPr lang="en" sz="1400"/>
              <a:t>In our example</a:t>
            </a:r>
            <a:r>
              <a:rPr lang="en" sz="1400"/>
              <a:t>, the </a:t>
            </a:r>
            <a:r>
              <a:rPr b="1" lang="en" sz="1400"/>
              <a:t>function</a:t>
            </a:r>
            <a:r>
              <a:rPr lang="en" sz="1400"/>
              <a:t> will be a Python function called and run within the </a:t>
            </a:r>
            <a:r>
              <a:rPr lang="en" sz="1400"/>
              <a:t>Python harness.</a:t>
            </a:r>
            <a:br>
              <a:rPr lang="en" sz="1400"/>
            </a:br>
            <a:endParaRPr sz="1200"/>
          </a:p>
          <a:p>
            <a:pPr indent="0" lvl="0" marL="0" rtl="0" algn="l">
              <a:lnSpc>
                <a:spcPct val="115000"/>
              </a:lnSpc>
              <a:spcBef>
                <a:spcPts val="630"/>
              </a:spcBef>
              <a:spcAft>
                <a:spcPts val="0"/>
              </a:spcAft>
              <a:buNone/>
            </a:pPr>
            <a:r>
              <a:rPr lang="en" sz="1400"/>
              <a:t>In many systems, the function is instead a stub that forwards the request to a separate program, usually over a standard protocol like Model Context Protocol (MCP).</a:t>
            </a:r>
            <a:endParaRPr sz="14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2800"/>
              <a:t>Example: Weather Query (Context)</a:t>
            </a:r>
            <a:endParaRPr sz="2800"/>
          </a:p>
        </p:txBody>
      </p:sp>
      <p:sp>
        <p:nvSpPr>
          <p:cNvPr id="171" name="Google Shape;171;p37"/>
          <p:cNvSpPr txBox="1"/>
          <p:nvPr>
            <p:ph idx="1" type="body"/>
          </p:nvPr>
        </p:nvSpPr>
        <p:spPr>
          <a:xfrm>
            <a:off x="311700" y="1152475"/>
            <a:ext cx="8520600" cy="3858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960"/>
              </a:spcBef>
              <a:spcAft>
                <a:spcPts val="0"/>
              </a:spcAft>
              <a:buSzPts val="1800"/>
              <a:buNone/>
            </a:pPr>
            <a:r>
              <a:rPr b="1" lang="en" sz="1400"/>
              <a:t>Agent has access to a web search tool</a:t>
            </a:r>
            <a:endParaRPr sz="1400"/>
          </a:p>
          <a:p>
            <a:pPr indent="0" lvl="0" marL="0" rtl="0" algn="l">
              <a:lnSpc>
                <a:spcPct val="115000"/>
              </a:lnSpc>
              <a:spcBef>
                <a:spcPts val="960"/>
              </a:spcBef>
              <a:spcAft>
                <a:spcPts val="0"/>
              </a:spcAft>
              <a:buSzPts val="1800"/>
              <a:buNone/>
            </a:pPr>
            <a:r>
              <a:rPr b="1" lang="en" sz="1400"/>
              <a:t>User asks</a:t>
            </a:r>
            <a:r>
              <a:rPr lang="en" sz="1400"/>
              <a:t>: “What's the weather tomorrow in Chicago?"</a:t>
            </a:r>
            <a:endParaRPr sz="1400"/>
          </a:p>
          <a:p>
            <a:pPr indent="0" lvl="0" marL="0" rtl="0" algn="l">
              <a:lnSpc>
                <a:spcPct val="115000"/>
              </a:lnSpc>
              <a:spcBef>
                <a:spcPts val="960"/>
              </a:spcBef>
              <a:spcAft>
                <a:spcPts val="0"/>
              </a:spcAft>
              <a:buSzPts val="1800"/>
              <a:buNone/>
            </a:pPr>
            <a:r>
              <a:rPr b="1" lang="en" sz="1400"/>
              <a:t>Context window contains</a:t>
            </a:r>
            <a:r>
              <a:rPr lang="en" sz="1400"/>
              <a:t>:</a:t>
            </a:r>
            <a:endParaRPr sz="1400"/>
          </a:p>
          <a:p>
            <a:pPr indent="-330200" lvl="0" marL="457200" rtl="0" algn="l">
              <a:lnSpc>
                <a:spcPct val="115000"/>
              </a:lnSpc>
              <a:spcBef>
                <a:spcPts val="720"/>
              </a:spcBef>
              <a:spcAft>
                <a:spcPts val="0"/>
              </a:spcAft>
              <a:buSzPts val="1400"/>
              <a:buChar char="●"/>
            </a:pPr>
            <a:r>
              <a:rPr b="1" lang="en" sz="1400"/>
              <a:t>System Prompt:</a:t>
            </a:r>
            <a:endParaRPr sz="1400"/>
          </a:p>
          <a:p>
            <a:pPr indent="-304800" lvl="1" marL="914400" rtl="0" algn="l">
              <a:lnSpc>
                <a:spcPct val="115000"/>
              </a:lnSpc>
              <a:spcBef>
                <a:spcPts val="675"/>
              </a:spcBef>
              <a:spcAft>
                <a:spcPts val="0"/>
              </a:spcAft>
              <a:buSzPts val="1300"/>
              <a:buChar char="○"/>
            </a:pPr>
            <a:r>
              <a:rPr lang="en" sz="1300">
                <a:latin typeface="Courier New"/>
                <a:ea typeface="Courier New"/>
                <a:cs typeface="Courier New"/>
                <a:sym typeface="Courier New"/>
              </a:rPr>
              <a:t>Use the tools below to answer the user's query. Return your decision as JSON: {"tool": ..., "parameters": {...}, "reasoning": "..."}"</a:t>
            </a:r>
            <a:endParaRPr sz="1300"/>
          </a:p>
          <a:p>
            <a:pPr indent="-330200" lvl="0" marL="457200" rtl="0" algn="l">
              <a:lnSpc>
                <a:spcPct val="115000"/>
              </a:lnSpc>
              <a:spcBef>
                <a:spcPts val="720"/>
              </a:spcBef>
              <a:spcAft>
                <a:spcPts val="0"/>
              </a:spcAft>
              <a:buSzPts val="1400"/>
              <a:buChar char="●"/>
            </a:pPr>
            <a:r>
              <a:rPr b="1" lang="en" sz="1400"/>
              <a:t>Tool Registry</a:t>
            </a:r>
            <a:r>
              <a:rPr lang="en" sz="1400"/>
              <a:t>:</a:t>
            </a:r>
            <a:endParaRPr sz="1400"/>
          </a:p>
          <a:p>
            <a:pPr indent="-304800" lvl="1" marL="914400" rtl="0" algn="l">
              <a:lnSpc>
                <a:spcPct val="115000"/>
              </a:lnSpc>
              <a:spcBef>
                <a:spcPts val="675"/>
              </a:spcBef>
              <a:spcAft>
                <a:spcPts val="0"/>
              </a:spcAft>
              <a:buSzPts val="1300"/>
              <a:buChar char="○"/>
            </a:pPr>
            <a:r>
              <a:rPr lang="en" sz="1300">
                <a:latin typeface="Courier New"/>
                <a:ea typeface="Courier New"/>
                <a:cs typeface="Courier New"/>
                <a:sym typeface="Courier New"/>
              </a:rPr>
              <a:t>web_search(query: str) -&gt; str</a:t>
            </a:r>
            <a:r>
              <a:rPr lang="en" sz="1300"/>
              <a:t>: Search the web and return results</a:t>
            </a:r>
            <a:endParaRPr sz="1300"/>
          </a:p>
          <a:p>
            <a:pPr indent="-304800" lvl="1" marL="914400" rtl="0" algn="l">
              <a:lnSpc>
                <a:spcPct val="115000"/>
              </a:lnSpc>
              <a:spcBef>
                <a:spcPts val="675"/>
              </a:spcBef>
              <a:spcAft>
                <a:spcPts val="0"/>
              </a:spcAft>
              <a:buSzPts val="1300"/>
              <a:buChar char="○"/>
            </a:pPr>
            <a:r>
              <a:rPr lang="en" sz="1300">
                <a:latin typeface="Courier New"/>
                <a:ea typeface="Courier New"/>
                <a:cs typeface="Courier New"/>
                <a:sym typeface="Courier New"/>
              </a:rPr>
              <a:t>done(message: str)</a:t>
            </a:r>
            <a:r>
              <a:rPr lang="en" sz="1300"/>
              <a:t>: Signal completion with a final message</a:t>
            </a:r>
            <a:endParaRPr sz="1300"/>
          </a:p>
          <a:p>
            <a:pPr indent="-330200" lvl="0" marL="457200" rtl="0" algn="l">
              <a:lnSpc>
                <a:spcPct val="115000"/>
              </a:lnSpc>
              <a:spcBef>
                <a:spcPts val="720"/>
              </a:spcBef>
              <a:spcAft>
                <a:spcPts val="0"/>
              </a:spcAft>
              <a:buSzPts val="1400"/>
              <a:buChar char="●"/>
            </a:pPr>
            <a:r>
              <a:rPr b="1" lang="en" sz="1400"/>
              <a:t>User Query</a:t>
            </a:r>
            <a:r>
              <a:rPr lang="en" sz="1400"/>
              <a:t>: “What's the weather tomorrow in Chicago?"</a:t>
            </a:r>
            <a:endParaRPr sz="1400"/>
          </a:p>
          <a:p>
            <a:pPr indent="0" lvl="0" marL="0" rtl="0" algn="l">
              <a:lnSpc>
                <a:spcPct val="115000"/>
              </a:lnSpc>
              <a:spcBef>
                <a:spcPts val="960"/>
              </a:spcBef>
              <a:spcAft>
                <a:spcPts val="0"/>
              </a:spcAft>
              <a:buSzPts val="1800"/>
              <a:buNone/>
            </a:pPr>
            <a:r>
              <a:rPr b="1" lang="en" sz="1400"/>
              <a:t>CODE sends this to LLM</a:t>
            </a:r>
            <a:endParaRPr sz="14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3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2800"/>
              <a:t>Example: Weather Query (LLM Response)</a:t>
            </a:r>
            <a:endParaRPr sz="2800"/>
          </a:p>
        </p:txBody>
      </p:sp>
      <p:sp>
        <p:nvSpPr>
          <p:cNvPr id="177" name="Google Shape;177;p38"/>
          <p:cNvSpPr txBox="1"/>
          <p:nvPr>
            <p:ph idx="1" type="body"/>
          </p:nvPr>
        </p:nvSpPr>
        <p:spPr>
          <a:xfrm>
            <a:off x="311700" y="1152475"/>
            <a:ext cx="8520600" cy="3858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080"/>
              </a:spcBef>
              <a:spcAft>
                <a:spcPts val="0"/>
              </a:spcAft>
              <a:buSzPts val="1800"/>
              <a:buNone/>
            </a:pPr>
            <a:r>
              <a:rPr b="1" lang="en" sz="1800"/>
              <a:t>LLM Response (Turn 1)</a:t>
            </a:r>
            <a:r>
              <a:rPr lang="en" sz="1800"/>
              <a:t>:</a:t>
            </a:r>
            <a:endParaRPr sz="1800"/>
          </a:p>
          <a:p>
            <a:pPr indent="0" lvl="0" marL="0" rtl="0" algn="l">
              <a:lnSpc>
                <a:spcPct val="115000"/>
              </a:lnSpc>
              <a:spcBef>
                <a:spcPts val="1080"/>
              </a:spcBef>
              <a:spcAft>
                <a:spcPts val="0"/>
              </a:spcAft>
              <a:buSzPts val="1800"/>
              <a:buNone/>
            </a:pPr>
            <a:r>
              <a:rPr b="1" lang="en" sz="1800"/>
              <a:t>JSON Output</a:t>
            </a:r>
            <a:endParaRPr sz="1800"/>
          </a:p>
          <a:p>
            <a:pPr indent="0" lvl="1" marL="457200" rtl="0" algn="l">
              <a:lnSpc>
                <a:spcPct val="115000"/>
              </a:lnSpc>
              <a:spcBef>
                <a:spcPts val="900"/>
              </a:spcBef>
              <a:spcAft>
                <a:spcPts val="0"/>
              </a:spcAft>
              <a:buSzPts val="1400"/>
              <a:buNone/>
            </a:pPr>
            <a:r>
              <a:rPr lang="en" sz="1500">
                <a:latin typeface="Courier New"/>
                <a:ea typeface="Courier New"/>
                <a:cs typeface="Courier New"/>
                <a:sym typeface="Courier New"/>
              </a:rPr>
              <a:t>{</a:t>
            </a:r>
            <a:endParaRPr sz="1500"/>
          </a:p>
          <a:p>
            <a:pPr indent="0" lvl="1" marL="457200" rtl="0" algn="l">
              <a:lnSpc>
                <a:spcPct val="115000"/>
              </a:lnSpc>
              <a:spcBef>
                <a:spcPts val="0"/>
              </a:spcBef>
              <a:spcAft>
                <a:spcPts val="0"/>
              </a:spcAft>
              <a:buSzPts val="1400"/>
              <a:buNone/>
            </a:pPr>
            <a:r>
              <a:rPr lang="en" sz="1500">
                <a:latin typeface="Courier New"/>
                <a:ea typeface="Courier New"/>
                <a:cs typeface="Courier New"/>
                <a:sym typeface="Courier New"/>
              </a:rPr>
              <a:t>  "tool": "web_search",</a:t>
            </a:r>
            <a:endParaRPr sz="1500"/>
          </a:p>
          <a:p>
            <a:pPr indent="0" lvl="1" marL="457200" rtl="0" algn="l">
              <a:lnSpc>
                <a:spcPct val="115000"/>
              </a:lnSpc>
              <a:spcBef>
                <a:spcPts val="0"/>
              </a:spcBef>
              <a:spcAft>
                <a:spcPts val="0"/>
              </a:spcAft>
              <a:buSzPts val="1400"/>
              <a:buNone/>
            </a:pPr>
            <a:r>
              <a:rPr lang="en" sz="1500">
                <a:latin typeface="Courier New"/>
                <a:ea typeface="Courier New"/>
                <a:cs typeface="Courier New"/>
                <a:sym typeface="Courier New"/>
              </a:rPr>
              <a:t>  "parameters": {</a:t>
            </a:r>
            <a:endParaRPr sz="1500"/>
          </a:p>
          <a:p>
            <a:pPr indent="0" lvl="1" marL="457200" rtl="0" algn="l">
              <a:lnSpc>
                <a:spcPct val="115000"/>
              </a:lnSpc>
              <a:spcBef>
                <a:spcPts val="0"/>
              </a:spcBef>
              <a:spcAft>
                <a:spcPts val="0"/>
              </a:spcAft>
              <a:buSzPts val="1400"/>
              <a:buNone/>
            </a:pPr>
            <a:r>
              <a:rPr lang="en" sz="1500">
                <a:latin typeface="Courier New"/>
                <a:ea typeface="Courier New"/>
                <a:cs typeface="Courier New"/>
                <a:sym typeface="Courier New"/>
              </a:rPr>
              <a:t>    "query": "Chicago weather tomorrow forecast"</a:t>
            </a:r>
            <a:endParaRPr sz="1500"/>
          </a:p>
          <a:p>
            <a:pPr indent="0" lvl="1" marL="457200" rtl="0" algn="l">
              <a:lnSpc>
                <a:spcPct val="115000"/>
              </a:lnSpc>
              <a:spcBef>
                <a:spcPts val="0"/>
              </a:spcBef>
              <a:spcAft>
                <a:spcPts val="0"/>
              </a:spcAft>
              <a:buSzPts val="1400"/>
              <a:buNone/>
            </a:pPr>
            <a:r>
              <a:rPr lang="en" sz="1500">
                <a:latin typeface="Courier New"/>
                <a:ea typeface="Courier New"/>
                <a:cs typeface="Courier New"/>
                <a:sym typeface="Courier New"/>
              </a:rPr>
              <a:t>  },</a:t>
            </a:r>
            <a:endParaRPr sz="1500"/>
          </a:p>
          <a:p>
            <a:pPr indent="0" lvl="1" marL="457200" rtl="0" algn="l">
              <a:lnSpc>
                <a:spcPct val="115000"/>
              </a:lnSpc>
              <a:spcBef>
                <a:spcPts val="0"/>
              </a:spcBef>
              <a:spcAft>
                <a:spcPts val="0"/>
              </a:spcAft>
              <a:buSzPts val="1400"/>
              <a:buNone/>
            </a:pPr>
            <a:r>
              <a:rPr lang="en" sz="1500">
                <a:latin typeface="Courier New"/>
                <a:ea typeface="Courier New"/>
                <a:cs typeface="Courier New"/>
                <a:sym typeface="Courier New"/>
              </a:rPr>
              <a:t>  "reasoning": "Need to search for current weather</a:t>
            </a:r>
            <a:endParaRPr sz="1500"/>
          </a:p>
          <a:p>
            <a:pPr indent="0" lvl="1" marL="457200" rtl="0" algn="l">
              <a:lnSpc>
                <a:spcPct val="115000"/>
              </a:lnSpc>
              <a:spcBef>
                <a:spcPts val="0"/>
              </a:spcBef>
              <a:spcAft>
                <a:spcPts val="0"/>
              </a:spcAft>
              <a:buSzPts val="1400"/>
              <a:buNone/>
            </a:pPr>
            <a:r>
              <a:rPr lang="en" sz="1500">
                <a:latin typeface="Courier New"/>
                <a:ea typeface="Courier New"/>
                <a:cs typeface="Courier New"/>
                <a:sym typeface="Courier New"/>
              </a:rPr>
              <a:t>                forecast to answer the user's question"</a:t>
            </a:r>
            <a:endParaRPr sz="1500"/>
          </a:p>
          <a:p>
            <a:pPr indent="0" lvl="1" marL="457200" rtl="0" algn="l">
              <a:lnSpc>
                <a:spcPct val="115000"/>
              </a:lnSpc>
              <a:spcBef>
                <a:spcPts val="0"/>
              </a:spcBef>
              <a:spcAft>
                <a:spcPts val="0"/>
              </a:spcAft>
              <a:buSzPts val="1400"/>
              <a:buNone/>
            </a:pPr>
            <a:r>
              <a:rPr lang="en" sz="1500">
                <a:latin typeface="Courier New"/>
                <a:ea typeface="Courier New"/>
                <a:cs typeface="Courier New"/>
                <a:sym typeface="Courier New"/>
              </a:rPr>
              <a:t>}</a:t>
            </a:r>
            <a:endParaRPr sz="15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2800"/>
              <a:t>Example: </a:t>
            </a:r>
            <a:r>
              <a:rPr lang="en" sz="2800"/>
              <a:t>Weather Query (</a:t>
            </a:r>
            <a:r>
              <a:rPr lang="en"/>
              <a:t>Harness executes search</a:t>
            </a:r>
            <a:r>
              <a:rPr lang="en" sz="2800"/>
              <a:t>)</a:t>
            </a:r>
            <a:endParaRPr sz="2800"/>
          </a:p>
        </p:txBody>
      </p:sp>
      <p:sp>
        <p:nvSpPr>
          <p:cNvPr id="183" name="Google Shape;183;p39"/>
          <p:cNvSpPr txBox="1"/>
          <p:nvPr>
            <p:ph idx="1" type="body"/>
          </p:nvPr>
        </p:nvSpPr>
        <p:spPr>
          <a:xfrm>
            <a:off x="311700" y="1152475"/>
            <a:ext cx="8520600" cy="38580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080"/>
              </a:spcBef>
              <a:spcAft>
                <a:spcPts val="0"/>
              </a:spcAft>
              <a:buClr>
                <a:srgbClr val="000000"/>
              </a:buClr>
              <a:buSzPts val="1800"/>
              <a:buFont typeface="Arial"/>
              <a:buNone/>
            </a:pPr>
            <a:r>
              <a:rPr b="1" lang="en"/>
              <a:t>Harness (Turn 1):</a:t>
            </a:r>
            <a:endParaRPr b="1"/>
          </a:p>
          <a:p>
            <a:pPr indent="-342900" lvl="0" marL="457200" marR="0" rtl="0" algn="l">
              <a:lnSpc>
                <a:spcPct val="115000"/>
              </a:lnSpc>
              <a:spcBef>
                <a:spcPts val="1080"/>
              </a:spcBef>
              <a:spcAft>
                <a:spcPts val="0"/>
              </a:spcAft>
              <a:buSzPts val="1800"/>
              <a:buAutoNum type="arabicPeriod"/>
            </a:pPr>
            <a:r>
              <a:rPr lang="en"/>
              <a:t>Parses this JSON</a:t>
            </a:r>
            <a:endParaRPr/>
          </a:p>
          <a:p>
            <a:pPr indent="-342900" lvl="0" marL="457200" marR="0" rtl="0" algn="l">
              <a:lnSpc>
                <a:spcPct val="115000"/>
              </a:lnSpc>
              <a:spcBef>
                <a:spcPts val="1000"/>
              </a:spcBef>
              <a:spcAft>
                <a:spcPts val="0"/>
              </a:spcAft>
              <a:buSzPts val="1800"/>
              <a:buAutoNum type="arabicPeriod"/>
            </a:pPr>
            <a:r>
              <a:rPr lang="en"/>
              <a:t>Executes web_search("Chicago weather tomorrow forecast")</a:t>
            </a:r>
            <a:endParaRPr/>
          </a:p>
          <a:p>
            <a:pPr indent="-342900" lvl="0" marL="457200" marR="0" rtl="0" algn="l">
              <a:lnSpc>
                <a:spcPct val="115000"/>
              </a:lnSpc>
              <a:spcBef>
                <a:spcPts val="1000"/>
              </a:spcBef>
              <a:spcAft>
                <a:spcPts val="0"/>
              </a:spcAft>
              <a:buSzPts val="1800"/>
              <a:buAutoNum type="arabicPeriod"/>
            </a:pPr>
            <a:r>
              <a:rPr lang="en"/>
              <a:t>Gets result: “Tomorrow: 45 deg F, partly cloudy, 20% chance of rain"</a:t>
            </a:r>
            <a:endParaRPr/>
          </a:p>
          <a:p>
            <a:pPr indent="-342900" lvl="0" marL="457200" marR="0" rtl="0" algn="l">
              <a:lnSpc>
                <a:spcPct val="115000"/>
              </a:lnSpc>
              <a:spcBef>
                <a:spcPts val="1080"/>
              </a:spcBef>
              <a:spcAft>
                <a:spcPts val="1000"/>
              </a:spcAft>
              <a:buSzPts val="1800"/>
              <a:buAutoNum type="arabicPeriod"/>
            </a:pPr>
            <a:r>
              <a:rPr lang="en"/>
              <a:t>Adds result to context for next turn</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4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2800"/>
              <a:t>Example: Weather Query (Turn 2)</a:t>
            </a:r>
            <a:endParaRPr sz="2800"/>
          </a:p>
        </p:txBody>
      </p:sp>
      <p:sp>
        <p:nvSpPr>
          <p:cNvPr id="189" name="Google Shape;189;p40"/>
          <p:cNvSpPr txBox="1"/>
          <p:nvPr>
            <p:ph idx="1" type="body"/>
          </p:nvPr>
        </p:nvSpPr>
        <p:spPr>
          <a:xfrm>
            <a:off x="311700" y="1152475"/>
            <a:ext cx="8520600" cy="3858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080"/>
              </a:spcBef>
              <a:spcAft>
                <a:spcPts val="0"/>
              </a:spcAft>
              <a:buSzPts val="1800"/>
              <a:buNone/>
            </a:pPr>
            <a:r>
              <a:rPr b="1" lang="en" sz="1800"/>
              <a:t>Updated context window now includes</a:t>
            </a:r>
            <a:r>
              <a:rPr lang="en" sz="1800"/>
              <a:t>:</a:t>
            </a:r>
            <a:endParaRPr sz="1800"/>
          </a:p>
          <a:p>
            <a:pPr indent="-342900" lvl="0" marL="457200" rtl="0" algn="l">
              <a:lnSpc>
                <a:spcPct val="115000"/>
              </a:lnSpc>
              <a:spcBef>
                <a:spcPts val="810"/>
              </a:spcBef>
              <a:spcAft>
                <a:spcPts val="0"/>
              </a:spcAft>
              <a:buSzPts val="1800"/>
              <a:buChar char="●"/>
            </a:pPr>
            <a:r>
              <a:rPr lang="en" sz="1800"/>
              <a:t>Original query</a:t>
            </a:r>
            <a:endParaRPr sz="1800"/>
          </a:p>
          <a:p>
            <a:pPr indent="-342900" lvl="0" marL="457200" rtl="0" algn="l">
              <a:lnSpc>
                <a:spcPct val="115000"/>
              </a:lnSpc>
              <a:spcBef>
                <a:spcPts val="810"/>
              </a:spcBef>
              <a:spcAft>
                <a:spcPts val="0"/>
              </a:spcAft>
              <a:buSzPts val="1800"/>
              <a:buChar char="●"/>
            </a:pPr>
            <a:r>
              <a:rPr lang="en" sz="1800"/>
              <a:t>Tool registry</a:t>
            </a:r>
            <a:endParaRPr sz="1800"/>
          </a:p>
          <a:p>
            <a:pPr indent="-342900" lvl="0" marL="457200" rtl="0" algn="l">
              <a:lnSpc>
                <a:spcPct val="115000"/>
              </a:lnSpc>
              <a:spcBef>
                <a:spcPts val="810"/>
              </a:spcBef>
              <a:spcAft>
                <a:spcPts val="0"/>
              </a:spcAft>
              <a:buSzPts val="1800"/>
              <a:buChar char="●"/>
            </a:pPr>
            <a:r>
              <a:rPr lang="en" sz="1800"/>
              <a:t>Previous action: Called </a:t>
            </a:r>
            <a:r>
              <a:rPr lang="en" sz="1800">
                <a:latin typeface="Courier New"/>
                <a:ea typeface="Courier New"/>
                <a:cs typeface="Courier New"/>
                <a:sym typeface="Courier New"/>
              </a:rPr>
              <a:t>web_search</a:t>
            </a:r>
            <a:endParaRPr sz="1800"/>
          </a:p>
          <a:p>
            <a:pPr indent="-342900" lvl="0" marL="457200" rtl="0" algn="l">
              <a:lnSpc>
                <a:spcPct val="115000"/>
              </a:lnSpc>
              <a:spcBef>
                <a:spcPts val="810"/>
              </a:spcBef>
              <a:spcAft>
                <a:spcPts val="0"/>
              </a:spcAft>
              <a:buSzPts val="1800"/>
              <a:buChar char="●"/>
            </a:pPr>
            <a:r>
              <a:rPr lang="en" sz="1800"/>
              <a:t>Previous result: “Tomorrow: 45 deg F, partly cloudy, 20% chance of rain"</a:t>
            </a:r>
            <a:endParaRPr sz="1800"/>
          </a:p>
          <a:p>
            <a:pPr indent="0" lvl="0" marL="0" rtl="0" algn="l">
              <a:lnSpc>
                <a:spcPct val="115000"/>
              </a:lnSpc>
              <a:spcBef>
                <a:spcPts val="1080"/>
              </a:spcBef>
              <a:spcAft>
                <a:spcPts val="0"/>
              </a:spcAft>
              <a:buSzPts val="1800"/>
              <a:buNone/>
            </a:pPr>
            <a:r>
              <a:t/>
            </a:r>
            <a:endParaRPr sz="18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41"/>
          <p:cNvSpPr txBox="1"/>
          <p:nvPr/>
        </p:nvSpPr>
        <p:spPr>
          <a:xfrm>
            <a:off x="311700" y="1199284"/>
            <a:ext cx="8520600" cy="3086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Arial"/>
                <a:ea typeface="Arial"/>
                <a:cs typeface="Arial"/>
                <a:sym typeface="Arial"/>
              </a:rPr>
              <a:t>LLM Response (Turn 2)</a:t>
            </a:r>
            <a:r>
              <a:rPr b="0" i="0" lang="en" sz="1800" u="none" cap="none" strike="noStrike">
                <a:solidFill>
                  <a:srgbClr val="000000"/>
                </a:solidFill>
                <a:latin typeface="Arial"/>
                <a:ea typeface="Arial"/>
                <a:cs typeface="Arial"/>
                <a:sym typeface="Arial"/>
              </a:rPr>
              <a:t>:</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1080"/>
              </a:spcBef>
              <a:spcAft>
                <a:spcPts val="0"/>
              </a:spcAft>
              <a:buClr>
                <a:srgbClr val="000000"/>
              </a:buClr>
              <a:buSzPts val="1800"/>
              <a:buFont typeface="Arial"/>
              <a:buNone/>
            </a:pPr>
            <a:r>
              <a:rPr b="1" i="0" lang="en" sz="1800" u="none" cap="none" strike="noStrike">
                <a:solidFill>
                  <a:srgbClr val="000000"/>
                </a:solidFill>
                <a:latin typeface="Arial"/>
                <a:ea typeface="Arial"/>
                <a:cs typeface="Arial"/>
                <a:sym typeface="Arial"/>
              </a:rPr>
              <a:t>JSON Output</a:t>
            </a:r>
            <a:endParaRPr b="0" i="0" sz="1800" u="none" cap="none" strike="noStrike">
              <a:solidFill>
                <a:srgbClr val="000000"/>
              </a:solidFill>
              <a:latin typeface="Arial"/>
              <a:ea typeface="Arial"/>
              <a:cs typeface="Arial"/>
              <a:sym typeface="Arial"/>
            </a:endParaRPr>
          </a:p>
          <a:p>
            <a:pPr indent="0" lvl="1" marL="457200" marR="0" rtl="0" algn="l">
              <a:lnSpc>
                <a:spcPct val="100000"/>
              </a:lnSpc>
              <a:spcBef>
                <a:spcPts val="900"/>
              </a:spcBef>
              <a:spcAft>
                <a:spcPts val="0"/>
              </a:spcAft>
              <a:buClr>
                <a:srgbClr val="000000"/>
              </a:buClr>
              <a:buSzPts val="1500"/>
              <a:buFont typeface="Arial"/>
              <a:buNone/>
            </a:pPr>
            <a:r>
              <a:rPr b="0" i="0" lang="en" sz="1500" u="none" cap="none" strike="noStrike">
                <a:solidFill>
                  <a:srgbClr val="000000"/>
                </a:solidFill>
                <a:latin typeface="Courier New"/>
                <a:ea typeface="Courier New"/>
                <a:cs typeface="Courier New"/>
                <a:sym typeface="Courier New"/>
              </a:rPr>
              <a:t>{</a:t>
            </a:r>
            <a:endParaRPr b="0" i="0" sz="1500" u="none" cap="none" strike="noStrike">
              <a:solidFill>
                <a:srgbClr val="000000"/>
              </a:solidFill>
              <a:latin typeface="Arial"/>
              <a:ea typeface="Arial"/>
              <a:cs typeface="Arial"/>
              <a:sym typeface="Arial"/>
            </a:endParaRPr>
          </a:p>
          <a:p>
            <a:pPr indent="0" lvl="1" marL="457200" marR="0" rtl="0" algn="l">
              <a:lnSpc>
                <a:spcPct val="100000"/>
              </a:lnSpc>
              <a:spcBef>
                <a:spcPts val="0"/>
              </a:spcBef>
              <a:spcAft>
                <a:spcPts val="0"/>
              </a:spcAft>
              <a:buClr>
                <a:srgbClr val="000000"/>
              </a:buClr>
              <a:buSzPts val="1500"/>
              <a:buFont typeface="Arial"/>
              <a:buNone/>
            </a:pPr>
            <a:r>
              <a:rPr b="0" i="0" lang="en" sz="1500" u="none" cap="none" strike="noStrike">
                <a:solidFill>
                  <a:srgbClr val="000000"/>
                </a:solidFill>
                <a:latin typeface="Courier New"/>
                <a:ea typeface="Courier New"/>
                <a:cs typeface="Courier New"/>
                <a:sym typeface="Courier New"/>
              </a:rPr>
              <a:t>  "tool": "done",</a:t>
            </a:r>
            <a:endParaRPr b="0" i="0" sz="1500" u="none" cap="none" strike="noStrike">
              <a:solidFill>
                <a:srgbClr val="000000"/>
              </a:solidFill>
              <a:latin typeface="Arial"/>
              <a:ea typeface="Arial"/>
              <a:cs typeface="Arial"/>
              <a:sym typeface="Arial"/>
            </a:endParaRPr>
          </a:p>
          <a:p>
            <a:pPr indent="0" lvl="1" marL="457200" marR="0" rtl="0" algn="l">
              <a:lnSpc>
                <a:spcPct val="100000"/>
              </a:lnSpc>
              <a:spcBef>
                <a:spcPts val="0"/>
              </a:spcBef>
              <a:spcAft>
                <a:spcPts val="0"/>
              </a:spcAft>
              <a:buClr>
                <a:srgbClr val="000000"/>
              </a:buClr>
              <a:buSzPts val="1500"/>
              <a:buFont typeface="Arial"/>
              <a:buNone/>
            </a:pPr>
            <a:r>
              <a:rPr b="0" i="0" lang="en" sz="1500" u="none" cap="none" strike="noStrike">
                <a:solidFill>
                  <a:srgbClr val="000000"/>
                </a:solidFill>
                <a:latin typeface="Courier New"/>
                <a:ea typeface="Courier New"/>
                <a:cs typeface="Courier New"/>
                <a:sym typeface="Courier New"/>
              </a:rPr>
              <a:t>  "parameters": {</a:t>
            </a:r>
            <a:endParaRPr b="0" i="0" sz="1500" u="none" cap="none" strike="noStrike">
              <a:solidFill>
                <a:srgbClr val="000000"/>
              </a:solidFill>
              <a:latin typeface="Arial"/>
              <a:ea typeface="Arial"/>
              <a:cs typeface="Arial"/>
              <a:sym typeface="Arial"/>
            </a:endParaRPr>
          </a:p>
          <a:p>
            <a:pPr indent="0" lvl="1" marL="457200" marR="0" rtl="0" algn="l">
              <a:lnSpc>
                <a:spcPct val="100000"/>
              </a:lnSpc>
              <a:spcBef>
                <a:spcPts val="0"/>
              </a:spcBef>
              <a:spcAft>
                <a:spcPts val="0"/>
              </a:spcAft>
              <a:buClr>
                <a:srgbClr val="000000"/>
              </a:buClr>
              <a:buSzPts val="1500"/>
              <a:buFont typeface="Arial"/>
              <a:buNone/>
            </a:pPr>
            <a:r>
              <a:rPr b="0" i="0" lang="en" sz="1500" u="none" cap="none" strike="noStrike">
                <a:solidFill>
                  <a:srgbClr val="000000"/>
                </a:solidFill>
                <a:latin typeface="Courier New"/>
                <a:ea typeface="Courier New"/>
                <a:cs typeface="Courier New"/>
                <a:sym typeface="Courier New"/>
              </a:rPr>
              <a:t>    "message": "Tomorrow in Chicago will be 45 deg F with</a:t>
            </a:r>
            <a:endParaRPr b="0" i="0" sz="1500" u="none" cap="none" strike="noStrike">
              <a:solidFill>
                <a:srgbClr val="000000"/>
              </a:solidFill>
              <a:latin typeface="Arial"/>
              <a:ea typeface="Arial"/>
              <a:cs typeface="Arial"/>
              <a:sym typeface="Arial"/>
            </a:endParaRPr>
          </a:p>
          <a:p>
            <a:pPr indent="0" lvl="1" marL="457200" marR="0" rtl="0" algn="l">
              <a:lnSpc>
                <a:spcPct val="100000"/>
              </a:lnSpc>
              <a:spcBef>
                <a:spcPts val="0"/>
              </a:spcBef>
              <a:spcAft>
                <a:spcPts val="0"/>
              </a:spcAft>
              <a:buClr>
                <a:srgbClr val="000000"/>
              </a:buClr>
              <a:buSzPts val="1500"/>
              <a:buFont typeface="Arial"/>
              <a:buNone/>
            </a:pPr>
            <a:r>
              <a:rPr b="0" i="0" lang="en" sz="1500" u="none" cap="none" strike="noStrike">
                <a:solidFill>
                  <a:srgbClr val="000000"/>
                </a:solidFill>
                <a:latin typeface="Courier New"/>
                <a:ea typeface="Courier New"/>
                <a:cs typeface="Courier New"/>
                <a:sym typeface="Courier New"/>
              </a:rPr>
              <a:t>                partly cloudy skies and a 20% chance of rain."</a:t>
            </a:r>
            <a:endParaRPr b="0" i="0" sz="1500" u="none" cap="none" strike="noStrike">
              <a:solidFill>
                <a:srgbClr val="000000"/>
              </a:solidFill>
              <a:latin typeface="Arial"/>
              <a:ea typeface="Arial"/>
              <a:cs typeface="Arial"/>
              <a:sym typeface="Arial"/>
            </a:endParaRPr>
          </a:p>
          <a:p>
            <a:pPr indent="0" lvl="1" marL="457200" marR="0" rtl="0" algn="l">
              <a:lnSpc>
                <a:spcPct val="100000"/>
              </a:lnSpc>
              <a:spcBef>
                <a:spcPts val="0"/>
              </a:spcBef>
              <a:spcAft>
                <a:spcPts val="0"/>
              </a:spcAft>
              <a:buClr>
                <a:srgbClr val="000000"/>
              </a:buClr>
              <a:buSzPts val="1500"/>
              <a:buFont typeface="Arial"/>
              <a:buNone/>
            </a:pPr>
            <a:r>
              <a:rPr b="0" i="0" lang="en" sz="1500" u="none" cap="none" strike="noStrike">
                <a:solidFill>
                  <a:srgbClr val="000000"/>
                </a:solidFill>
                <a:latin typeface="Courier New"/>
                <a:ea typeface="Courier New"/>
                <a:cs typeface="Courier New"/>
                <a:sym typeface="Courier New"/>
              </a:rPr>
              <a:t>  },</a:t>
            </a:r>
            <a:endParaRPr b="0" i="0" sz="1500" u="none" cap="none" strike="noStrike">
              <a:solidFill>
                <a:srgbClr val="000000"/>
              </a:solidFill>
              <a:latin typeface="Arial"/>
              <a:ea typeface="Arial"/>
              <a:cs typeface="Arial"/>
              <a:sym typeface="Arial"/>
            </a:endParaRPr>
          </a:p>
          <a:p>
            <a:pPr indent="0" lvl="1" marL="457200" marR="0" rtl="0" algn="l">
              <a:lnSpc>
                <a:spcPct val="100000"/>
              </a:lnSpc>
              <a:spcBef>
                <a:spcPts val="0"/>
              </a:spcBef>
              <a:spcAft>
                <a:spcPts val="0"/>
              </a:spcAft>
              <a:buClr>
                <a:srgbClr val="000000"/>
              </a:buClr>
              <a:buSzPts val="1500"/>
              <a:buFont typeface="Arial"/>
              <a:buNone/>
            </a:pPr>
            <a:r>
              <a:rPr b="0" i="0" lang="en" sz="1500" u="none" cap="none" strike="noStrike">
                <a:solidFill>
                  <a:srgbClr val="000000"/>
                </a:solidFill>
                <a:latin typeface="Courier New"/>
                <a:ea typeface="Courier New"/>
                <a:cs typeface="Courier New"/>
                <a:sym typeface="Courier New"/>
              </a:rPr>
              <a:t>  "reasoning": "I have the weather information needed</a:t>
            </a:r>
            <a:endParaRPr b="0" i="0" sz="1500" u="none" cap="none" strike="noStrike">
              <a:solidFill>
                <a:srgbClr val="000000"/>
              </a:solidFill>
              <a:latin typeface="Arial"/>
              <a:ea typeface="Arial"/>
              <a:cs typeface="Arial"/>
              <a:sym typeface="Arial"/>
            </a:endParaRPr>
          </a:p>
          <a:p>
            <a:pPr indent="0" lvl="1" marL="457200" marR="0" rtl="0" algn="l">
              <a:lnSpc>
                <a:spcPct val="100000"/>
              </a:lnSpc>
              <a:spcBef>
                <a:spcPts val="0"/>
              </a:spcBef>
              <a:spcAft>
                <a:spcPts val="0"/>
              </a:spcAft>
              <a:buClr>
                <a:srgbClr val="000000"/>
              </a:buClr>
              <a:buSzPts val="1500"/>
              <a:buFont typeface="Arial"/>
              <a:buNone/>
            </a:pPr>
            <a:r>
              <a:rPr b="0" i="0" lang="en" sz="1500" u="none" cap="none" strike="noStrike">
                <a:solidFill>
                  <a:srgbClr val="000000"/>
                </a:solidFill>
                <a:latin typeface="Courier New"/>
                <a:ea typeface="Courier New"/>
                <a:cs typeface="Courier New"/>
                <a:sym typeface="Courier New"/>
              </a:rPr>
              <a:t>                to answer the user's question"</a:t>
            </a:r>
            <a:endParaRPr b="0" i="0" sz="1500" u="none" cap="none" strike="noStrike">
              <a:solidFill>
                <a:srgbClr val="000000"/>
              </a:solidFill>
              <a:latin typeface="Arial"/>
              <a:ea typeface="Arial"/>
              <a:cs typeface="Arial"/>
              <a:sym typeface="Arial"/>
            </a:endParaRPr>
          </a:p>
          <a:p>
            <a:pPr indent="0" lvl="1" marL="457200" marR="0" rtl="0" algn="l">
              <a:lnSpc>
                <a:spcPct val="100000"/>
              </a:lnSpc>
              <a:spcBef>
                <a:spcPts val="0"/>
              </a:spcBef>
              <a:spcAft>
                <a:spcPts val="0"/>
              </a:spcAft>
              <a:buClr>
                <a:srgbClr val="000000"/>
              </a:buClr>
              <a:buSzPts val="1500"/>
              <a:buFont typeface="Arial"/>
              <a:buNone/>
            </a:pPr>
            <a:r>
              <a:rPr b="0" i="0" lang="en" sz="1500" u="none" cap="none" strike="noStrike">
                <a:solidFill>
                  <a:srgbClr val="000000"/>
                </a:solidFill>
                <a:latin typeface="Courier New"/>
                <a:ea typeface="Courier New"/>
                <a:cs typeface="Courier New"/>
                <a:sym typeface="Courier New"/>
              </a:rPr>
              <a:t>}</a:t>
            </a:r>
            <a:endParaRPr b="0" i="0" sz="1500" u="none" cap="none" strike="noStrike">
              <a:solidFill>
                <a:srgbClr val="000000"/>
              </a:solidFill>
              <a:latin typeface="Arial"/>
              <a:ea typeface="Arial"/>
              <a:cs typeface="Arial"/>
              <a:sym typeface="Arial"/>
            </a:endParaRPr>
          </a:p>
        </p:txBody>
      </p:sp>
      <p:sp>
        <p:nvSpPr>
          <p:cNvPr id="195" name="Google Shape;195;p4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2800"/>
              <a:t>Example: Weather Query (Turn 2, LLM Response)</a:t>
            </a:r>
            <a:endParaRPr sz="28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42"/>
          <p:cNvSpPr txBox="1"/>
          <p:nvPr/>
        </p:nvSpPr>
        <p:spPr>
          <a:xfrm>
            <a:off x="311700" y="1253808"/>
            <a:ext cx="8520600" cy="1154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lang="en" sz="1800"/>
              <a:t>Harness</a:t>
            </a:r>
            <a:endParaRPr b="0" i="0" sz="1800" u="none" cap="none" strike="noStrike">
              <a:solidFill>
                <a:srgbClr val="000000"/>
              </a:solidFill>
              <a:latin typeface="Arial"/>
              <a:ea typeface="Arial"/>
              <a:cs typeface="Arial"/>
              <a:sym typeface="Arial"/>
            </a:endParaRPr>
          </a:p>
          <a:p>
            <a:pPr indent="-342900" lvl="0" marL="457200" marR="0" rtl="0" algn="l">
              <a:lnSpc>
                <a:spcPct val="100000"/>
              </a:lnSpc>
              <a:spcBef>
                <a:spcPts val="810"/>
              </a:spcBef>
              <a:spcAft>
                <a:spcPts val="0"/>
              </a:spcAft>
              <a:buClr>
                <a:srgbClr val="000000"/>
              </a:buClr>
              <a:buSzPts val="1800"/>
              <a:buFont typeface="Arial"/>
              <a:buChar char="●"/>
            </a:pPr>
            <a:r>
              <a:rPr b="0" i="0" lang="en" sz="1800" u="none" cap="none" strike="noStrike">
                <a:solidFill>
                  <a:srgbClr val="000000"/>
                </a:solidFill>
                <a:latin typeface="Arial"/>
                <a:ea typeface="Arial"/>
                <a:cs typeface="Arial"/>
                <a:sym typeface="Arial"/>
              </a:rPr>
              <a:t>Since the tool is “done", the code knows to stop the loop</a:t>
            </a:r>
            <a:r>
              <a:rPr lang="en" sz="1800"/>
              <a:t>, send the response back to the user, and wait for a response</a:t>
            </a:r>
            <a:endParaRPr b="0" i="0" sz="1800" u="none" cap="none" strike="noStrike">
              <a:solidFill>
                <a:srgbClr val="000000"/>
              </a:solidFill>
              <a:latin typeface="Arial"/>
              <a:ea typeface="Arial"/>
              <a:cs typeface="Arial"/>
              <a:sym typeface="Arial"/>
            </a:endParaRPr>
          </a:p>
        </p:txBody>
      </p:sp>
      <p:sp>
        <p:nvSpPr>
          <p:cNvPr id="201" name="Google Shape;201;p42"/>
          <p:cNvSpPr txBox="1"/>
          <p:nvPr>
            <p:ph type="title"/>
          </p:nvPr>
        </p:nvSpPr>
        <p:spPr>
          <a:xfrm>
            <a:off x="311700" y="445025"/>
            <a:ext cx="87162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2800"/>
              <a:t>Example: Weather Query </a:t>
            </a:r>
            <a:r>
              <a:rPr lang="en"/>
              <a:t>(Turn 2, Harness responds</a:t>
            </a:r>
            <a:r>
              <a:rPr lang="en" sz="2800"/>
              <a:t>)</a:t>
            </a:r>
            <a:endParaRPr sz="28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4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2800"/>
              <a:t>Implementing the Loop in Code</a:t>
            </a:r>
            <a:endParaRPr sz="2800"/>
          </a:p>
        </p:txBody>
      </p:sp>
      <p:sp>
        <p:nvSpPr>
          <p:cNvPr id="207" name="Google Shape;207;p43"/>
          <p:cNvSpPr txBox="1"/>
          <p:nvPr>
            <p:ph idx="1" type="body"/>
          </p:nvPr>
        </p:nvSpPr>
        <p:spPr>
          <a:xfrm>
            <a:off x="311700" y="1152475"/>
            <a:ext cx="8520600" cy="3858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080"/>
              </a:spcBef>
              <a:spcAft>
                <a:spcPts val="0"/>
              </a:spcAft>
              <a:buSzPts val="1800"/>
              <a:buNone/>
            </a:pPr>
            <a:r>
              <a:rPr b="1" lang="en" sz="1700"/>
              <a:t>This is just a simple loop!</a:t>
            </a:r>
            <a:r>
              <a:rPr lang="en" sz="1700"/>
              <a:t> </a:t>
            </a:r>
            <a:r>
              <a:rPr b="1" lang="en" sz="1700"/>
              <a:t>Pseudo-code:</a:t>
            </a:r>
            <a:endParaRPr sz="1700"/>
          </a:p>
          <a:p>
            <a:pPr indent="0" lvl="1" marL="457200" rtl="0" algn="l">
              <a:lnSpc>
                <a:spcPct val="115000"/>
              </a:lnSpc>
              <a:spcBef>
                <a:spcPts val="900"/>
              </a:spcBef>
              <a:spcAft>
                <a:spcPts val="0"/>
              </a:spcAft>
              <a:buSzPts val="1400"/>
              <a:buNone/>
            </a:pPr>
            <a:r>
              <a:rPr lang="en" sz="1194">
                <a:latin typeface="Courier New"/>
                <a:ea typeface="Courier New"/>
                <a:cs typeface="Courier New"/>
                <a:sym typeface="Courier New"/>
              </a:rPr>
              <a:t>action_history = []</a:t>
            </a:r>
            <a:endParaRPr sz="1194"/>
          </a:p>
          <a:p>
            <a:pPr indent="0" lvl="1" marL="457200" rtl="0" algn="l">
              <a:lnSpc>
                <a:spcPct val="115000"/>
              </a:lnSpc>
              <a:spcBef>
                <a:spcPts val="0"/>
              </a:spcBef>
              <a:spcAft>
                <a:spcPts val="0"/>
              </a:spcAft>
              <a:buSzPts val="1400"/>
              <a:buNone/>
            </a:pPr>
            <a:r>
              <a:rPr lang="en" sz="1194">
                <a:latin typeface="Courier New"/>
                <a:ea typeface="Courier New"/>
                <a:cs typeface="Courier New"/>
                <a:sym typeface="Courier New"/>
              </a:rPr>
              <a:t>for turn in range(1, max_turns):</a:t>
            </a:r>
            <a:endParaRPr sz="1194"/>
          </a:p>
          <a:p>
            <a:pPr indent="0" lvl="1" marL="457200" rtl="0" algn="l">
              <a:lnSpc>
                <a:spcPct val="115000"/>
              </a:lnSpc>
              <a:spcBef>
                <a:spcPts val="0"/>
              </a:spcBef>
              <a:spcAft>
                <a:spcPts val="0"/>
              </a:spcAft>
              <a:buSzPts val="1400"/>
              <a:buNone/>
            </a:pPr>
            <a:r>
              <a:rPr lang="en" sz="1194">
                <a:latin typeface="Courier New"/>
                <a:ea typeface="Courier New"/>
                <a:cs typeface="Courier New"/>
                <a:sym typeface="Courier New"/>
              </a:rPr>
              <a:t>    decision = call_llm(context, tools, action_history)     # LLM</a:t>
            </a:r>
            <a:endParaRPr sz="1194"/>
          </a:p>
          <a:p>
            <a:pPr indent="0" lvl="1" marL="457200" rtl="0" algn="l">
              <a:lnSpc>
                <a:spcPct val="115000"/>
              </a:lnSpc>
              <a:spcBef>
                <a:spcPts val="0"/>
              </a:spcBef>
              <a:spcAft>
                <a:spcPts val="0"/>
              </a:spcAft>
              <a:buSzPts val="1400"/>
              <a:buNone/>
            </a:pPr>
            <a:r>
              <a:rPr lang="en" sz="1194">
                <a:latin typeface="Courier New"/>
                <a:ea typeface="Courier New"/>
                <a:cs typeface="Courier New"/>
                <a:sym typeface="Courier New"/>
              </a:rPr>
              <a:t> </a:t>
            </a:r>
            <a:endParaRPr sz="1194"/>
          </a:p>
          <a:p>
            <a:pPr indent="0" lvl="1" marL="457200" rtl="0" algn="l">
              <a:lnSpc>
                <a:spcPct val="115000"/>
              </a:lnSpc>
              <a:spcBef>
                <a:spcPts val="0"/>
              </a:spcBef>
              <a:spcAft>
                <a:spcPts val="0"/>
              </a:spcAft>
              <a:buSzPts val="1400"/>
              <a:buNone/>
            </a:pPr>
            <a:r>
              <a:rPr lang="en" sz="1194">
                <a:latin typeface="Courier New"/>
                <a:ea typeface="Courier New"/>
                <a:cs typeface="Courier New"/>
                <a:sym typeface="Courier New"/>
              </a:rPr>
              <a:t>    tool_name = decision['tool']</a:t>
            </a:r>
            <a:endParaRPr sz="1194"/>
          </a:p>
          <a:p>
            <a:pPr indent="0" lvl="1" marL="457200" rtl="0" algn="l">
              <a:lnSpc>
                <a:spcPct val="115000"/>
              </a:lnSpc>
              <a:spcBef>
                <a:spcPts val="0"/>
              </a:spcBef>
              <a:spcAft>
                <a:spcPts val="0"/>
              </a:spcAft>
              <a:buSzPts val="1400"/>
              <a:buNone/>
            </a:pPr>
            <a:r>
              <a:rPr lang="en" sz="1194">
                <a:latin typeface="Courier New"/>
                <a:ea typeface="Courier New"/>
                <a:cs typeface="Courier New"/>
                <a:sym typeface="Courier New"/>
              </a:rPr>
              <a:t>    params = decision['parameters']</a:t>
            </a:r>
            <a:endParaRPr sz="1194"/>
          </a:p>
          <a:p>
            <a:pPr indent="0" lvl="1" marL="457200" rtl="0" algn="l">
              <a:lnSpc>
                <a:spcPct val="115000"/>
              </a:lnSpc>
              <a:spcBef>
                <a:spcPts val="0"/>
              </a:spcBef>
              <a:spcAft>
                <a:spcPts val="0"/>
              </a:spcAft>
              <a:buSzPts val="1400"/>
              <a:buNone/>
            </a:pPr>
            <a:r>
              <a:rPr lang="en" sz="1194">
                <a:latin typeface="Courier New"/>
                <a:ea typeface="Courier New"/>
                <a:cs typeface="Courier New"/>
                <a:sym typeface="Courier New"/>
              </a:rPr>
              <a:t>    result = execute_tool(tool_name, params) # execute tool</a:t>
            </a:r>
            <a:endParaRPr sz="1194"/>
          </a:p>
          <a:p>
            <a:pPr indent="0" lvl="1" marL="457200" rtl="0" algn="l">
              <a:lnSpc>
                <a:spcPct val="115000"/>
              </a:lnSpc>
              <a:spcBef>
                <a:spcPts val="0"/>
              </a:spcBef>
              <a:spcAft>
                <a:spcPts val="0"/>
              </a:spcAft>
              <a:buSzPts val="1400"/>
              <a:buNone/>
            </a:pPr>
            <a:r>
              <a:rPr lang="en" sz="1194">
                <a:latin typeface="Courier New"/>
                <a:ea typeface="Courier New"/>
                <a:cs typeface="Courier New"/>
                <a:sym typeface="Courier New"/>
              </a:rPr>
              <a:t> </a:t>
            </a:r>
            <a:endParaRPr sz="1194"/>
          </a:p>
          <a:p>
            <a:pPr indent="0" lvl="1" marL="457200" rtl="0" algn="l">
              <a:lnSpc>
                <a:spcPct val="115000"/>
              </a:lnSpc>
              <a:spcBef>
                <a:spcPts val="0"/>
              </a:spcBef>
              <a:spcAft>
                <a:spcPts val="0"/>
              </a:spcAft>
              <a:buSzPts val="1400"/>
              <a:buNone/>
            </a:pPr>
            <a:r>
              <a:rPr lang="en" sz="1194">
                <a:latin typeface="Courier New"/>
                <a:ea typeface="Courier New"/>
                <a:cs typeface="Courier New"/>
                <a:sym typeface="Courier New"/>
              </a:rPr>
              <a:t>    action_history.append({ 'tool': tool_name, 'result': result}) # update context</a:t>
            </a:r>
            <a:endParaRPr sz="1194"/>
          </a:p>
          <a:p>
            <a:pPr indent="0" lvl="1" marL="457200" rtl="0" algn="l">
              <a:lnSpc>
                <a:spcPct val="115000"/>
              </a:lnSpc>
              <a:spcBef>
                <a:spcPts val="0"/>
              </a:spcBef>
              <a:spcAft>
                <a:spcPts val="0"/>
              </a:spcAft>
              <a:buSzPts val="1400"/>
              <a:buNone/>
            </a:pPr>
            <a:r>
              <a:rPr lang="en" sz="1194">
                <a:latin typeface="Courier New"/>
                <a:ea typeface="Courier New"/>
                <a:cs typeface="Courier New"/>
                <a:sym typeface="Courier New"/>
              </a:rPr>
              <a:t> </a:t>
            </a:r>
            <a:endParaRPr sz="1194"/>
          </a:p>
          <a:p>
            <a:pPr indent="0" lvl="1" marL="457200" rtl="0" algn="l">
              <a:lnSpc>
                <a:spcPct val="115000"/>
              </a:lnSpc>
              <a:spcBef>
                <a:spcPts val="0"/>
              </a:spcBef>
              <a:spcAft>
                <a:spcPts val="0"/>
              </a:spcAft>
              <a:buSzPts val="1400"/>
              <a:buNone/>
            </a:pPr>
            <a:r>
              <a:rPr lang="en" sz="1194">
                <a:latin typeface="Courier New"/>
                <a:ea typeface="Courier New"/>
                <a:cs typeface="Courier New"/>
                <a:sym typeface="Courier New"/>
              </a:rPr>
              <a:t>    if tool_name == 'done':     # Check if done</a:t>
            </a:r>
            <a:endParaRPr sz="1194"/>
          </a:p>
          <a:p>
            <a:pPr indent="0" lvl="1" marL="457200" rtl="0" algn="l">
              <a:lnSpc>
                <a:spcPct val="115000"/>
              </a:lnSpc>
              <a:spcBef>
                <a:spcPts val="0"/>
              </a:spcBef>
              <a:spcAft>
                <a:spcPts val="0"/>
              </a:spcAft>
              <a:buSzPts val="1400"/>
              <a:buNone/>
            </a:pPr>
            <a:r>
              <a:rPr lang="en" sz="1194">
                <a:latin typeface="Courier New"/>
                <a:ea typeface="Courier New"/>
                <a:cs typeface="Courier New"/>
                <a:sym typeface="Courier New"/>
              </a:rPr>
              <a:t>        break</a:t>
            </a:r>
            <a:endParaRPr sz="1194"/>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4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2800"/>
              <a:t>Real-World and Ethical Considerations</a:t>
            </a:r>
            <a:endParaRPr sz="2800"/>
          </a:p>
        </p:txBody>
      </p:sp>
      <p:sp>
        <p:nvSpPr>
          <p:cNvPr id="213" name="Google Shape;213;p44"/>
          <p:cNvSpPr txBox="1"/>
          <p:nvPr>
            <p:ph idx="1" type="body"/>
          </p:nvPr>
        </p:nvSpPr>
        <p:spPr>
          <a:xfrm>
            <a:off x="311700" y="1152475"/>
            <a:ext cx="8520600" cy="3858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780"/>
              </a:spcBef>
              <a:spcAft>
                <a:spcPts val="0"/>
              </a:spcAft>
              <a:buSzPts val="1800"/>
              <a:buNone/>
            </a:pPr>
            <a:r>
              <a:rPr b="1" lang="en" sz="1300"/>
              <a:t>Agents act in the world — that raises the stakes.</a:t>
            </a:r>
            <a:endParaRPr sz="1300"/>
          </a:p>
          <a:p>
            <a:pPr indent="0" lvl="0" marL="0" rtl="0" algn="l">
              <a:lnSpc>
                <a:spcPct val="115000"/>
              </a:lnSpc>
              <a:spcBef>
                <a:spcPts val="780"/>
              </a:spcBef>
              <a:spcAft>
                <a:spcPts val="0"/>
              </a:spcAft>
              <a:buSzPts val="1800"/>
              <a:buNone/>
            </a:pPr>
            <a:r>
              <a:rPr b="1" lang="en" sz="1300"/>
              <a:t>Engineering</a:t>
            </a:r>
            <a:endParaRPr sz="1300"/>
          </a:p>
          <a:p>
            <a:pPr indent="-342900" lvl="0" marL="457200" rtl="0" algn="l">
              <a:lnSpc>
                <a:spcPct val="115000"/>
              </a:lnSpc>
              <a:spcBef>
                <a:spcPts val="585"/>
              </a:spcBef>
              <a:spcAft>
                <a:spcPts val="0"/>
              </a:spcAft>
              <a:buSzPts val="1300"/>
              <a:buChar char="●"/>
            </a:pPr>
            <a:r>
              <a:rPr b="1" lang="en" sz="1300"/>
              <a:t>Safety</a:t>
            </a:r>
            <a:r>
              <a:rPr lang="en" sz="1300"/>
              <a:t>: Max turn limits, cost caps, emergency stops</a:t>
            </a:r>
            <a:endParaRPr sz="1300"/>
          </a:p>
          <a:p>
            <a:pPr indent="-342900" lvl="0" marL="457200" rtl="0" algn="l">
              <a:lnSpc>
                <a:spcPct val="115000"/>
              </a:lnSpc>
              <a:spcBef>
                <a:spcPts val="585"/>
              </a:spcBef>
              <a:spcAft>
                <a:spcPts val="0"/>
              </a:spcAft>
              <a:buSzPts val="1300"/>
              <a:buChar char="●"/>
            </a:pPr>
            <a:r>
              <a:rPr b="1" lang="en" sz="1300"/>
              <a:t>Observability</a:t>
            </a:r>
            <a:r>
              <a:rPr lang="en" sz="1300"/>
              <a:t>: Log every tool call, track costs, monitor success rates</a:t>
            </a:r>
            <a:endParaRPr sz="1300"/>
          </a:p>
          <a:p>
            <a:pPr indent="-342900" lvl="0" marL="457200" rtl="0" algn="l">
              <a:lnSpc>
                <a:spcPct val="115000"/>
              </a:lnSpc>
              <a:spcBef>
                <a:spcPts val="585"/>
              </a:spcBef>
              <a:spcAft>
                <a:spcPts val="0"/>
              </a:spcAft>
              <a:buSzPts val="1300"/>
              <a:buChar char="●"/>
            </a:pPr>
            <a:r>
              <a:rPr b="1" lang="en" sz="1300"/>
              <a:t>Reliability</a:t>
            </a:r>
            <a:r>
              <a:rPr lang="en" sz="1300"/>
              <a:t>: Validate parameters, retry on transient errors, fall back to humans</a:t>
            </a:r>
            <a:endParaRPr sz="1300"/>
          </a:p>
          <a:p>
            <a:pPr indent="0" lvl="0" marL="0" rtl="0" algn="l">
              <a:lnSpc>
                <a:spcPct val="115000"/>
              </a:lnSpc>
              <a:spcBef>
                <a:spcPts val="780"/>
              </a:spcBef>
              <a:spcAft>
                <a:spcPts val="0"/>
              </a:spcAft>
              <a:buSzPts val="1800"/>
              <a:buNone/>
            </a:pPr>
            <a:r>
              <a:rPr b="1" lang="en" sz="1300"/>
              <a:t>Ethics</a:t>
            </a:r>
            <a:endParaRPr sz="1300"/>
          </a:p>
          <a:p>
            <a:pPr indent="-342900" lvl="0" marL="457200" rtl="0" algn="l">
              <a:lnSpc>
                <a:spcPct val="115000"/>
              </a:lnSpc>
              <a:spcBef>
                <a:spcPts val="585"/>
              </a:spcBef>
              <a:spcAft>
                <a:spcPts val="0"/>
              </a:spcAft>
              <a:buSzPts val="1300"/>
              <a:buChar char="●"/>
            </a:pPr>
            <a:r>
              <a:rPr b="1" lang="en" sz="1300"/>
              <a:t>Bias</a:t>
            </a:r>
            <a:r>
              <a:rPr lang="en" sz="1300"/>
              <a:t>: Agents perpetuate training data biases — resume screening can disadvantage demographics</a:t>
            </a:r>
            <a:endParaRPr sz="1300"/>
          </a:p>
          <a:p>
            <a:pPr indent="-342900" lvl="0" marL="457200" rtl="0" algn="l">
              <a:lnSpc>
                <a:spcPct val="115000"/>
              </a:lnSpc>
              <a:spcBef>
                <a:spcPts val="585"/>
              </a:spcBef>
              <a:spcAft>
                <a:spcPts val="0"/>
              </a:spcAft>
              <a:buSzPts val="1300"/>
              <a:buChar char="●"/>
            </a:pPr>
            <a:r>
              <a:rPr b="1" lang="en" sz="1300"/>
              <a:t>Transparency</a:t>
            </a:r>
            <a:r>
              <a:rPr lang="en" sz="1300"/>
              <a:t>: Decisions must be explainable to stakeholders</a:t>
            </a:r>
            <a:endParaRPr sz="1300"/>
          </a:p>
          <a:p>
            <a:pPr indent="-342900" lvl="0" marL="457200" rtl="0" algn="l">
              <a:lnSpc>
                <a:spcPct val="115000"/>
              </a:lnSpc>
              <a:spcBef>
                <a:spcPts val="585"/>
              </a:spcBef>
              <a:spcAft>
                <a:spcPts val="0"/>
              </a:spcAft>
              <a:buSzPts val="1300"/>
              <a:buChar char="●"/>
            </a:pPr>
            <a:r>
              <a:rPr b="1" lang="en" sz="1300"/>
              <a:t>Accountability</a:t>
            </a:r>
            <a:r>
              <a:rPr lang="en" sz="1300"/>
              <a:t>: Who is responsible when the agent is wrong?</a:t>
            </a:r>
            <a:endParaRPr sz="1300"/>
          </a:p>
          <a:p>
            <a:pPr indent="0" lvl="0" marL="0" rtl="0" algn="l">
              <a:lnSpc>
                <a:spcPct val="115000"/>
              </a:lnSpc>
              <a:spcBef>
                <a:spcPts val="780"/>
              </a:spcBef>
              <a:spcAft>
                <a:spcPts val="0"/>
              </a:spcAft>
              <a:buSzPts val="1800"/>
              <a:buNone/>
            </a:pPr>
            <a:r>
              <a:rPr b="1" lang="en" sz="1300"/>
              <a:t>The common answer: human-in-the-loop</a:t>
            </a:r>
            <a:endParaRPr sz="1300"/>
          </a:p>
          <a:p>
            <a:pPr indent="-342900" lvl="0" marL="457200" rtl="0" algn="l">
              <a:lnSpc>
                <a:spcPct val="115000"/>
              </a:lnSpc>
              <a:spcBef>
                <a:spcPts val="585"/>
              </a:spcBef>
              <a:spcAft>
                <a:spcPts val="0"/>
              </a:spcAft>
              <a:buSzPts val="1300"/>
              <a:buChar char="●"/>
            </a:pPr>
            <a:r>
              <a:rPr lang="en" sz="1300"/>
              <a:t>Design explicit “flag for review” tools for high-stakes, edge-case, or low-confidence decisions</a:t>
            </a:r>
            <a:endParaRPr sz="1300"/>
          </a:p>
          <a:p>
            <a:pPr indent="-342900" lvl="0" marL="457200" rtl="0" algn="l">
              <a:lnSpc>
                <a:spcPct val="115000"/>
              </a:lnSpc>
              <a:spcBef>
                <a:spcPts val="585"/>
              </a:spcBef>
              <a:spcAft>
                <a:spcPts val="0"/>
              </a:spcAft>
              <a:buSzPts val="1300"/>
              <a:buChar char="●"/>
            </a:pPr>
            <a:r>
              <a:rPr lang="en" sz="1300"/>
              <a:t>Keep an audit trail of every action and why it was taken</a:t>
            </a:r>
            <a:endParaRPr sz="13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45"/>
          <p:cNvSpPr txBox="1"/>
          <p:nvPr>
            <p:ph type="title"/>
          </p:nvPr>
        </p:nvSpPr>
        <p:spPr>
          <a:xfrm>
            <a:off x="311700" y="1728125"/>
            <a:ext cx="8520600" cy="16872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600"/>
              <a:buNone/>
            </a:pPr>
            <a:r>
              <a:rPr lang="en" sz="4000"/>
              <a:t>Today’s exercise:</a:t>
            </a:r>
            <a:br>
              <a:rPr lang="en" sz="4000"/>
            </a:br>
            <a:r>
              <a:rPr lang="en" sz="4000"/>
              <a:t>Agentic resume review assistant</a:t>
            </a:r>
            <a:endParaRPr sz="40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4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What we want to build</a:t>
            </a:r>
            <a:endParaRPr sz="2800"/>
          </a:p>
        </p:txBody>
      </p:sp>
      <p:sp>
        <p:nvSpPr>
          <p:cNvPr id="224" name="Google Shape;224;p46"/>
          <p:cNvSpPr txBox="1"/>
          <p:nvPr>
            <p:ph idx="1" type="body"/>
          </p:nvPr>
        </p:nvSpPr>
        <p:spPr>
          <a:xfrm>
            <a:off x="311700" y="1152475"/>
            <a:ext cx="8520600" cy="3858000"/>
          </a:xfrm>
          <a:prstGeom prst="rect">
            <a:avLst/>
          </a:prstGeom>
          <a:noFill/>
          <a:ln>
            <a:noFill/>
          </a:ln>
        </p:spPr>
        <p:txBody>
          <a:bodyPr anchorCtr="0" anchor="t" bIns="91425" lIns="91425" spcFirstLastPara="1" rIns="91425" wrap="square" tIns="91425">
            <a:noAutofit/>
          </a:bodyPr>
          <a:lstStyle/>
          <a:p>
            <a:pPr indent="0" lvl="0" marL="0" rtl="0" algn="l">
              <a:spcBef>
                <a:spcPts val="1080"/>
              </a:spcBef>
              <a:spcAft>
                <a:spcPts val="0"/>
              </a:spcAft>
              <a:buNone/>
            </a:pPr>
            <a:r>
              <a:rPr b="1" lang="en" sz="1700"/>
              <a:t>Ultimately, a human will be making hiring decisions.</a:t>
            </a:r>
            <a:r>
              <a:rPr lang="en" sz="1700"/>
              <a:t> The AI system needs to effectively assist the human workflow.</a:t>
            </a:r>
            <a:endParaRPr sz="1700"/>
          </a:p>
          <a:p>
            <a:pPr indent="0" lvl="0" marL="0" rtl="0" algn="l">
              <a:spcBef>
                <a:spcPts val="1080"/>
              </a:spcBef>
              <a:spcAft>
                <a:spcPts val="0"/>
              </a:spcAft>
              <a:buNone/>
            </a:pPr>
            <a:r>
              <a:t/>
            </a:r>
            <a:endParaRPr sz="1700"/>
          </a:p>
          <a:p>
            <a:pPr indent="0" lvl="0" marL="0" rtl="0" algn="l">
              <a:spcBef>
                <a:spcPts val="1080"/>
              </a:spcBef>
              <a:spcAft>
                <a:spcPts val="0"/>
              </a:spcAft>
              <a:buNone/>
            </a:pPr>
            <a:r>
              <a:rPr lang="en" sz="1700"/>
              <a:t>Our agent will be simple, it will ultimately only do one thing:</a:t>
            </a:r>
            <a:endParaRPr sz="1700"/>
          </a:p>
          <a:p>
            <a:pPr indent="0" lvl="0" marL="0" rtl="0" algn="l">
              <a:spcBef>
                <a:spcPts val="1080"/>
              </a:spcBef>
              <a:spcAft>
                <a:spcPts val="0"/>
              </a:spcAft>
              <a:buNone/>
            </a:pPr>
            <a:r>
              <a:rPr b="1" lang="en" sz="1700"/>
              <a:t>Return a list of annotated resumes as requested by the user.</a:t>
            </a:r>
            <a:endParaRPr b="1" sz="1700"/>
          </a:p>
          <a:p>
            <a:pPr indent="0" lvl="0" marL="0" rtl="0" algn="l">
              <a:spcBef>
                <a:spcPts val="1080"/>
              </a:spcBef>
              <a:spcAft>
                <a:spcPts val="0"/>
              </a:spcAft>
              <a:buNone/>
            </a:pPr>
            <a:r>
              <a:t/>
            </a:r>
            <a:endParaRPr b="1" sz="1700"/>
          </a:p>
          <a:p>
            <a:pPr indent="0" lvl="0" marL="0" rtl="0" algn="l">
              <a:spcBef>
                <a:spcPts val="1080"/>
              </a:spcBef>
              <a:spcAft>
                <a:spcPts val="0"/>
              </a:spcAft>
              <a:buNone/>
            </a:pPr>
            <a:r>
              <a:rPr i="1" lang="en" sz="1700"/>
              <a:t>Note: Our agent will never “talk” to the user. Many agents talk, but they don’t have to.</a:t>
            </a:r>
            <a:endParaRPr i="1" sz="17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4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The underlying database</a:t>
            </a:r>
            <a:endParaRPr sz="2800"/>
          </a:p>
        </p:txBody>
      </p:sp>
      <p:pic>
        <p:nvPicPr>
          <p:cNvPr id="230" name="Google Shape;230;p47"/>
          <p:cNvPicPr preferRelativeResize="0"/>
          <p:nvPr/>
        </p:nvPicPr>
        <p:blipFill>
          <a:blip r:embed="rId3">
            <a:alphaModFix/>
          </a:blip>
          <a:stretch>
            <a:fillRect/>
          </a:stretch>
        </p:blipFill>
        <p:spPr>
          <a:xfrm>
            <a:off x="512600" y="1201725"/>
            <a:ext cx="4352925" cy="32861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Tools you’ll be working with: Respond</a:t>
            </a:r>
            <a:endParaRPr/>
          </a:p>
        </p:txBody>
      </p:sp>
      <p:sp>
        <p:nvSpPr>
          <p:cNvPr id="236" name="Google Shape;236;p4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000"/>
              <a:t>Query the resume database and give the results to the user.</a:t>
            </a:r>
            <a:endParaRPr sz="20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Tools you’ll be working with: Respond</a:t>
            </a:r>
            <a:endParaRPr/>
          </a:p>
        </p:txBody>
      </p:sp>
      <p:sp>
        <p:nvSpPr>
          <p:cNvPr id="242" name="Google Shape;242;p4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400"/>
              <a:t>User: </a:t>
            </a:r>
            <a:r>
              <a:rPr lang="en" sz="1400"/>
              <a:t>Which candidates scored 90 or above?</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b="1" lang="en" sz="1400"/>
              <a:t>LLM: </a:t>
            </a:r>
            <a:r>
              <a:rPr lang="en" sz="1400">
                <a:latin typeface="Courier New"/>
                <a:ea typeface="Courier New"/>
                <a:cs typeface="Courier New"/>
                <a:sym typeface="Courier New"/>
              </a:rPr>
              <a:t>{</a:t>
            </a:r>
            <a:endParaRPr sz="1400">
              <a:latin typeface="Courier New"/>
              <a:ea typeface="Courier New"/>
              <a:cs typeface="Courier New"/>
              <a:sym typeface="Courier New"/>
            </a:endParaRPr>
          </a:p>
          <a:p>
            <a:pPr indent="0" lvl="0" marL="0" rtl="0" algn="l">
              <a:spcBef>
                <a:spcPts val="0"/>
              </a:spcBef>
              <a:spcAft>
                <a:spcPts val="0"/>
              </a:spcAft>
              <a:buNone/>
            </a:pPr>
            <a:r>
              <a:rPr lang="en" sz="1400">
                <a:latin typeface="Courier New"/>
                <a:ea typeface="Courier New"/>
                <a:cs typeface="Courier New"/>
                <a:sym typeface="Courier New"/>
              </a:rPr>
              <a:t>	“</a:t>
            </a:r>
            <a:r>
              <a:rPr lang="en" sz="1400">
                <a:latin typeface="Courier New"/>
                <a:ea typeface="Courier New"/>
                <a:cs typeface="Courier New"/>
                <a:sym typeface="Courier New"/>
              </a:rPr>
              <a:t>t</a:t>
            </a:r>
            <a:r>
              <a:rPr lang="en" sz="1400">
                <a:latin typeface="Courier New"/>
                <a:ea typeface="Courier New"/>
                <a:cs typeface="Courier New"/>
                <a:sym typeface="Courier New"/>
              </a:rPr>
              <a:t>ool”: “respond”,</a:t>
            </a:r>
            <a:endParaRPr sz="1400">
              <a:latin typeface="Courier New"/>
              <a:ea typeface="Courier New"/>
              <a:cs typeface="Courier New"/>
              <a:sym typeface="Courier New"/>
            </a:endParaRPr>
          </a:p>
          <a:p>
            <a:pPr indent="0" lvl="0" marL="0" rtl="0" algn="l">
              <a:spcBef>
                <a:spcPts val="0"/>
              </a:spcBef>
              <a:spcAft>
                <a:spcPts val="0"/>
              </a:spcAft>
              <a:buNone/>
            </a:pPr>
            <a:r>
              <a:rPr lang="en" sz="1400">
                <a:latin typeface="Courier New"/>
                <a:ea typeface="Courier New"/>
                <a:cs typeface="Courier New"/>
                <a:sym typeface="Courier New"/>
              </a:rPr>
              <a:t>	“properties”: {</a:t>
            </a:r>
            <a:endParaRPr sz="1400">
              <a:latin typeface="Courier New"/>
              <a:ea typeface="Courier New"/>
              <a:cs typeface="Courier New"/>
              <a:sym typeface="Courier New"/>
            </a:endParaRPr>
          </a:p>
          <a:p>
            <a:pPr indent="457200" lvl="0" marL="457200" rtl="0" algn="l">
              <a:spcBef>
                <a:spcPts val="0"/>
              </a:spcBef>
              <a:spcAft>
                <a:spcPts val="0"/>
              </a:spcAft>
              <a:buNone/>
            </a:pPr>
            <a:r>
              <a:rPr lang="en" sz="1400">
                <a:latin typeface="Courier New"/>
                <a:ea typeface="Courier New"/>
                <a:cs typeface="Courier New"/>
                <a:sym typeface="Courier New"/>
              </a:rPr>
              <a:t>“select”: [“score”, “score_reasoning”],</a:t>
            </a:r>
            <a:endParaRPr sz="1400">
              <a:latin typeface="Courier New"/>
              <a:ea typeface="Courier New"/>
              <a:cs typeface="Courier New"/>
              <a:sym typeface="Courier New"/>
            </a:endParaRPr>
          </a:p>
          <a:p>
            <a:pPr indent="457200" lvl="0" marL="457200" rtl="0" algn="l">
              <a:spcBef>
                <a:spcPts val="0"/>
              </a:spcBef>
              <a:spcAft>
                <a:spcPts val="0"/>
              </a:spcAft>
              <a:buNone/>
            </a:pPr>
            <a:r>
              <a:rPr lang="en" sz="1400">
                <a:latin typeface="Courier New"/>
                <a:ea typeface="Courier New"/>
                <a:cs typeface="Courier New"/>
                <a:sym typeface="Courier New"/>
              </a:rPr>
              <a:t>“</a:t>
            </a:r>
            <a:r>
              <a:rPr lang="en" sz="1400">
                <a:latin typeface="Courier New"/>
                <a:ea typeface="Courier New"/>
                <a:cs typeface="Courier New"/>
                <a:sym typeface="Courier New"/>
              </a:rPr>
              <a:t>w</a:t>
            </a:r>
            <a:r>
              <a:rPr lang="en" sz="1400">
                <a:latin typeface="Courier New"/>
                <a:ea typeface="Courier New"/>
                <a:cs typeface="Courier New"/>
                <a:sym typeface="Courier New"/>
              </a:rPr>
              <a:t>here”: “score &gt;= 90”</a:t>
            </a:r>
            <a:endParaRPr sz="1400">
              <a:latin typeface="Courier New"/>
              <a:ea typeface="Courier New"/>
              <a:cs typeface="Courier New"/>
              <a:sym typeface="Courier New"/>
            </a:endParaRPr>
          </a:p>
          <a:p>
            <a:pPr indent="0" lvl="0" marL="457200" rtl="0" algn="l">
              <a:spcBef>
                <a:spcPts val="0"/>
              </a:spcBef>
              <a:spcAft>
                <a:spcPts val="0"/>
              </a:spcAft>
              <a:buNone/>
            </a:pPr>
            <a:r>
              <a:rPr lang="en" sz="1400">
                <a:latin typeface="Courier New"/>
                <a:ea typeface="Courier New"/>
                <a:cs typeface="Courier New"/>
                <a:sym typeface="Courier New"/>
              </a:rPr>
              <a:t>}</a:t>
            </a:r>
            <a:endParaRPr sz="1400">
              <a:latin typeface="Courier New"/>
              <a:ea typeface="Courier New"/>
              <a:cs typeface="Courier New"/>
              <a:sym typeface="Courier New"/>
            </a:endParaRPr>
          </a:p>
          <a:p>
            <a:pPr indent="0" lvl="0" marL="0" rtl="0" algn="l">
              <a:spcBef>
                <a:spcPts val="0"/>
              </a:spcBef>
              <a:spcAft>
                <a:spcPts val="0"/>
              </a:spcAft>
              <a:buNone/>
            </a:pPr>
            <a:r>
              <a:rPr lang="en" sz="1400">
                <a:latin typeface="Courier New"/>
                <a:ea typeface="Courier New"/>
                <a:cs typeface="Courier New"/>
                <a:sym typeface="Courier New"/>
              </a:rPr>
              <a:t>}</a:t>
            </a:r>
            <a:endParaRPr sz="1400">
              <a:latin typeface="Courier New"/>
              <a:ea typeface="Courier New"/>
              <a:cs typeface="Courier New"/>
              <a:sym typeface="Courier New"/>
            </a:endParaRPr>
          </a:p>
          <a:p>
            <a:pPr indent="0" lvl="0" marL="0" rtl="0" algn="l">
              <a:spcBef>
                <a:spcPts val="0"/>
              </a:spcBef>
              <a:spcAft>
                <a:spcPts val="0"/>
              </a:spcAft>
              <a:buNone/>
            </a:pPr>
            <a:r>
              <a:t/>
            </a:r>
            <a:endParaRPr b="1" sz="14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400"/>
              <a:t>Harness</a:t>
            </a:r>
            <a:r>
              <a:rPr b="1" lang="en" sz="1400"/>
              <a:t>: </a:t>
            </a:r>
            <a:r>
              <a:rPr lang="en" sz="1400"/>
              <a:t>Fetches from database per provided </a:t>
            </a:r>
            <a:r>
              <a:rPr lang="en" sz="1400">
                <a:solidFill>
                  <a:srgbClr val="188038"/>
                </a:solidFill>
                <a:latin typeface="Roboto Mono"/>
                <a:ea typeface="Roboto Mono"/>
                <a:cs typeface="Roboto Mono"/>
                <a:sym typeface="Roboto Mono"/>
              </a:rPr>
              <a:t>select</a:t>
            </a:r>
            <a:r>
              <a:rPr lang="en" sz="1400"/>
              <a:t> and </a:t>
            </a:r>
            <a:r>
              <a:rPr lang="en" sz="1400">
                <a:solidFill>
                  <a:srgbClr val="188038"/>
                </a:solidFill>
                <a:latin typeface="Roboto Mono"/>
                <a:ea typeface="Roboto Mono"/>
                <a:cs typeface="Roboto Mono"/>
                <a:sym typeface="Roboto Mono"/>
              </a:rPr>
              <a:t>where</a:t>
            </a:r>
            <a:r>
              <a:rPr lang="en" sz="1400"/>
              <a:t> from the LLM and returns to the user.</a:t>
            </a:r>
            <a:endParaRPr sz="14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Tools you’ll be working with: Augment</a:t>
            </a:r>
            <a:endParaRPr/>
          </a:p>
        </p:txBody>
      </p:sp>
      <p:sp>
        <p:nvSpPr>
          <p:cNvPr id="248" name="Google Shape;248;p5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000"/>
              <a:t>Make individual LLM calls to read the resumes and add/update a column in the database with new, relevant information.</a:t>
            </a:r>
            <a:endParaRPr sz="20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Tools you’ll be working with: Augment</a:t>
            </a:r>
            <a:endParaRPr/>
          </a:p>
        </p:txBody>
      </p:sp>
      <p:sp>
        <p:nvSpPr>
          <p:cNvPr id="254" name="Google Shape;254;p51"/>
          <p:cNvSpPr txBox="1"/>
          <p:nvPr>
            <p:ph idx="1" type="body"/>
          </p:nvPr>
        </p:nvSpPr>
        <p:spPr>
          <a:xfrm>
            <a:off x="311700" y="1152475"/>
            <a:ext cx="86925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400"/>
              <a:t>User: </a:t>
            </a:r>
            <a:r>
              <a:rPr lang="en" sz="1400"/>
              <a:t>Which users have experience with Python?</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b="1" lang="en" sz="1400"/>
              <a:t>LLM: </a:t>
            </a:r>
            <a:r>
              <a:rPr lang="en" sz="1400">
                <a:latin typeface="Courier New"/>
                <a:ea typeface="Courier New"/>
                <a:cs typeface="Courier New"/>
                <a:sym typeface="Courier New"/>
              </a:rPr>
              <a:t>{</a:t>
            </a:r>
            <a:endParaRPr sz="1400">
              <a:latin typeface="Courier New"/>
              <a:ea typeface="Courier New"/>
              <a:cs typeface="Courier New"/>
              <a:sym typeface="Courier New"/>
            </a:endParaRPr>
          </a:p>
          <a:p>
            <a:pPr indent="0" lvl="0" marL="0" rtl="0" algn="l">
              <a:spcBef>
                <a:spcPts val="0"/>
              </a:spcBef>
              <a:spcAft>
                <a:spcPts val="0"/>
              </a:spcAft>
              <a:buNone/>
            </a:pPr>
            <a:r>
              <a:rPr lang="en" sz="1400">
                <a:latin typeface="Courier New"/>
                <a:ea typeface="Courier New"/>
                <a:cs typeface="Courier New"/>
                <a:sym typeface="Courier New"/>
              </a:rPr>
              <a:t>	“tool”: “augment”,</a:t>
            </a:r>
            <a:endParaRPr sz="1400">
              <a:latin typeface="Courier New"/>
              <a:ea typeface="Courier New"/>
              <a:cs typeface="Courier New"/>
              <a:sym typeface="Courier New"/>
            </a:endParaRPr>
          </a:p>
          <a:p>
            <a:pPr indent="0" lvl="0" marL="0" rtl="0" algn="l">
              <a:spcBef>
                <a:spcPts val="0"/>
              </a:spcBef>
              <a:spcAft>
                <a:spcPts val="0"/>
              </a:spcAft>
              <a:buNone/>
            </a:pPr>
            <a:r>
              <a:rPr lang="en" sz="1400">
                <a:latin typeface="Courier New"/>
                <a:ea typeface="Courier New"/>
                <a:cs typeface="Courier New"/>
                <a:sym typeface="Courier New"/>
              </a:rPr>
              <a:t>	“properties”: {</a:t>
            </a:r>
            <a:endParaRPr sz="1400">
              <a:latin typeface="Courier New"/>
              <a:ea typeface="Courier New"/>
              <a:cs typeface="Courier New"/>
              <a:sym typeface="Courier New"/>
            </a:endParaRPr>
          </a:p>
          <a:p>
            <a:pPr indent="457200" lvl="0" marL="457200" rtl="0" algn="l">
              <a:spcBef>
                <a:spcPts val="0"/>
              </a:spcBef>
              <a:spcAft>
                <a:spcPts val="0"/>
              </a:spcAft>
              <a:buNone/>
            </a:pPr>
            <a:r>
              <a:rPr lang="en" sz="1400">
                <a:latin typeface="Courier New"/>
                <a:ea typeface="Courier New"/>
                <a:cs typeface="Courier New"/>
                <a:sym typeface="Courier New"/>
              </a:rPr>
              <a:t>“</a:t>
            </a:r>
            <a:r>
              <a:rPr lang="en" sz="1400">
                <a:latin typeface="Courier New"/>
                <a:ea typeface="Courier New"/>
                <a:cs typeface="Courier New"/>
                <a:sym typeface="Courier New"/>
              </a:rPr>
              <a:t>c</a:t>
            </a:r>
            <a:r>
              <a:rPr lang="en" sz="1400">
                <a:latin typeface="Courier New"/>
                <a:ea typeface="Courier New"/>
                <a:cs typeface="Courier New"/>
                <a:sym typeface="Courier New"/>
              </a:rPr>
              <a:t>olumn”: “python_experience”,</a:t>
            </a:r>
            <a:endParaRPr sz="1400">
              <a:latin typeface="Courier New"/>
              <a:ea typeface="Courier New"/>
              <a:cs typeface="Courier New"/>
              <a:sym typeface="Courier New"/>
            </a:endParaRPr>
          </a:p>
          <a:p>
            <a:pPr indent="0" lvl="0" marL="0" rtl="0" algn="l">
              <a:spcBef>
                <a:spcPts val="0"/>
              </a:spcBef>
              <a:spcAft>
                <a:spcPts val="0"/>
              </a:spcAft>
              <a:buNone/>
            </a:pPr>
            <a:r>
              <a:rPr lang="en" sz="1400">
                <a:latin typeface="Courier New"/>
                <a:ea typeface="Courier New"/>
                <a:cs typeface="Courier New"/>
                <a:sym typeface="Courier New"/>
              </a:rPr>
              <a:t>		“</a:t>
            </a:r>
            <a:r>
              <a:rPr lang="en" sz="1400">
                <a:latin typeface="Courier New"/>
                <a:ea typeface="Courier New"/>
                <a:cs typeface="Courier New"/>
                <a:sym typeface="Courier New"/>
              </a:rPr>
              <a:t>p</a:t>
            </a:r>
            <a:r>
              <a:rPr lang="en" sz="1400">
                <a:latin typeface="Courier New"/>
                <a:ea typeface="Courier New"/>
                <a:cs typeface="Courier New"/>
                <a:sym typeface="Courier New"/>
              </a:rPr>
              <a:t>rompt”: “Does this person have professional experience with Python?”,</a:t>
            </a:r>
            <a:endParaRPr sz="1400">
              <a:latin typeface="Courier New"/>
              <a:ea typeface="Courier New"/>
              <a:cs typeface="Courier New"/>
              <a:sym typeface="Courier New"/>
            </a:endParaRPr>
          </a:p>
          <a:p>
            <a:pPr indent="0" lvl="0" marL="0" rtl="0" algn="l">
              <a:spcBef>
                <a:spcPts val="0"/>
              </a:spcBef>
              <a:spcAft>
                <a:spcPts val="0"/>
              </a:spcAft>
              <a:buNone/>
            </a:pPr>
            <a:r>
              <a:rPr lang="en" sz="1400">
                <a:latin typeface="Courier New"/>
                <a:ea typeface="Courier New"/>
                <a:cs typeface="Courier New"/>
                <a:sym typeface="Courier New"/>
              </a:rPr>
              <a:t>		“type”: “string”</a:t>
            </a:r>
            <a:endParaRPr sz="1400">
              <a:latin typeface="Courier New"/>
              <a:ea typeface="Courier New"/>
              <a:cs typeface="Courier New"/>
              <a:sym typeface="Courier New"/>
            </a:endParaRPr>
          </a:p>
          <a:p>
            <a:pPr indent="0" lvl="0" marL="457200" rtl="0" algn="l">
              <a:spcBef>
                <a:spcPts val="0"/>
              </a:spcBef>
              <a:spcAft>
                <a:spcPts val="0"/>
              </a:spcAft>
              <a:buNone/>
            </a:pPr>
            <a:r>
              <a:rPr lang="en" sz="1400">
                <a:latin typeface="Courier New"/>
                <a:ea typeface="Courier New"/>
                <a:cs typeface="Courier New"/>
                <a:sym typeface="Courier New"/>
              </a:rPr>
              <a:t>}</a:t>
            </a:r>
            <a:endParaRPr sz="1400">
              <a:latin typeface="Courier New"/>
              <a:ea typeface="Courier New"/>
              <a:cs typeface="Courier New"/>
              <a:sym typeface="Courier New"/>
            </a:endParaRPr>
          </a:p>
          <a:p>
            <a:pPr indent="0" lvl="0" marL="0" rtl="0" algn="l">
              <a:spcBef>
                <a:spcPts val="0"/>
              </a:spcBef>
              <a:spcAft>
                <a:spcPts val="0"/>
              </a:spcAft>
              <a:buNone/>
            </a:pPr>
            <a:r>
              <a:rPr lang="en" sz="1400">
                <a:latin typeface="Courier New"/>
                <a:ea typeface="Courier New"/>
                <a:cs typeface="Courier New"/>
                <a:sym typeface="Courier New"/>
              </a:rPr>
              <a:t>}</a:t>
            </a:r>
            <a:endParaRPr sz="1400">
              <a:latin typeface="Courier New"/>
              <a:ea typeface="Courier New"/>
              <a:cs typeface="Courier New"/>
              <a:sym typeface="Courier New"/>
            </a:endParaRPr>
          </a:p>
          <a:p>
            <a:pPr indent="0" lvl="0" marL="0" rtl="0" algn="l">
              <a:spcBef>
                <a:spcPts val="0"/>
              </a:spcBef>
              <a:spcAft>
                <a:spcPts val="0"/>
              </a:spcAft>
              <a:buNone/>
            </a:pPr>
            <a:r>
              <a:t/>
            </a:r>
            <a:endParaRPr b="1" sz="1400">
              <a:latin typeface="Courier New"/>
              <a:ea typeface="Courier New"/>
              <a:cs typeface="Courier New"/>
              <a:sym typeface="Courier New"/>
            </a:endParaRPr>
          </a:p>
          <a:p>
            <a:pPr indent="0" lvl="0" marL="0" rtl="0" algn="l">
              <a:spcBef>
                <a:spcPts val="0"/>
              </a:spcBef>
              <a:spcAft>
                <a:spcPts val="0"/>
              </a:spcAft>
              <a:buNone/>
            </a:pPr>
            <a:r>
              <a:rPr b="1" lang="en" sz="1400"/>
              <a:t>Harness: </a:t>
            </a:r>
            <a:r>
              <a:rPr lang="en" sz="1400"/>
              <a:t>Generates 138 LLM calls to fill out this column for each resume, and then adds the column to the database</a:t>
            </a:r>
            <a:endParaRPr sz="14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5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2800"/>
              <a:t>Today's Workflow</a:t>
            </a:r>
            <a:endParaRPr sz="2800"/>
          </a:p>
        </p:txBody>
      </p:sp>
      <p:sp>
        <p:nvSpPr>
          <p:cNvPr id="260" name="Google Shape;260;p52"/>
          <p:cNvSpPr txBox="1"/>
          <p:nvPr>
            <p:ph idx="1" type="body"/>
          </p:nvPr>
        </p:nvSpPr>
        <p:spPr>
          <a:xfrm>
            <a:off x="947200" y="1152475"/>
            <a:ext cx="7324200" cy="38580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1080"/>
              </a:spcBef>
              <a:spcAft>
                <a:spcPts val="0"/>
              </a:spcAft>
              <a:buSzPts val="1800"/>
              <a:buNone/>
            </a:pPr>
            <a:r>
              <a:rPr b="1" lang="en" sz="1800"/>
              <a:t>You will build a</a:t>
            </a:r>
            <a:r>
              <a:rPr b="1" lang="en"/>
              <a:t> </a:t>
            </a:r>
            <a:r>
              <a:rPr b="1" lang="en"/>
              <a:t>resume</a:t>
            </a:r>
            <a:r>
              <a:rPr b="1" lang="en"/>
              <a:t> review assistant</a:t>
            </a:r>
            <a:br>
              <a:rPr lang="en"/>
            </a:br>
            <a:r>
              <a:rPr lang="en" sz="1800"/>
              <a:t>Open the notebook:</a:t>
            </a:r>
            <a:br>
              <a:rPr lang="en"/>
            </a:br>
            <a:r>
              <a:rPr lang="en">
                <a:latin typeface="Courier New"/>
                <a:ea typeface="Courier New"/>
                <a:cs typeface="Courier New"/>
                <a:sym typeface="Courier New"/>
              </a:rPr>
              <a:t>Lecture_4_hr_query_agent.ipynb</a:t>
            </a:r>
            <a:endParaRPr>
              <a:latin typeface="Courier New"/>
              <a:ea typeface="Courier New"/>
              <a:cs typeface="Courier New"/>
              <a:sym typeface="Courier New"/>
            </a:endParaRPr>
          </a:p>
          <a:p>
            <a:pPr indent="0" lvl="0" marL="0" rtl="0" algn="l">
              <a:lnSpc>
                <a:spcPct val="115000"/>
              </a:lnSpc>
              <a:spcBef>
                <a:spcPts val="1080"/>
              </a:spcBef>
              <a:spcAft>
                <a:spcPts val="0"/>
              </a:spcAft>
              <a:buSzPts val="1800"/>
              <a:buNone/>
            </a:pPr>
            <a:r>
              <a:t/>
            </a:r>
            <a:endParaRPr>
              <a:latin typeface="Courier New"/>
              <a:ea typeface="Courier New"/>
              <a:cs typeface="Courier New"/>
              <a:sym typeface="Courier New"/>
            </a:endParaRPr>
          </a:p>
          <a:p>
            <a:pPr indent="0" lvl="0" marL="0" rtl="0" algn="ctr">
              <a:spcBef>
                <a:spcPts val="1080"/>
              </a:spcBef>
              <a:spcAft>
                <a:spcPts val="0"/>
              </a:spcAft>
              <a:buSzPts val="1800"/>
              <a:buNone/>
            </a:pPr>
            <a:r>
              <a:rPr lang="en"/>
              <a:t>Run the existing code and complete the exercises:</a:t>
            </a:r>
            <a:endParaRPr/>
          </a:p>
          <a:p>
            <a:pPr indent="0" lvl="0" marL="0" rtl="0" algn="ctr">
              <a:spcBef>
                <a:spcPts val="1080"/>
              </a:spcBef>
              <a:spcAft>
                <a:spcPts val="0"/>
              </a:spcAft>
              <a:buSzPts val="1800"/>
              <a:buNone/>
            </a:pPr>
            <a:r>
              <a:rPr b="1" lang="en"/>
              <a:t>Stage 1:</a:t>
            </a:r>
            <a:r>
              <a:rPr lang="en"/>
              <a:t> Respond-only; </a:t>
            </a:r>
            <a:r>
              <a:rPr b="1" lang="en"/>
              <a:t>Exercise: </a:t>
            </a:r>
            <a:r>
              <a:rPr lang="en"/>
              <a:t>Add sorting</a:t>
            </a:r>
            <a:endParaRPr/>
          </a:p>
          <a:p>
            <a:pPr indent="0" lvl="0" marL="0" rtl="0" algn="ctr">
              <a:spcBef>
                <a:spcPts val="1080"/>
              </a:spcBef>
              <a:spcAft>
                <a:spcPts val="0"/>
              </a:spcAft>
              <a:buSzPts val="1800"/>
              <a:buNone/>
            </a:pPr>
            <a:r>
              <a:rPr b="1" lang="en"/>
              <a:t>Stage 2: </a:t>
            </a:r>
            <a:r>
              <a:rPr lang="en"/>
              <a:t>Augment; </a:t>
            </a:r>
            <a:r>
              <a:rPr b="1" lang="en"/>
              <a:t>Exercise: </a:t>
            </a:r>
            <a:r>
              <a:rPr lang="en"/>
              <a:t>Selective augmentation</a:t>
            </a:r>
            <a:endParaRPr/>
          </a:p>
          <a:p>
            <a:pPr indent="0" lvl="0" marL="0" rtl="0" algn="ctr">
              <a:spcBef>
                <a:spcPts val="1080"/>
              </a:spcBef>
              <a:spcAft>
                <a:spcPts val="0"/>
              </a:spcAft>
              <a:buClr>
                <a:schemeClr val="dk1"/>
              </a:buClr>
              <a:buSzPts val="1800"/>
              <a:buFont typeface="Arial"/>
              <a:buNone/>
            </a:pPr>
            <a:r>
              <a:rPr b="1" lang="en"/>
              <a:t>Bonus exercises: </a:t>
            </a:r>
            <a:r>
              <a:rPr lang="en"/>
              <a:t>Reasoning, delete tool, or choose your own adventure and add your own tool!</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