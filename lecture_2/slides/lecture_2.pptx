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Lecture 2: Costs and Processing</a:t>
            </a:r>
            <a:endParaRPr sz="4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Vertical Slices, MVPs, Crawling, Walking, and Running</a:t>
            </a:r>
            <a:endParaRPr sz="1800"/>
          </a:p>
          <a:p>
            <a:pPr lvl="0" rtl="0" algn="l"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University of Chicago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Outline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Readings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Development Methodology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AI Resume Scoring System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Readings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Readings Overview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Context Engineering</a:t>
            </a:r>
            <a:r>
              <a:rPr lang="en" sz="1800"/>
              <a:t> - Understanding how to design effective prompts and context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Gary Marcus on AI Limitations</a:t>
            </a:r>
            <a:r>
              <a:rPr lang="en" sz="1800"/>
              <a:t> - Critical analysis of what AI can and cannot do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Gas Town</a:t>
            </a:r>
            <a:r>
              <a:rPr lang="en" sz="1800"/>
              <a:t> - Broader perspective on AI development (optional, but interesting!)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Context Engineering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Reading 1: Effective Context Engineering for AI Agents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Source</a:t>
            </a:r>
            <a:r>
              <a:rPr lang="en" sz="1800"/>
              <a:t>: Anthropic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Some design information and breakdown of what goes into context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Reading 2: Context Engineering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Source</a:t>
            </a:r>
            <a:r>
              <a:rPr lang="en" sz="1800"/>
              <a:t>: Simon Willison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Great blog on what is happening in AI and developmen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Reading 3: Agent Best Practices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Source</a:t>
            </a:r>
            <a:r>
              <a:rPr lang="en" sz="1800"/>
              <a:t>: Cursor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Similar to Anthropic Article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Gas Town</a:t>
            </a:r>
            <a:endParaRPr sz="2800"/>
          </a:p>
        </p:txBody>
      </p:sp>
      <p:sp>
        <p:nvSpPr>
          <p:cNvPr id="3" name="TextBox"/>
          <p:cNvSpPr txBox="1"/>
          <p:nvPr/>
        </p:nvSpPr>
        <p:spPr>
          <a:xfrm>
            <a:off x="311700" y="1152475"/>
            <a:ext cx="8520600" cy="1127760"/>
          </a:xfrm>
          <a:prstGeom prst="rect">
            <a:avLst/>
          </a:prstGeom>
          <a:noFill/>
        </p:spPr>
        <p:txBody>
          <a:bodyPr wrap="square" anchor="t" lIns="91425" rIns="91425" tIns="45700" bIns="45700">
            <a:noAutofit/>
          </a:bodyPr>
          <a:lstStyle/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Welcome to Gas Town</a:t>
            </a:r>
            <a:r>
              <a:rPr lang="en" sz="1600"/>
              <a:t> by Steve Yegge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b="1" sz="1600"/>
              <a:t>Length</a:t>
            </a:r>
            <a:r>
              <a:rPr lang="en" sz="1600"/>
              <a:t>: LONG essay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Below are the stages of using AI for coding and development. Which are you?!?</a:t>
            </a:r>
            <a:endParaRPr sz="160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2381835"/>
          <a:ext cx="8520599" cy="2316480"/>
        </p:xfrm>
        <a:graphic>
          <a:graphicData uri="http://schemas.openxmlformats.org/drawingml/2006/table">
            <a:tbl>
              <a:tblPr firstRow="0" bandRow="0"/>
              <a:tblGrid>
                <a:gridCol w="1893466"/>
                <a:gridCol w="6627133"/>
              </a:tblGrid>
              <a:tr h="579120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400"/>
                        <a:t>Stage 1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Zero or Near-Zero AI: maybe code completions, sometimes ask Chat questions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400"/>
                        <a:t>Stage 2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Coding agent in IDE, permissions turned on. A narrow coding agent in a sidebar asks your permission to run tools.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400"/>
                        <a:t>Stage 3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Agent in IDE, YOLO mode: Trust goes up. You turn off permissions, agent gets wider.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400"/>
                        <a:t>Stage 4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In IDE, wide agent: Your agent gradually grows to fill the screen. Code is just for diffs.</a:t>
                      </a:r>
                      <a:endParaRPr sz="14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Gas Town (continued)</a:t>
            </a:r>
            <a:endParaRPr sz="28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1700" y="1152475"/>
          <a:ext cx="8520599" cy="2644140"/>
        </p:xfrm>
        <a:graphic>
          <a:graphicData uri="http://schemas.openxmlformats.org/drawingml/2006/table">
            <a:tbl>
              <a:tblPr firstRow="0" bandRow="0"/>
              <a:tblGrid>
                <a:gridCol w="1893466"/>
                <a:gridCol w="6627133"/>
              </a:tblGrid>
              <a:tr h="661035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600"/>
                        <a:t>Stage 5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CLI, single agent. YOLO. Diffs scroll by. You may or may not look at them.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661035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600"/>
                        <a:t>Stage 6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CLI, multi-agent, YOLO. You regularly use 3 to 5 parallel instances. You are very fast.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661035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600"/>
                        <a:t>Stage 7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10+ agents, hand-managed. You are starting to push the limits of hand-management.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661035"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z="1600"/>
                        <a:t>Stage 8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rtl="0"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Building your own orchestrator. You are on the frontier, automating your workflow.</a:t>
                      </a:r>
                      <a:endParaRPr sz="1600"/>
                    </a:p>
                  </a:txBody>
                  <a:tcPr marL="68580" marR="68580" marT="34290" marB="34290">
                    <a:lnL w="9525" cap="flat" cmpd="sng" algn="ctr">
                      <a:solidFill>
                        <a:srgbClr val="999999"/>
                      </a:solidFill>
                      <a:prstDash val="soli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Gary Marcus on AI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Reading 4:</a:t>
            </a:r>
            <a:r>
              <a:rPr lang="en" sz="1800"/>
              <a:t> </a:t>
            </a:r>
            <a:r>
              <a:rPr lang="en" i="1" sz="1800"/>
              <a:t>Why ChatGPT Can't Be Trusted With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Reading 5:</a:t>
            </a:r>
            <a:r>
              <a:rPr lang="en" sz="1800"/>
              <a:t> </a:t>
            </a:r>
            <a:r>
              <a:rPr lang="en" i="1" sz="1800"/>
              <a:t>Let's Be Honest: Generative AI Isn't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Development Methodology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System Thinking: Breaking Down AI Tasks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Before coding, we need to </a:t>
            </a:r>
            <a:r>
              <a:rPr lang="en" b="1" sz="1800"/>
              <a:t>think systematically</a:t>
            </a:r>
            <a:r>
              <a:rPr lang="en" sz="1800"/>
              <a:t>: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How do we abstract and organize our code?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How do we break tasks into inputs and outputs?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How do we organize these into functions?</a:t>
            </a:r>
            <a:endParaRPr sz="17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Plan before you code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Break down required tasks, </a:t>
            </a:r>
            <a:r>
              <a:rPr lang="en" i="1" sz="1800"/>
              <a:t>then</a:t>
            </a:r>
            <a:r>
              <a:rPr lang="en" sz="1800"/>
              <a:t> start coding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do we do this? What does it mean to “break tasks down"?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The Development Process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Three-Step Approach: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Define a vertical slice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is the minimal end-to-end flow?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Start simple, prove it works</a:t>
            </a:r>
            <a:endParaRPr sz="17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Define the systems (functions) required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Know the inputs and outputs of each piece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Simpler is better</a:t>
            </a:r>
            <a:endParaRPr sz="17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sz="1800"/>
              <a:t>Then: Crawl → Walk → Run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Start minimal, add features incrementally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Example Problem: Time Series Analysis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Task</a:t>
            </a:r>
            <a:r>
              <a:rPr lang="en" sz="1800"/>
              <a:t>: Run a regression on 25 datasets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Context</a:t>
            </a:r>
            <a:r>
              <a:rPr lang="en" sz="1800"/>
              <a:t>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have data from 25 countries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Each CSV contains education and GDP data over time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want to run a time series analysis on the relationship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Question</a:t>
            </a:r>
            <a:r>
              <a:rPr lang="en" sz="1800"/>
              <a:t>: How do we break this down?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System Design: Complete Problem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800"/>
              <a:t>This is the </a:t>
            </a:r>
            <a:r>
              <a:rPr lang="en" b="1" sz="1800"/>
              <a:t>complete problem</a:t>
            </a:r>
            <a:r>
              <a:rPr lang="en" sz="1800"/>
              <a:t>, but where do we start?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Inputs and Outputs: The Missing Piece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For each system component, we need to define: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Load Data</a:t>
            </a:r>
            <a:r>
              <a:rPr lang="en" sz="1800"/>
              <a:t>: What format for each column? How to handle dates? Any transformations?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Clean Data</a:t>
            </a:r>
            <a:r>
              <a:rPr lang="en" sz="1800"/>
              <a:t>: What cleaning steps? How do we handle missing values?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Run Regression</a:t>
            </a:r>
            <a:r>
              <a:rPr lang="en" sz="1800"/>
              <a:t>: What type? Linear? Time series?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Present Output</a:t>
            </a:r>
            <a:r>
              <a:rPr lang="en" sz="1800"/>
              <a:t>: Table? Graph? JSON? What metrics?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This is the complete problem, but we never want to start here!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800"/>
              <a:t>We want to start with a </a:t>
            </a:r>
            <a:r>
              <a:rPr lang="en" b="1" sz="1800"/>
              <a:t>vertical slice</a:t>
            </a:r>
            <a:r>
              <a:rPr lang="en" sz="1800"/>
              <a:t>.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What is a Vertical Slice?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A vertical slice</a:t>
            </a:r>
            <a:r>
              <a:rPr lang="en" sz="1800"/>
              <a:t>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Contains </a:t>
            </a:r>
            <a:r>
              <a:rPr lang="en" b="1" sz="1800"/>
              <a:t>everything</a:t>
            </a:r>
            <a:r>
              <a:rPr lang="en" sz="1800"/>
              <a:t> needed to go from top to bottom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Works on a </a:t>
            </a:r>
            <a:r>
              <a:rPr lang="en" b="1" sz="1800"/>
              <a:t>subset</a:t>
            </a:r>
            <a:r>
              <a:rPr lang="en" sz="1800"/>
              <a:t> of inputs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Proves the </a:t>
            </a:r>
            <a:r>
              <a:rPr lang="en" b="1" sz="1800"/>
              <a:t>end-to-end flow</a:t>
            </a:r>
            <a:r>
              <a:rPr lang="en" sz="1800"/>
              <a:t> works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Is the </a:t>
            </a:r>
            <a:r>
              <a:rPr lang="en" b="1" sz="1800"/>
              <a:t>simplest possible</a:t>
            </a:r>
            <a:r>
              <a:rPr lang="en" sz="1800"/>
              <a:t> complete solution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When we build AI systems, we want to start with vertical slices.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Why Vertical Slices for AI?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AI systems have unique challenges: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Complex</a:t>
            </a:r>
            <a:r>
              <a:rPr lang="en" sz="1800"/>
              <a:t>: Many moving parts and dependencies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Uncertain failure points</a:t>
            </a:r>
            <a:r>
              <a:rPr lang="en" sz="1800"/>
              <a:t>: We aren't sure where things will break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Non-deterministic</a:t>
            </a:r>
            <a:r>
              <a:rPr lang="en" sz="1800"/>
              <a:t>: Errors appear in unexpected places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Iterative prompting</a:t>
            </a:r>
            <a:r>
              <a:rPr lang="en" sz="1800"/>
              <a:t>: Prompts need testing and refinement</a:t>
            </a:r>
            <a:endParaRPr sz="1800"/>
          </a:p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With vertical slices</a:t>
            </a:r>
            <a:r>
              <a:rPr lang="en" sz="1800"/>
              <a:t>: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build a viable end-to-end solution that works on a </a:t>
            </a:r>
            <a:r>
              <a:rPr lang="en" b="1" sz="1800"/>
              <a:t>subset</a:t>
            </a:r>
            <a:r>
              <a:rPr lang="en" sz="1800"/>
              <a:t> of inputs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discover integration issues </a:t>
            </a:r>
            <a:r>
              <a:rPr lang="en" b="1" sz="1800"/>
              <a:t>early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can demonstrate </a:t>
            </a:r>
            <a:r>
              <a:rPr lang="en" b="1" sz="1800"/>
              <a:t>value quickly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The Opposite: Horizontal Development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Horizontal development</a:t>
            </a:r>
            <a:r>
              <a:rPr lang="en" sz="1600"/>
              <a:t> means: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Building for </a:t>
            </a:r>
            <a:r>
              <a:rPr lang="en" b="1" sz="1600"/>
              <a:t>all contingencies</a:t>
            </a:r>
            <a:r>
              <a:rPr lang="en" sz="1600"/>
              <a:t> at each level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Handling </a:t>
            </a:r>
            <a:r>
              <a:rPr lang="en" b="1" sz="1600"/>
              <a:t>every possibility</a:t>
            </a:r>
            <a:r>
              <a:rPr lang="en" sz="1600"/>
              <a:t> before moving forward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Creating </a:t>
            </a:r>
            <a:r>
              <a:rPr lang="en" b="1" sz="1600"/>
              <a:t>complete infrastructure</a:t>
            </a:r>
            <a:r>
              <a:rPr lang="en" sz="1600"/>
              <a:t> before testing end-to-end</a:t>
            </a:r>
            <a:endParaRPr sz="1600"/>
          </a:p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For our regression example</a:t>
            </a:r>
            <a:r>
              <a:rPr lang="en" sz="1600"/>
              <a:t>: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Load all 25 datasets with full error handling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Clean all datasets with every edge case covered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Build multiple regression types and robustness checks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Create multiple output formats and visualizations</a:t>
            </a:r>
            <a:endParaRPr sz="1600"/>
          </a:p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Problem</a:t>
            </a:r>
            <a:r>
              <a:rPr lang="en" sz="1600"/>
              <a:t>: You spend weeks building infrastructure before knowing if the core idea works!</a:t>
            </a:r>
            <a:endParaRPr sz="16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Vertical Slice: Regression Example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This proves it works end-to-end with minimal effort!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Example: Personalized Marketing Emails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Task</a:t>
            </a:r>
            <a:r>
              <a:rPr lang="en" sz="1600"/>
              <a:t>: Send AI-generated personalized marketing emails to leads</a:t>
            </a:r>
            <a:endParaRPr sz="1600"/>
          </a:p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Vertical Slice Approach</a:t>
            </a:r>
            <a:r>
              <a:rPr lang="en" sz="1600"/>
              <a:t>: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Load </a:t>
            </a:r>
            <a:r>
              <a:rPr lang="en" b="1" sz="1600"/>
              <a:t>one</a:t>
            </a:r>
            <a:r>
              <a:rPr lang="en" sz="1600"/>
              <a:t> lead from the database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Generate </a:t>
            </a:r>
            <a:r>
              <a:rPr lang="en" b="1" sz="1600"/>
              <a:t>one</a:t>
            </a:r>
            <a:r>
              <a:rPr lang="en" sz="1600"/>
              <a:t> email with LLM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Print email to console for manual review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it looks good, move to next step</a:t>
            </a:r>
            <a:endParaRPr sz="1600"/>
          </a:p>
          <a:p>
            <a:pPr lvl="0" rtl="0" algn="l" marL="0" indent="0">
              <a:spcBef>
                <a:spcPts val="960"/>
              </a:spcBef>
              <a:spcAft>
                <a:spcPts val="0"/>
              </a:spcAft>
              <a:buNone/>
            </a:pPr>
            <a:r>
              <a:rPr lang="en" b="1" sz="1600"/>
              <a:t>Horizontal Approach</a:t>
            </a:r>
            <a:r>
              <a:rPr lang="en" sz="1600"/>
              <a:t> (what NOT to do):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Build complete database integration for all leads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Create email templates for all scenarios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Build full SMTP sending infrastructure</a:t>
            </a:r>
            <a:endParaRPr sz="16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Set up monitoring and analytics before sending anything</a:t>
            </a:r>
            <a:endParaRPr sz="16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Principle: Well-Defined Inputs and Outputs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Each component should have: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AutoNum type="arabicPeriod"/>
            </a:pPr>
            <a:r>
              <a:rPr lang="en" b="1" sz="1700"/>
              <a:t>Clear input contract</a:t>
            </a:r>
            <a:r>
              <a:rPr lang="en" sz="1700"/>
              <a:t>: What data does it expect? In what format?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AutoNum type="arabicPeriod"/>
            </a:pPr>
            <a:r>
              <a:rPr lang="en" b="1" sz="1700"/>
              <a:t>Clear output contract</a:t>
            </a:r>
            <a:r>
              <a:rPr lang="en" sz="1700"/>
              <a:t>: What data does it return? In what format?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AutoNum type="arabicPeriod"/>
            </a:pPr>
            <a:r>
              <a:rPr lang="en" b="1" sz="1700"/>
              <a:t>Single responsibility</a:t>
            </a:r>
            <a:r>
              <a:rPr lang="en" sz="1700"/>
              <a:t>: Does one thing well</a:t>
            </a:r>
            <a:endParaRPr sz="17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Benefits: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Easy to understand what each piece does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Easy to test each piece independently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Easy to replace or improve individual pieces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Clear error boundaries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Methodology: Crawl, Walk, Run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b="1" sz="1500"/>
              <a:t>Crawl</a:t>
            </a:r>
            <a:r>
              <a:rPr lang="en" sz="1500"/>
              <a:t>: What is the minimum code to verify it's possible?</a:t>
            </a:r>
            <a:endParaRPr sz="15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Hardcoded examples</a:t>
            </a:r>
            <a:endParaRPr sz="14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Manual verification</a:t>
            </a:r>
            <a:endParaRPr sz="14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Proof of concept that it can work in </a:t>
            </a:r>
            <a:r>
              <a:rPr lang="en" i="1" sz="1400"/>
              <a:t>some</a:t>
            </a:r>
            <a:r>
              <a:rPr lang="en" sz="1400"/>
              <a:t> instances</a:t>
            </a:r>
            <a:endParaRPr sz="14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b="1" sz="1500"/>
              <a:t>Walk</a:t>
            </a:r>
            <a:r>
              <a:rPr lang="en" sz="1500"/>
              <a:t>: What is the minimum code to verify it works in most cases?</a:t>
            </a:r>
            <a:endParaRPr sz="15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Handle common edge cases</a:t>
            </a:r>
            <a:endParaRPr sz="14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Basic error handling</a:t>
            </a:r>
            <a:endParaRPr sz="14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Works reliably for typical inputs</a:t>
            </a:r>
            <a:endParaRPr sz="1400"/>
          </a:p>
          <a:p>
            <a:pPr lvl="0" rtl="0" algn="l" marL="457200" indent="-342900">
              <a:spcBef>
                <a:spcPts val="675"/>
              </a:spcBef>
              <a:spcAft>
                <a:spcPts val="0"/>
              </a:spcAft>
              <a:buSzPts val="1500"/>
              <a:buChar char="●"/>
            </a:pPr>
            <a:r>
              <a:rPr lang="en" b="1" sz="1500"/>
              <a:t>Run</a:t>
            </a:r>
            <a:r>
              <a:rPr lang="en" sz="1500"/>
              <a:t>: What does the full production system look like?</a:t>
            </a:r>
            <a:endParaRPr sz="15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Comprehensive error handling</a:t>
            </a:r>
            <a:endParaRPr sz="14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Monitoring and logging</a:t>
            </a:r>
            <a:endParaRPr sz="1400"/>
          </a:p>
          <a:p>
            <a:pPr lvl="1" rtl="0" algn="l" marL="914400" indent="-317500">
              <a:spcBef>
                <a:spcPts val="63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Scale and performance optimization</a:t>
            </a:r>
            <a:endParaRPr sz="14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Crawl Phase in Detail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840"/>
              </a:spcBef>
              <a:spcAft>
                <a:spcPts val="0"/>
              </a:spcAft>
              <a:buNone/>
            </a:pPr>
            <a:r>
              <a:rPr lang="en" b="1" sz="1400"/>
              <a:t>Goal</a:t>
            </a:r>
            <a:r>
              <a:rPr lang="en" sz="1400"/>
              <a:t>: Prove the concept works at all</a:t>
            </a:r>
            <a:endParaRPr sz="1400"/>
          </a:p>
          <a:p>
            <a:pPr lvl="0" rtl="0" algn="l" marL="0" indent="0">
              <a:spcBef>
                <a:spcPts val="840"/>
              </a:spcBef>
              <a:spcAft>
                <a:spcPts val="0"/>
              </a:spcAft>
              <a:buNone/>
            </a:pPr>
            <a:r>
              <a:rPr lang="en" b="1" sz="1400"/>
              <a:t>Characteristics</a:t>
            </a:r>
            <a:r>
              <a:rPr lang="en" sz="1400"/>
              <a:t>:</a:t>
            </a:r>
            <a:endParaRPr sz="1400"/>
          </a:p>
          <a:p>
            <a:pPr lvl="0" rtl="0" algn="l" marL="457200" indent="-342900">
              <a:spcBef>
                <a:spcPts val="63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 </a:t>
            </a:r>
            <a:r>
              <a:rPr lang="en" b="1" sz="1400"/>
              <a:t>hardcoded</a:t>
            </a:r>
            <a:r>
              <a:rPr lang="en" sz="1400"/>
              <a:t> or sample data</a:t>
            </a:r>
            <a:endParaRPr sz="1400"/>
          </a:p>
          <a:p>
            <a:pPr lvl="0" rtl="0" algn="l" marL="457200" indent="-342900">
              <a:spcBef>
                <a:spcPts val="630"/>
              </a:spcBef>
              <a:spcAft>
                <a:spcPts val="0"/>
              </a:spcAft>
              <a:buSzPts val="1400"/>
              <a:buChar char="●"/>
            </a:pPr>
            <a:r>
              <a:rPr lang="en" b="1" sz="1400"/>
              <a:t>No error handling</a:t>
            </a:r>
            <a:r>
              <a:rPr lang="en" sz="1400"/>
              <a:t> (let it fail if something breaks)</a:t>
            </a:r>
            <a:endParaRPr sz="1400"/>
          </a:p>
          <a:p>
            <a:pPr lvl="0" rtl="0" algn="l" marL="457200" indent="-342900">
              <a:spcBef>
                <a:spcPts val="630"/>
              </a:spcBef>
              <a:spcAft>
                <a:spcPts val="0"/>
              </a:spcAft>
              <a:buSzPts val="1400"/>
              <a:buChar char="●"/>
            </a:pPr>
            <a:r>
              <a:rPr lang="en" b="1" sz="1400"/>
              <a:t>Manual testing</a:t>
            </a:r>
            <a:r>
              <a:rPr lang="en" sz="1400"/>
              <a:t> (print statements, visual inspection)</a:t>
            </a:r>
            <a:endParaRPr sz="1400"/>
          </a:p>
          <a:p>
            <a:pPr lvl="0" rtl="0" algn="l" marL="457200" indent="-342900">
              <a:spcBef>
                <a:spcPts val="630"/>
              </a:spcBef>
              <a:spcAft>
                <a:spcPts val="0"/>
              </a:spcAft>
              <a:buSzPts val="1400"/>
              <a:buChar char="●"/>
            </a:pPr>
            <a:r>
              <a:rPr lang="en" b="1" sz="1400"/>
              <a:t>Happy path only</a:t>
            </a:r>
            <a:r>
              <a:rPr lang="en" sz="1400"/>
              <a:t> (assume everything works)</a:t>
            </a:r>
            <a:endParaRPr sz="1400"/>
          </a:p>
          <a:p>
            <a:pPr lvl="0" rtl="0" algn="l" marL="0" indent="0">
              <a:spcBef>
                <a:spcPts val="840"/>
              </a:spcBef>
              <a:spcAft>
                <a:spcPts val="0"/>
              </a:spcAft>
              <a:buNone/>
            </a:pPr>
            <a:r>
              <a:rPr lang="en" b="1" sz="1400"/>
              <a:t>Example - Resume Screening</a:t>
            </a:r>
            <a:r>
              <a:rPr lang="en" sz="1400"/>
              <a:t>:</a:t>
            </a:r>
            <a:endParaRPr sz="1400"/>
          </a:p>
          <a:p>
            <a:pPr lvl="0" rtl="0" algn="l" marL="457200" indent="-342900">
              <a:spcBef>
                <a:spcPts val="63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Hardcode path to one resume PDF</a:t>
            </a:r>
            <a:endParaRPr sz="1400"/>
          </a:p>
          <a:p>
            <a:pPr lvl="0" rtl="0" algn="l" marL="457200" indent="-342900">
              <a:spcBef>
                <a:spcPts val="63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Extract skills with LLM, print to console</a:t>
            </a:r>
            <a:endParaRPr sz="1400"/>
          </a:p>
          <a:p>
            <a:pPr lvl="0" rtl="0" algn="l" marL="457200" indent="-342900">
              <a:spcBef>
                <a:spcPts val="63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Compare to hardcoded job requirements</a:t>
            </a:r>
            <a:endParaRPr sz="1400"/>
          </a:p>
          <a:p>
            <a:pPr lvl="0" rtl="0" algn="l" marL="457200" indent="-342900">
              <a:spcBef>
                <a:spcPts val="63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Print match score</a:t>
            </a:r>
            <a:endParaRPr sz="1400"/>
          </a:p>
          <a:p>
            <a:pPr lvl="0" rtl="0" algn="l" marL="0" indent="0">
              <a:spcBef>
                <a:spcPts val="840"/>
              </a:spcBef>
              <a:spcAft>
                <a:spcPts val="0"/>
              </a:spcAft>
              <a:buNone/>
            </a:pPr>
            <a:r>
              <a:rPr lang="en" b="1" sz="1400"/>
              <a:t>If this doesn't work, nothing else matters!</a:t>
            </a:r>
            <a:endParaRPr sz="14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Building Vertical Slices First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Vertical Slice</a:t>
            </a:r>
            <a:r>
              <a:rPr lang="en" sz="1800"/>
              <a:t>: End-to-end functionality for a narrow use case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Example: Process ONE resume through the entire pipeline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Proves the concept works end-to-end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Surfaces integration issues early</a:t>
            </a:r>
            <a:endParaRPr sz="17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Then Build Horizontally</a:t>
            </a:r>
            <a:r>
              <a:rPr lang="en" sz="1800"/>
              <a:t>: Expand capabilities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Add batch processing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Add error handling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Add more sophisticated matching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Add caching and optimization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Key Takeaways: Building with AI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AutoNum type="arabicPeriod"/>
            </a:pPr>
            <a:r>
              <a:rPr lang="en" b="1" sz="1600"/>
              <a:t>Define the vertical slice</a:t>
            </a:r>
            <a:r>
              <a:rPr lang="en" sz="1600"/>
              <a:t> – what is the minimum thing you can get working?</a:t>
            </a:r>
            <a:endParaRPr sz="1600"/>
          </a:p>
          <a:p>
            <a:pPr lvl="1" rtl="0" algn="l" marL="914400" indent="-317500">
              <a:spcBef>
                <a:spcPts val="675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Prove end-to-end flow works with simplest case</a:t>
            </a:r>
            <a:endParaRPr sz="1500"/>
          </a:p>
          <a:p>
            <a:pPr lvl="1" rtl="0" algn="l" marL="914400" indent="-317500">
              <a:spcBef>
                <a:spcPts val="675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Identify integration issues early</a:t>
            </a:r>
            <a:endParaRPr sz="15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AutoNum type="arabicPeriod"/>
            </a:pPr>
            <a:r>
              <a:rPr lang="en" b="1" sz="1600"/>
              <a:t>Figure out the inputs and outputs</a:t>
            </a:r>
            <a:endParaRPr sz="1600"/>
          </a:p>
          <a:p>
            <a:pPr lvl="1" rtl="0" algn="l" marL="914400" indent="-317500">
              <a:spcBef>
                <a:spcPts val="675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Each function needs clear contracts</a:t>
            </a:r>
            <a:endParaRPr sz="1500"/>
          </a:p>
          <a:p>
            <a:pPr lvl="1" rtl="0" algn="l" marL="914400" indent="-317500">
              <a:spcBef>
                <a:spcPts val="675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Simpler is better</a:t>
            </a:r>
            <a:endParaRPr sz="15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AutoNum type="arabicPeriod"/>
            </a:pPr>
            <a:r>
              <a:rPr lang="en" b="1" sz="1600"/>
              <a:t>Figure out the pricing</a:t>
            </a:r>
            <a:endParaRPr sz="1600"/>
          </a:p>
          <a:p>
            <a:pPr lvl="1" rtl="0" algn="l" marL="914400" indent="-317500">
              <a:spcBef>
                <a:spcPts val="675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Know your costs before scaling</a:t>
            </a:r>
            <a:endParaRPr sz="1500"/>
          </a:p>
          <a:p>
            <a:pPr lvl="0" rtl="0" algn="l" marL="457200" indent="-342900">
              <a:spcBef>
                <a:spcPts val="720"/>
              </a:spcBef>
              <a:spcAft>
                <a:spcPts val="0"/>
              </a:spcAft>
              <a:buSzPts val="1600"/>
              <a:buAutoNum type="arabicPeriod"/>
            </a:pPr>
            <a:r>
              <a:rPr lang="en" b="1" sz="1600"/>
              <a:t>Expand horizontally after vertical slice works</a:t>
            </a:r>
            <a:endParaRPr sz="1600"/>
          </a:p>
          <a:p>
            <a:pPr lvl="1" rtl="0" algn="l" marL="914400" indent="-317500">
              <a:spcBef>
                <a:spcPts val="675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Add batch processing, error handling, features</a:t>
            </a:r>
            <a:endParaRPr sz="1500"/>
          </a:p>
          <a:p>
            <a:pPr lvl="1" rtl="0" algn="l" marL="914400" indent="-317500">
              <a:spcBef>
                <a:spcPts val="675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Don't optimize or add features prematurely</a:t>
            </a:r>
            <a:endParaRPr sz="15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28125"/>
            <a:ext cx="8520600" cy="16873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AI Resume Scoring System</a:t>
            </a:r>
            <a:endParaRPr sz="4000"/>
          </a:p>
        </p:txBody>
      </p:sp>
      <p:sp>
        <p:nvSpPr>
          <p:cNvPr id="3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Problem Background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have been hired by a company to help with their software developer hiring process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Our goal is to build an AI-assisted resume scoring system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For each resume, we want to score it so that we don't waste time on resumes we are unlikely to hire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are also cost-conscious.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Scores should be on a 0-100 scale.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Brainstorming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are we going to proceed here?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What's our vertical slice?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are the system components?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are the inputs and outputs?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much will our decisions cost?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Let's Look at Our Inputs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Data</a:t>
            </a:r>
            <a:r>
              <a:rPr lang="en" sz="1800"/>
              <a:t>: 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resumes_final.csv</a:t>
            </a:r>
            <a:r>
              <a:rPr lang="en" sz="1800"/>
              <a:t> has one row per resume (anonymized, taken from Kaggle)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b="1" sz="1800"/>
              <a:t>Functions</a:t>
            </a:r>
            <a:r>
              <a:rPr lang="en" sz="1800"/>
              <a:t>: Our notebook has two functions already:</a:t>
            </a:r>
            <a:endParaRPr sz="18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load_resumes()</a:t>
            </a:r>
            <a:r>
              <a:rPr lang="en" sz="1700"/>
              <a:t> - loads all resumes into a dictionary</a:t>
            </a:r>
            <a:endParaRPr sz="1700"/>
          </a:p>
          <a:p>
            <a:pPr lvl="1" rtl="0" algn="l" marL="914400" indent="-317500">
              <a:spcBef>
                <a:spcPts val="765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analyze_resume()</a:t>
            </a:r>
            <a:r>
              <a:rPr lang="en" sz="1700"/>
              <a:t> - runs a prompt against a resume with structured output</a:t>
            </a:r>
            <a:endParaRPr sz="17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There is a job req in the directory: 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job_req_senior.md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Define our system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 we have a good definition of each component?</a:t>
            </a:r>
            <a:endParaRPr sz="1800"/>
          </a:p>
          <a:p>
            <a:pPr lvl="0" rtl="0" algn="l" marL="457200" indent="-342900">
              <a:spcBef>
                <a:spcPts val="81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 we know the inputs and outputs and what has to happen inside each system?</a:t>
            </a:r>
            <a:endParaRPr sz="1800"/>
          </a:p>
          <a:p>
            <a:pPr lvl="0" rtl="0" algn="ctr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b="1" sz="1800"/>
              <a:t>Next Step: Crawling!</a:t>
            </a:r>
            <a:endParaRPr sz="1800"/>
          </a:p>
          <a:p>
            <a:pPr lvl="0" rtl="0" algn="ctr" marL="0" indent="0">
              <a:spcBef>
                <a:spcPts val="1080"/>
              </a:spcBef>
              <a:spcAft>
                <a:spcPts val="0"/>
              </a:spcAft>
              <a:buNone/>
            </a:pPr>
            <a:r>
              <a:rPr lang="en" sz="1800"/>
              <a:t>Start with the simplest possible version</a:t>
            </a:r>
            <a:endParaRPr sz="18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Resume Screening System: Crawl, Walk, Run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Phase 1: Vertical Slice (Crawl)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Generate score for a single resume for a single job req</a:t>
            </a:r>
            <a:endParaRPr sz="1700"/>
          </a:p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Phase 2: Horizontal Expansion (Walk)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Generate score for </a:t>
            </a:r>
            <a:r>
              <a:rPr lang="en" b="1" sz="1700"/>
              <a:t>most</a:t>
            </a:r>
            <a:r>
              <a:rPr lang="en" sz="1700"/>
              <a:t> resumes for a single job req</a:t>
            </a:r>
            <a:endParaRPr sz="1700"/>
          </a:p>
          <a:p>
            <a:pPr lvl="0" rtl="0" algn="l" marL="0" indent="0">
              <a:spcBef>
                <a:spcPts val="1019"/>
              </a:spcBef>
              <a:spcAft>
                <a:spcPts val="0"/>
              </a:spcAft>
              <a:buNone/>
            </a:pPr>
            <a:r>
              <a:rPr lang="en" b="1" sz="1700"/>
              <a:t>Phase 3: Production (Run)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Work on </a:t>
            </a:r>
            <a:r>
              <a:rPr lang="en" b="1" sz="1700"/>
              <a:t>all</a:t>
            </a:r>
            <a:r>
              <a:rPr lang="en" sz="1700"/>
              <a:t> resumes for </a:t>
            </a:r>
            <a:r>
              <a:rPr lang="en" b="1" sz="1700"/>
              <a:t>all</a:t>
            </a:r>
            <a:r>
              <a:rPr lang="en" sz="1700"/>
              <a:t> job reqs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Optimize prompts and costs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Add caching for repeated skills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Add human-in-the-loop review</a:t>
            </a:r>
            <a:endParaRPr sz="1700"/>
          </a:p>
          <a:p>
            <a:pPr lvl="0" rtl="0" algn="l" marL="457200" indent="-342900">
              <a:spcBef>
                <a:spcPts val="765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Monitor accuracy and performance</a:t>
            </a:r>
            <a:endParaRPr sz="17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Next Steps: Hands-On Practice</a:t>
            </a:r>
            <a:endParaRPr sz="2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8000"/>
          </a:xfrm>
        </p:spPr>
        <p:txBody>
          <a:bodyPr>
            <a:noAutofit/>
          </a:bodyPr>
          <a:lstStyle/>
          <a:p>
            <a:pPr lvl="0" rtl="0" algn="l" marL="0" indent="0">
              <a:spcBef>
                <a:spcPts val="719"/>
              </a:spcBef>
              <a:spcAft>
                <a:spcPts val="0"/>
              </a:spcAft>
              <a:buNone/>
            </a:pPr>
            <a:r>
              <a:rPr lang="en" b="1" sz="1200"/>
              <a:t>Goal</a:t>
            </a:r>
            <a:r>
              <a:rPr lang="en" sz="1200"/>
              <a:t>: Build a working resume scorer</a:t>
            </a:r>
            <a:endParaRPr sz="1200"/>
          </a:p>
          <a:p>
            <a:pPr lvl="0" rtl="0" algn="l" marL="0" indent="0">
              <a:spcBef>
                <a:spcPts val="719"/>
              </a:spcBef>
              <a:spcAft>
                <a:spcPts val="0"/>
              </a:spcAft>
              <a:buNone/>
            </a:pPr>
            <a:r>
              <a:rPr lang="en" b="1" sz="1200"/>
              <a:t>Your Task</a:t>
            </a:r>
            <a:r>
              <a:rPr lang="en" sz="1200"/>
              <a:t>:</a:t>
            </a:r>
            <a:endParaRPr sz="1200"/>
          </a:p>
          <a:p>
            <a:pPr lvl="0" rtl="0" algn="l" marL="457200" indent="-342900">
              <a:spcBef>
                <a:spcPts val="540"/>
              </a:spcBef>
              <a:spcAft>
                <a:spcPts val="0"/>
              </a:spcAft>
              <a:buSzPts val="1200"/>
              <a:buAutoNum type="arabicPeriod"/>
            </a:pPr>
            <a:r>
              <a:rPr lang="en" b="1" sz="1200"/>
              <a:t>Form teams</a:t>
            </a:r>
            <a:r>
              <a:rPr lang="en" sz="1200"/>
              <a:t> (2-3 people)</a:t>
            </a:r>
            <a:endParaRPr sz="1200"/>
          </a:p>
          <a:p>
            <a:pPr lvl="0" rtl="0" algn="l" marL="457200" indent="-342900">
              <a:spcBef>
                <a:spcPts val="540"/>
              </a:spcBef>
              <a:spcAft>
                <a:spcPts val="0"/>
              </a:spcAft>
              <a:buSzPts val="1200"/>
              <a:buAutoNum type="arabicPeriod"/>
            </a:pPr>
            <a:r>
              <a:rPr lang="en" b="1" sz="1200"/>
              <a:t>Open the notebook</a:t>
            </a:r>
            <a:r>
              <a:rPr lang="en" sz="1200"/>
              <a:t>: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resume_screening.ipynb</a:t>
            </a:r>
            <a:endParaRPr sz="1200"/>
          </a:p>
          <a:p>
            <a:pPr lvl="0" rtl="0" algn="l" marL="457200" indent="-342900">
              <a:spcBef>
                <a:spcPts val="540"/>
              </a:spcBef>
              <a:spcAft>
                <a:spcPts val="0"/>
              </a:spcAft>
              <a:buSzPts val="1200"/>
              <a:buAutoNum type="arabicPeriod"/>
            </a:pPr>
            <a:r>
              <a:rPr lang="en" b="1" sz="1200"/>
              <a:t>Work through the examples</a:t>
            </a:r>
            <a:r>
              <a:rPr lang="en" sz="1200"/>
              <a:t>:</a:t>
            </a:r>
            <a:endParaRPr sz="12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Load resume data</a:t>
            </a:r>
            <a:endParaRPr sz="11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Use structured outputs to extract information</a:t>
            </a:r>
            <a:endParaRPr sz="11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Match resumes to job requirements</a:t>
            </a:r>
            <a:endParaRPr sz="1100"/>
          </a:p>
          <a:p>
            <a:pPr lvl="0" rtl="0" algn="l" marL="457200" indent="-342900">
              <a:spcBef>
                <a:spcPts val="540"/>
              </a:spcBef>
              <a:spcAft>
                <a:spcPts val="0"/>
              </a:spcAft>
              <a:buSzPts val="1200"/>
              <a:buAutoNum type="arabicPeriod"/>
            </a:pPr>
            <a:r>
              <a:rPr lang="en" b="1" sz="1200"/>
              <a:t>Key questions to answer</a:t>
            </a:r>
            <a:r>
              <a:rPr lang="en" sz="1200"/>
              <a:t>:</a:t>
            </a:r>
            <a:endParaRPr sz="12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Can we create a score (0-100)?</a:t>
            </a:r>
            <a:endParaRPr sz="11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How do we do that?</a:t>
            </a:r>
            <a:endParaRPr sz="11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What prompt and schema do we need?</a:t>
            </a:r>
            <a:endParaRPr sz="1100"/>
          </a:p>
          <a:p>
            <a:pPr lvl="1" rtl="0" algn="l" marL="914400" indent="-317500">
              <a:spcBef>
                <a:spcPts val="495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How much does it cost per resume?</a:t>
            </a:r>
            <a:endParaRPr sz="1100"/>
          </a:p>
          <a:p>
            <a:pPr lvl="0" rtl="0" algn="l" marL="0" indent="0">
              <a:spcBef>
                <a:spcPts val="719"/>
              </a:spcBef>
              <a:spcAft>
                <a:spcPts val="0"/>
              </a:spcAft>
              <a:buNone/>
            </a:pPr>
            <a:r>
              <a:rPr lang="en" b="1" sz="1200"/>
              <a:t>Focus on the Crawl First!</a:t>
            </a:r>
            <a:endParaRPr sz="1200"/>
          </a:p>
          <a:p>
            <a:pPr lvl="0" rtl="0" algn="l" marL="0" indent="0">
              <a:spcBef>
                <a:spcPts val="719"/>
              </a:spcBef>
              <a:spcAft>
                <a:spcPts val="0"/>
              </a:spcAft>
              <a:buNone/>
            </a:pPr>
            <a:r>
              <a:rPr lang="en" sz="1200"/>
              <a:t>Start simple, prove it works</a:t>
            </a:r>
            <a:endParaRPr sz="1200"/>
          </a:p>
        </p:txBody>
      </p:sp>
      <p:sp>
        <p:nvSpPr>
          <p:cNvPr id="4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