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y="5143500" cx="9144000"/>
  <p:notesSz cx="6858000" cy="9144000"/>
  <p:embeddedFontLst>
    <p:embeddedFont>
      <p:font typeface="Roboto Mono"/>
      <p:regular r:id="rId52"/>
      <p:bold r:id="rId53"/>
      <p:italic r:id="rId54"/>
      <p:boldItalic r:id="rId5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font" Target="fonts/RobotoMono-bold.fntdata"/><Relationship Id="rId52" Type="http://schemas.openxmlformats.org/officeDocument/2006/relationships/font" Target="fonts/RobotoMono-regular.fntdata"/><Relationship Id="rId11" Type="http://schemas.openxmlformats.org/officeDocument/2006/relationships/slide" Target="slides/slide5.xml"/><Relationship Id="rId55" Type="http://schemas.openxmlformats.org/officeDocument/2006/relationships/font" Target="fonts/RobotoMono-boldItalic.fntdata"/><Relationship Id="rId10" Type="http://schemas.openxmlformats.org/officeDocument/2006/relationships/slide" Target="slides/slide4.xml"/><Relationship Id="rId54" Type="http://schemas.openxmlformats.org/officeDocument/2006/relationships/font" Target="fonts/RobotoMono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ddf16ba2aa11f86_3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hddf16ba2aa11f86_3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ddf16ba2aa11f86_3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hddf16ba2aa11f86_3_5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67a10069c844a65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h67a10069c844a65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76efba27044ac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h76efba27044ac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76efba27044ac5b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h76efba27044ac5b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h76efba27044ac5b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h76efba27044ac5b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76efba27044ac5b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h76efba27044ac5b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76efba27044ac5b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h76efba27044ac5b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82d34d9cb1edf4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h82d34d9cb1edf4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76efba27044ac5b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h76efba27044ac5b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h67a10069c844a65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h67a10069c844a65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67a10069c844a65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h67a10069c844a65d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h82d34d9cb1edf47_2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h82d34d9cb1edf47_2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h67a10069c844a65d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h67a10069c844a65d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hddf16ba2aa11f86_3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hddf16ba2aa11f86_3_9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h82d34d9cb1edf47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h82d34d9cb1edf47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82d34d9cb1edf47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h82d34d9cb1edf47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hddf16ba2aa11f86_3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hddf16ba2aa11f86_3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h82d34d9cb1edf47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h82d34d9cb1edf47_0_1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hddf16ba2aa11f86_3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hddf16ba2aa11f86_3_12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hddf16ba2aa11f86_3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hddf16ba2aa11f86_3_14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82d34d9cb1edf47_0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h82d34d9cb1edf47_0_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82d34d9cb1edf47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h82d34d9cb1edf47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82d34d9cb1edf47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h82d34d9cb1edf47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h82d34d9cb1edf47_0_2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h82d34d9cb1edf47_0_2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h82d34d9cb1edf47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h82d34d9cb1edf47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82d34d9cb1edf47_0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h82d34d9cb1edf47_0_2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hddf16ba2aa11f86_3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hddf16ba2aa11f86_3_13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hddf16ba2aa11f86_3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hddf16ba2aa11f86_3_10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h82d34d9cb1edf47_0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h82d34d9cb1edf47_0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ddf16ba2aa11f86_3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hddf16ba2aa11f86_3_15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hddf16ba2aa11f86_3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hddf16ba2aa11f86_3_15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hddf16ba2aa11f86_3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hddf16ba2aa11f86_3_16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hddf16ba2aa11f86_3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hddf16ba2aa11f86_3_17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82d34d9cb1edf47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h82d34d9cb1edf47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h82d34d9cb1edf47_0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h82d34d9cb1edf47_0_2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h82d34d9cb1edf47_0_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h82d34d9cb1edf47_0_2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hddf16ba2aa11f86_3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hddf16ba2aa11f86_3_18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hddf16ba2aa11f86_3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hddf16ba2aa11f86_3_18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hddf16ba2aa11f86_3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hddf16ba2aa11f86_3_19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hddf16ba2aa11f86_3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hddf16ba2aa11f86_3_19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hddf16ba2aa11f86_3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hddf16ba2aa11f86_3_20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hddf16ba2aa11f86_3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hddf16ba2aa11f86_3_2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hddf16ba2aa11f86_3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hddf16ba2aa11f86_3_21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hddf16ba2aa11f86_3_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hddf16ba2aa11f86_3_22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 sz="4000"/>
              <a:t>Lecture 2: Costs and Processing</a:t>
            </a:r>
            <a:endParaRPr sz="4000"/>
          </a:p>
        </p:txBody>
      </p:sp>
      <p:sp>
        <p:nvSpPr>
          <p:cNvPr id="100" name="Google Shape;100;p2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800"/>
              <a:t>Vertical Slices, MVPs, Crawling, Walking, and Running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800"/>
              <a:buNone/>
            </a:pPr>
            <a:r>
              <a:rPr lang="en" sz="1800"/>
              <a:t>University of Chicago</a:t>
            </a:r>
            <a:endParaRPr sz="1800"/>
          </a:p>
        </p:txBody>
      </p:sp>
      <p:pic>
        <p:nvPicPr>
          <p:cNvPr id="101" name="Google Shape;101;p25" title="uchicago-dsi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1775" y="76200"/>
            <a:ext cx="2536018" cy="52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5" title="uchicago-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200" y="76200"/>
            <a:ext cx="2461174" cy="52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Outline</a:t>
            </a:r>
            <a:endParaRPr sz="2800"/>
          </a:p>
        </p:txBody>
      </p:sp>
      <p:sp>
        <p:nvSpPr>
          <p:cNvPr id="108" name="Google Shape;108;p26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AI Prompting vs AI System Development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Developing an AI System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AI Resume Scoring System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7"/>
          <p:cNvSpPr txBox="1"/>
          <p:nvPr>
            <p:ph type="title"/>
          </p:nvPr>
        </p:nvSpPr>
        <p:spPr>
          <a:xfrm>
            <a:off x="311700" y="1728125"/>
            <a:ext cx="8520600" cy="16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000"/>
              <a:t>AI Prompting vs</a:t>
            </a:r>
            <a:br>
              <a:rPr lang="en" sz="4000"/>
            </a:br>
            <a:r>
              <a:rPr lang="en" sz="4000"/>
              <a:t>AI System Development</a:t>
            </a:r>
            <a:endParaRPr sz="4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8"/>
          <p:cNvSpPr txBox="1"/>
          <p:nvPr/>
        </p:nvSpPr>
        <p:spPr>
          <a:xfrm>
            <a:off x="366925" y="508575"/>
            <a:ext cx="81513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</a:rPr>
              <a:t>Sometimes, we want to do something.</a:t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</a:rPr>
              <a:t>Like, for example — decide based on a job applicant’s resume whether they should be selected for a phone screen.</a:t>
            </a:r>
            <a:endParaRPr sz="2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9"/>
          <p:cNvSpPr/>
          <p:nvPr/>
        </p:nvSpPr>
        <p:spPr>
          <a:xfrm>
            <a:off x="3805700" y="665075"/>
            <a:ext cx="1887000" cy="1818600"/>
          </a:xfrm>
          <a:prstGeom prst="ellipse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Just read the resume</a:t>
            </a:r>
            <a:endParaRPr sz="1700"/>
          </a:p>
        </p:txBody>
      </p:sp>
      <p:sp>
        <p:nvSpPr>
          <p:cNvPr id="124" name="Google Shape;124;p29"/>
          <p:cNvSpPr/>
          <p:nvPr/>
        </p:nvSpPr>
        <p:spPr>
          <a:xfrm>
            <a:off x="6597725" y="665075"/>
            <a:ext cx="1887000" cy="18186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073763"/>
                </a:solidFill>
              </a:rPr>
              <a:t>Use software to filter the resume</a:t>
            </a:r>
            <a:endParaRPr sz="1700">
              <a:solidFill>
                <a:srgbClr val="073763"/>
              </a:solidFill>
            </a:endParaRPr>
          </a:p>
        </p:txBody>
      </p:sp>
      <p:sp>
        <p:nvSpPr>
          <p:cNvPr id="125" name="Google Shape;125;p29"/>
          <p:cNvSpPr/>
          <p:nvPr/>
        </p:nvSpPr>
        <p:spPr>
          <a:xfrm>
            <a:off x="5177125" y="2761675"/>
            <a:ext cx="1887000" cy="18186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20124D"/>
                </a:solidFill>
              </a:rPr>
              <a:t>Have an AI chatbot “read the resume”</a:t>
            </a:r>
            <a:endParaRPr sz="1700">
              <a:solidFill>
                <a:srgbClr val="20124D"/>
              </a:solidFill>
            </a:endParaRPr>
          </a:p>
        </p:txBody>
      </p:sp>
      <p:sp>
        <p:nvSpPr>
          <p:cNvPr id="126" name="Google Shape;126;p29"/>
          <p:cNvSpPr txBox="1"/>
          <p:nvPr>
            <p:ph type="title"/>
          </p:nvPr>
        </p:nvSpPr>
        <p:spPr>
          <a:xfrm>
            <a:off x="311700" y="224525"/>
            <a:ext cx="3663600" cy="69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options…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0"/>
          <p:cNvSpPr/>
          <p:nvPr/>
        </p:nvSpPr>
        <p:spPr>
          <a:xfrm>
            <a:off x="4572000" y="952000"/>
            <a:ext cx="3695400" cy="3505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4"/>
          </a:p>
        </p:txBody>
      </p:sp>
      <p:sp>
        <p:nvSpPr>
          <p:cNvPr id="132" name="Google Shape;132;p30"/>
          <p:cNvSpPr txBox="1"/>
          <p:nvPr>
            <p:ph type="title"/>
          </p:nvPr>
        </p:nvSpPr>
        <p:spPr>
          <a:xfrm>
            <a:off x="311700" y="224525"/>
            <a:ext cx="7156200" cy="6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said we’re focused on “AI Development”</a:t>
            </a:r>
            <a:endParaRPr/>
          </a:p>
        </p:txBody>
      </p:sp>
      <p:sp>
        <p:nvSpPr>
          <p:cNvPr id="133" name="Google Shape;133;p30"/>
          <p:cNvSpPr/>
          <p:nvPr/>
        </p:nvSpPr>
        <p:spPr>
          <a:xfrm>
            <a:off x="5983395" y="2496112"/>
            <a:ext cx="1699800" cy="16947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5"/>
              <a:t>Programmatic AI</a:t>
            </a:r>
            <a:endParaRPr sz="1305"/>
          </a:p>
        </p:txBody>
      </p:sp>
      <p:sp>
        <p:nvSpPr>
          <p:cNvPr id="134" name="Google Shape;134;p30"/>
          <p:cNvSpPr txBox="1"/>
          <p:nvPr/>
        </p:nvSpPr>
        <p:spPr>
          <a:xfrm>
            <a:off x="4592966" y="1769982"/>
            <a:ext cx="2702400" cy="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85200" lIns="85200" spcFirstLastPara="1" rIns="85200" wrap="square" tIns="852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84">
                <a:solidFill>
                  <a:srgbClr val="073763"/>
                </a:solidFill>
              </a:rPr>
              <a:t>Software</a:t>
            </a:r>
            <a:endParaRPr sz="1584">
              <a:solidFill>
                <a:srgbClr val="073763"/>
              </a:solidFill>
            </a:endParaRPr>
          </a:p>
        </p:txBody>
      </p:sp>
      <p:sp>
        <p:nvSpPr>
          <p:cNvPr id="135" name="Google Shape;135;p30"/>
          <p:cNvSpPr txBox="1"/>
          <p:nvPr>
            <p:ph type="title"/>
          </p:nvPr>
        </p:nvSpPr>
        <p:spPr>
          <a:xfrm>
            <a:off x="344825" y="1369800"/>
            <a:ext cx="3654000" cy="6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I will be referring to here as “developing AI systems”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1"/>
          <p:cNvSpPr/>
          <p:nvPr/>
        </p:nvSpPr>
        <p:spPr>
          <a:xfrm>
            <a:off x="4572000" y="952000"/>
            <a:ext cx="3695400" cy="3505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4"/>
          </a:p>
        </p:txBody>
      </p:sp>
      <p:sp>
        <p:nvSpPr>
          <p:cNvPr id="141" name="Google Shape;141;p31"/>
          <p:cNvSpPr txBox="1"/>
          <p:nvPr>
            <p:ph type="title"/>
          </p:nvPr>
        </p:nvSpPr>
        <p:spPr>
          <a:xfrm>
            <a:off x="311700" y="224525"/>
            <a:ext cx="7156200" cy="6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Did we gloss over AI prompting?</a:t>
            </a:r>
            <a:endParaRPr/>
          </a:p>
        </p:txBody>
      </p:sp>
      <p:sp>
        <p:nvSpPr>
          <p:cNvPr id="142" name="Google Shape;142;p31"/>
          <p:cNvSpPr/>
          <p:nvPr/>
        </p:nvSpPr>
        <p:spPr>
          <a:xfrm>
            <a:off x="5983395" y="2496112"/>
            <a:ext cx="1699800" cy="16947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5"/>
              <a:t>Programmatic AI</a:t>
            </a:r>
            <a:endParaRPr sz="1305"/>
          </a:p>
        </p:txBody>
      </p:sp>
      <p:sp>
        <p:nvSpPr>
          <p:cNvPr id="143" name="Google Shape;143;p31"/>
          <p:cNvSpPr txBox="1"/>
          <p:nvPr/>
        </p:nvSpPr>
        <p:spPr>
          <a:xfrm>
            <a:off x="4592966" y="1769982"/>
            <a:ext cx="2702400" cy="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85200" lIns="85200" spcFirstLastPara="1" rIns="85200" wrap="square" tIns="852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84">
                <a:solidFill>
                  <a:srgbClr val="073763"/>
                </a:solidFill>
              </a:rPr>
              <a:t>Software</a:t>
            </a:r>
            <a:endParaRPr sz="1584">
              <a:solidFill>
                <a:srgbClr val="073763"/>
              </a:solidFill>
            </a:endParaRPr>
          </a:p>
        </p:txBody>
      </p:sp>
      <p:sp>
        <p:nvSpPr>
          <p:cNvPr id="144" name="Google Shape;144;p31"/>
          <p:cNvSpPr/>
          <p:nvPr/>
        </p:nvSpPr>
        <p:spPr>
          <a:xfrm>
            <a:off x="1229825" y="2349300"/>
            <a:ext cx="1887000" cy="18186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rgbClr val="20124D"/>
                </a:solidFill>
              </a:rPr>
              <a:t>Have an AI chatbot “read the resume”</a:t>
            </a:r>
            <a:endParaRPr sz="1700">
              <a:solidFill>
                <a:srgbClr val="20124D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/>
          <p:nvPr/>
        </p:nvSpPr>
        <p:spPr>
          <a:xfrm>
            <a:off x="4572000" y="952000"/>
            <a:ext cx="3695400" cy="3505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4"/>
          </a:p>
        </p:txBody>
      </p:sp>
      <p:sp>
        <p:nvSpPr>
          <p:cNvPr id="150" name="Google Shape;150;p32"/>
          <p:cNvSpPr txBox="1"/>
          <p:nvPr>
            <p:ph type="title"/>
          </p:nvPr>
        </p:nvSpPr>
        <p:spPr>
          <a:xfrm>
            <a:off x="311700" y="224525"/>
            <a:ext cx="7156200" cy="6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Did we gloss over AI prompting?</a:t>
            </a:r>
            <a:endParaRPr/>
          </a:p>
        </p:txBody>
      </p:sp>
      <p:sp>
        <p:nvSpPr>
          <p:cNvPr id="151" name="Google Shape;151;p32"/>
          <p:cNvSpPr/>
          <p:nvPr/>
        </p:nvSpPr>
        <p:spPr>
          <a:xfrm>
            <a:off x="5983395" y="2496112"/>
            <a:ext cx="1699800" cy="16947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5"/>
              <a:t>Programmatic AI</a:t>
            </a:r>
            <a:endParaRPr sz="1305"/>
          </a:p>
        </p:txBody>
      </p:sp>
      <p:sp>
        <p:nvSpPr>
          <p:cNvPr id="152" name="Google Shape;152;p32"/>
          <p:cNvSpPr txBox="1"/>
          <p:nvPr/>
        </p:nvSpPr>
        <p:spPr>
          <a:xfrm>
            <a:off x="5054300" y="1539900"/>
            <a:ext cx="19398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85200" lIns="85200" spcFirstLastPara="1" rIns="85200" wrap="square" tIns="852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84">
                <a:solidFill>
                  <a:srgbClr val="073763"/>
                </a:solidFill>
              </a:rPr>
              <a:t>Deploying software to execute refined AI-enable processes.</a:t>
            </a:r>
            <a:endParaRPr sz="1584">
              <a:solidFill>
                <a:srgbClr val="073763"/>
              </a:solidFill>
            </a:endParaRPr>
          </a:p>
        </p:txBody>
      </p:sp>
      <p:sp>
        <p:nvSpPr>
          <p:cNvPr id="153" name="Google Shape;153;p32"/>
          <p:cNvSpPr/>
          <p:nvPr/>
        </p:nvSpPr>
        <p:spPr>
          <a:xfrm>
            <a:off x="444400" y="1085800"/>
            <a:ext cx="3256200" cy="31050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0124D"/>
              </a:solidFill>
            </a:endParaRPr>
          </a:p>
        </p:txBody>
      </p:sp>
      <p:sp>
        <p:nvSpPr>
          <p:cNvPr id="154" name="Google Shape;154;p32"/>
          <p:cNvSpPr txBox="1"/>
          <p:nvPr/>
        </p:nvSpPr>
        <p:spPr>
          <a:xfrm>
            <a:off x="870225" y="1559550"/>
            <a:ext cx="2541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0124D"/>
                </a:solidFill>
              </a:rPr>
              <a:t>Iterative AI prompting, generating a mix of transient and persistent documentation as code</a:t>
            </a:r>
            <a:endParaRPr sz="1500">
              <a:solidFill>
                <a:srgbClr val="20124D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/>
          <p:nvPr/>
        </p:nvSpPr>
        <p:spPr>
          <a:xfrm>
            <a:off x="4572000" y="952000"/>
            <a:ext cx="3695400" cy="3505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4"/>
          </a:p>
        </p:txBody>
      </p:sp>
      <p:sp>
        <p:nvSpPr>
          <p:cNvPr id="160" name="Google Shape;160;p33"/>
          <p:cNvSpPr txBox="1"/>
          <p:nvPr>
            <p:ph type="title"/>
          </p:nvPr>
        </p:nvSpPr>
        <p:spPr>
          <a:xfrm>
            <a:off x="311700" y="224525"/>
            <a:ext cx="7156200" cy="6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different are these approaches, really?</a:t>
            </a:r>
            <a:endParaRPr/>
          </a:p>
        </p:txBody>
      </p:sp>
      <p:sp>
        <p:nvSpPr>
          <p:cNvPr id="161" name="Google Shape;161;p33"/>
          <p:cNvSpPr/>
          <p:nvPr/>
        </p:nvSpPr>
        <p:spPr>
          <a:xfrm>
            <a:off x="5983395" y="2496112"/>
            <a:ext cx="1699800" cy="16947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5"/>
              <a:t>Programmatic AI</a:t>
            </a:r>
            <a:endParaRPr sz="1305"/>
          </a:p>
        </p:txBody>
      </p:sp>
      <p:sp>
        <p:nvSpPr>
          <p:cNvPr id="162" name="Google Shape;162;p33"/>
          <p:cNvSpPr txBox="1"/>
          <p:nvPr/>
        </p:nvSpPr>
        <p:spPr>
          <a:xfrm>
            <a:off x="5054300" y="1539900"/>
            <a:ext cx="19398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85200" lIns="85200" spcFirstLastPara="1" rIns="85200" wrap="square" tIns="852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84">
                <a:solidFill>
                  <a:srgbClr val="073763"/>
                </a:solidFill>
              </a:rPr>
              <a:t>Deploying software to execute refined AI-enable processes.</a:t>
            </a:r>
            <a:endParaRPr sz="1584">
              <a:solidFill>
                <a:srgbClr val="073763"/>
              </a:solidFill>
            </a:endParaRPr>
          </a:p>
        </p:txBody>
      </p:sp>
      <p:sp>
        <p:nvSpPr>
          <p:cNvPr id="163" name="Google Shape;163;p33"/>
          <p:cNvSpPr/>
          <p:nvPr/>
        </p:nvSpPr>
        <p:spPr>
          <a:xfrm>
            <a:off x="444400" y="1085800"/>
            <a:ext cx="3256200" cy="31050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0124D"/>
              </a:solidFill>
            </a:endParaRPr>
          </a:p>
        </p:txBody>
      </p:sp>
      <p:sp>
        <p:nvSpPr>
          <p:cNvPr id="164" name="Google Shape;164;p33"/>
          <p:cNvSpPr/>
          <p:nvPr/>
        </p:nvSpPr>
        <p:spPr>
          <a:xfrm>
            <a:off x="1553325" y="3509925"/>
            <a:ext cx="609000" cy="5916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4"/>
              <a:t>Code</a:t>
            </a:r>
            <a:endParaRPr sz="784"/>
          </a:p>
        </p:txBody>
      </p:sp>
      <p:sp>
        <p:nvSpPr>
          <p:cNvPr id="165" name="Google Shape;165;p33"/>
          <p:cNvSpPr txBox="1"/>
          <p:nvPr/>
        </p:nvSpPr>
        <p:spPr>
          <a:xfrm>
            <a:off x="870225" y="1559550"/>
            <a:ext cx="2541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0124D"/>
                </a:solidFill>
              </a:rPr>
              <a:t>Iterative AI prompting, generating a mix of transient and persistent documentation as code</a:t>
            </a:r>
            <a:endParaRPr sz="1500">
              <a:solidFill>
                <a:srgbClr val="20124D"/>
              </a:solidFill>
            </a:endParaRPr>
          </a:p>
        </p:txBody>
      </p:sp>
      <p:sp>
        <p:nvSpPr>
          <p:cNvPr id="166" name="Google Shape;166;p33"/>
          <p:cNvSpPr/>
          <p:nvPr/>
        </p:nvSpPr>
        <p:spPr>
          <a:xfrm>
            <a:off x="2639275" y="2875675"/>
            <a:ext cx="609000" cy="5916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4"/>
              <a:t>Code</a:t>
            </a:r>
            <a:endParaRPr sz="784"/>
          </a:p>
        </p:txBody>
      </p:sp>
      <p:sp>
        <p:nvSpPr>
          <p:cNvPr id="167" name="Google Shape;167;p33"/>
          <p:cNvSpPr/>
          <p:nvPr/>
        </p:nvSpPr>
        <p:spPr>
          <a:xfrm>
            <a:off x="1649600" y="2696350"/>
            <a:ext cx="609000" cy="5916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4"/>
              <a:t>Code</a:t>
            </a:r>
            <a:endParaRPr sz="784"/>
          </a:p>
        </p:txBody>
      </p:sp>
      <p:sp>
        <p:nvSpPr>
          <p:cNvPr id="168" name="Google Shape;168;p33"/>
          <p:cNvSpPr/>
          <p:nvPr/>
        </p:nvSpPr>
        <p:spPr>
          <a:xfrm>
            <a:off x="3269325" y="2227975"/>
            <a:ext cx="260700" cy="268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84"/>
          </a:p>
        </p:txBody>
      </p:sp>
      <p:sp>
        <p:nvSpPr>
          <p:cNvPr id="169" name="Google Shape;169;p33"/>
          <p:cNvSpPr/>
          <p:nvPr/>
        </p:nvSpPr>
        <p:spPr>
          <a:xfrm>
            <a:off x="711125" y="2667750"/>
            <a:ext cx="260700" cy="268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84"/>
          </a:p>
        </p:txBody>
      </p:sp>
      <p:sp>
        <p:nvSpPr>
          <p:cNvPr id="170" name="Google Shape;170;p33"/>
          <p:cNvSpPr txBox="1"/>
          <p:nvPr/>
        </p:nvSpPr>
        <p:spPr>
          <a:xfrm>
            <a:off x="420850" y="4190800"/>
            <a:ext cx="3428400" cy="6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Agentic chatbots will write and execute, so they may build significant “software”.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4"/>
          <p:cNvSpPr/>
          <p:nvPr/>
        </p:nvSpPr>
        <p:spPr>
          <a:xfrm>
            <a:off x="4572000" y="952000"/>
            <a:ext cx="3695400" cy="3505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84"/>
          </a:p>
        </p:txBody>
      </p:sp>
      <p:sp>
        <p:nvSpPr>
          <p:cNvPr id="176" name="Google Shape;176;p34"/>
          <p:cNvSpPr txBox="1"/>
          <p:nvPr>
            <p:ph type="title"/>
          </p:nvPr>
        </p:nvSpPr>
        <p:spPr>
          <a:xfrm>
            <a:off x="311700" y="224525"/>
            <a:ext cx="7156200" cy="6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different are these approaches, really?</a:t>
            </a:r>
            <a:endParaRPr/>
          </a:p>
        </p:txBody>
      </p:sp>
      <p:sp>
        <p:nvSpPr>
          <p:cNvPr id="177" name="Google Shape;177;p34"/>
          <p:cNvSpPr/>
          <p:nvPr/>
        </p:nvSpPr>
        <p:spPr>
          <a:xfrm>
            <a:off x="5983395" y="2496112"/>
            <a:ext cx="1699800" cy="16947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5"/>
              <a:t>Programmatic AI</a:t>
            </a:r>
            <a:endParaRPr sz="1305"/>
          </a:p>
        </p:txBody>
      </p:sp>
      <p:sp>
        <p:nvSpPr>
          <p:cNvPr id="178" name="Google Shape;178;p34"/>
          <p:cNvSpPr txBox="1"/>
          <p:nvPr/>
        </p:nvSpPr>
        <p:spPr>
          <a:xfrm>
            <a:off x="5054300" y="1539900"/>
            <a:ext cx="19398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85200" lIns="85200" spcFirstLastPara="1" rIns="85200" wrap="square" tIns="852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84">
                <a:solidFill>
                  <a:srgbClr val="073763"/>
                </a:solidFill>
              </a:rPr>
              <a:t>Deploying software to execute refined AI-enable processes.</a:t>
            </a:r>
            <a:endParaRPr sz="1584">
              <a:solidFill>
                <a:srgbClr val="073763"/>
              </a:solidFill>
            </a:endParaRPr>
          </a:p>
        </p:txBody>
      </p:sp>
      <p:sp>
        <p:nvSpPr>
          <p:cNvPr id="179" name="Google Shape;179;p34"/>
          <p:cNvSpPr/>
          <p:nvPr/>
        </p:nvSpPr>
        <p:spPr>
          <a:xfrm>
            <a:off x="444400" y="1085800"/>
            <a:ext cx="3256200" cy="3105000"/>
          </a:xfrm>
          <a:prstGeom prst="ellipse">
            <a:avLst/>
          </a:prstGeom>
          <a:solidFill>
            <a:srgbClr val="B4A7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0124D"/>
              </a:solidFill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1553325" y="3509925"/>
            <a:ext cx="609000" cy="5916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4"/>
              <a:t>Code</a:t>
            </a:r>
            <a:endParaRPr sz="784"/>
          </a:p>
        </p:txBody>
      </p:sp>
      <p:sp>
        <p:nvSpPr>
          <p:cNvPr id="181" name="Google Shape;181;p34"/>
          <p:cNvSpPr txBox="1"/>
          <p:nvPr/>
        </p:nvSpPr>
        <p:spPr>
          <a:xfrm>
            <a:off x="870225" y="1559550"/>
            <a:ext cx="2541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0124D"/>
                </a:solidFill>
              </a:rPr>
              <a:t>Iterative AI prompting, generating a mix of transient and persistent documentation as code</a:t>
            </a:r>
            <a:endParaRPr sz="1500">
              <a:solidFill>
                <a:srgbClr val="20124D"/>
              </a:solidFill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2639275" y="2875675"/>
            <a:ext cx="609000" cy="5916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4"/>
              <a:t>Code</a:t>
            </a:r>
            <a:endParaRPr sz="784"/>
          </a:p>
        </p:txBody>
      </p:sp>
      <p:sp>
        <p:nvSpPr>
          <p:cNvPr id="183" name="Google Shape;183;p34"/>
          <p:cNvSpPr/>
          <p:nvPr/>
        </p:nvSpPr>
        <p:spPr>
          <a:xfrm>
            <a:off x="1649600" y="2696350"/>
            <a:ext cx="609000" cy="5916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4"/>
              <a:t>Code</a:t>
            </a:r>
            <a:endParaRPr sz="784"/>
          </a:p>
        </p:txBody>
      </p:sp>
      <p:sp>
        <p:nvSpPr>
          <p:cNvPr id="184" name="Google Shape;184;p34"/>
          <p:cNvSpPr/>
          <p:nvPr/>
        </p:nvSpPr>
        <p:spPr>
          <a:xfrm>
            <a:off x="3269325" y="2227975"/>
            <a:ext cx="260700" cy="268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84"/>
          </a:p>
        </p:txBody>
      </p:sp>
      <p:sp>
        <p:nvSpPr>
          <p:cNvPr id="185" name="Google Shape;185;p34"/>
          <p:cNvSpPr/>
          <p:nvPr/>
        </p:nvSpPr>
        <p:spPr>
          <a:xfrm>
            <a:off x="711125" y="2667750"/>
            <a:ext cx="260700" cy="268200"/>
          </a:xfrm>
          <a:prstGeom prst="ellipse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85200" lIns="85200" spcFirstLastPara="1" rIns="85200" wrap="square" tIns="85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84"/>
          </a:p>
        </p:txBody>
      </p:sp>
      <p:sp>
        <p:nvSpPr>
          <p:cNvPr id="186" name="Google Shape;186;p34"/>
          <p:cNvSpPr/>
          <p:nvPr/>
        </p:nvSpPr>
        <p:spPr>
          <a:xfrm>
            <a:off x="4098962" y="3304835"/>
            <a:ext cx="1515900" cy="1443000"/>
          </a:xfrm>
          <a:prstGeom prst="ellipse">
            <a:avLst/>
          </a:prstGeom>
          <a:solidFill>
            <a:srgbClr val="EDE6FF"/>
          </a:solidFill>
          <a:ln>
            <a:noFill/>
          </a:ln>
        </p:spPr>
        <p:txBody>
          <a:bodyPr anchorCtr="0" anchor="ctr" bIns="89775" lIns="89775" spcFirstLastPara="1" rIns="89775" wrap="square" tIns="89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69">
                <a:solidFill>
                  <a:srgbClr val="8E7CC3"/>
                </a:solidFill>
              </a:rPr>
              <a:t>Coding agent</a:t>
            </a:r>
            <a:endParaRPr sz="1669">
              <a:solidFill>
                <a:srgbClr val="8E7CC3"/>
              </a:solidFill>
            </a:endParaRPr>
          </a:p>
        </p:txBody>
      </p:sp>
      <p:cxnSp>
        <p:nvCxnSpPr>
          <p:cNvPr id="187" name="Google Shape;187;p34"/>
          <p:cNvCxnSpPr>
            <a:stCxn id="186" idx="2"/>
            <a:endCxn id="175" idx="2"/>
          </p:cNvCxnSpPr>
          <p:nvPr/>
        </p:nvCxnSpPr>
        <p:spPr>
          <a:xfrm flipH="1" rot="10800000">
            <a:off x="4098962" y="2704535"/>
            <a:ext cx="473100" cy="1321800"/>
          </a:xfrm>
          <a:prstGeom prst="curvedConnector3">
            <a:avLst>
              <a:gd fmla="val -50333" name="adj1"/>
            </a:avLst>
          </a:prstGeom>
          <a:noFill/>
          <a:ln cap="flat" cmpd="sng" w="28575">
            <a:solidFill>
              <a:srgbClr val="D9D2E9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8" name="Google Shape;188;p34"/>
          <p:cNvSpPr txBox="1"/>
          <p:nvPr/>
        </p:nvSpPr>
        <p:spPr>
          <a:xfrm>
            <a:off x="420850" y="4190800"/>
            <a:ext cx="3428400" cy="6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Agentic chatbots will write and execute, so they may build significant software.</a:t>
            </a:r>
            <a:endParaRPr sz="1100"/>
          </a:p>
        </p:txBody>
      </p:sp>
      <p:sp>
        <p:nvSpPr>
          <p:cNvPr id="189" name="Google Shape;189;p34"/>
          <p:cNvSpPr txBox="1"/>
          <p:nvPr/>
        </p:nvSpPr>
        <p:spPr>
          <a:xfrm>
            <a:off x="5639050" y="4273125"/>
            <a:ext cx="3073500" cy="6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2"/>
                </a:solidFill>
              </a:rPr>
              <a:t>Contemporary software engineering is also a lot of AI prompting.</a:t>
            </a:r>
            <a:endParaRPr sz="1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5"/>
          <p:cNvSpPr txBox="1"/>
          <p:nvPr>
            <p:ph type="title"/>
          </p:nvPr>
        </p:nvSpPr>
        <p:spPr>
          <a:xfrm>
            <a:off x="311700" y="445025"/>
            <a:ext cx="8520600" cy="22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AI prompting</a:t>
            </a:r>
            <a:r>
              <a:rPr lang="en"/>
              <a:t> and </a:t>
            </a:r>
            <a:r>
              <a:rPr b="1" lang="en"/>
              <a:t>developing AI </a:t>
            </a:r>
            <a:r>
              <a:rPr b="1" lang="en"/>
              <a:t>systems</a:t>
            </a:r>
            <a:r>
              <a:rPr lang="en"/>
              <a:t> they are fundamentally different orientations towards a problem that will yield different results.</a:t>
            </a:r>
            <a:endParaRPr sz="3400"/>
          </a:p>
        </p:txBody>
      </p:sp>
      <p:sp>
        <p:nvSpPr>
          <p:cNvPr id="195" name="Google Shape;195;p35"/>
          <p:cNvSpPr txBox="1"/>
          <p:nvPr>
            <p:ph idx="1" type="body"/>
          </p:nvPr>
        </p:nvSpPr>
        <p:spPr>
          <a:xfrm>
            <a:off x="311700" y="2671525"/>
            <a:ext cx="8520600" cy="23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lang="en"/>
              <a:t>As of 2026, software still exists, and </a:t>
            </a:r>
            <a:r>
              <a:rPr b="1" lang="en"/>
              <a:t>stable, deployable software</a:t>
            </a:r>
            <a:r>
              <a:rPr lang="en"/>
              <a:t> is a different kind of output that has several advantages at the cost of being much more difficult to build.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Which is better?</a:t>
            </a:r>
            <a:endParaRPr sz="2800"/>
          </a:p>
        </p:txBody>
      </p:sp>
      <p:sp>
        <p:nvSpPr>
          <p:cNvPr id="201" name="Google Shape;201;p36"/>
          <p:cNvSpPr txBox="1"/>
          <p:nvPr>
            <p:ph idx="1" type="body"/>
          </p:nvPr>
        </p:nvSpPr>
        <p:spPr>
          <a:xfrm>
            <a:off x="311700" y="1589500"/>
            <a:ext cx="8520600" cy="3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b="1" lang="en"/>
              <a:t>Usually, prompting. </a:t>
            </a:r>
            <a:r>
              <a:rPr lang="en"/>
              <a:t>For 99% of situations like this, just prompt an AI.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b="1" lang="en"/>
              <a:t>When tackling the types of problems professional AI development teams face? </a:t>
            </a:r>
            <a:r>
              <a:rPr lang="en"/>
              <a:t>Often it’s worth building a real AI system</a:t>
            </a:r>
            <a:r>
              <a:rPr lang="en"/>
              <a:t>, which enables more consistency, more transparency, and better overall results for repeated tasks that will be performed by many people over time.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/>
          <p:nvPr/>
        </p:nvSpPr>
        <p:spPr>
          <a:xfrm>
            <a:off x="402336" y="1207008"/>
            <a:ext cx="39867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 prompting</a:t>
            </a:r>
            <a:endParaRPr/>
          </a:p>
        </p:txBody>
      </p:sp>
      <p:pic>
        <p:nvPicPr>
          <p:cNvPr descr="AI prompting, relative scores out of 6: Quality 3; Consistency 2; Transparency 1; Expertise needed 3; Investment needed 1." id="207" name="Google Shape;207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336" y="1700784"/>
            <a:ext cx="3986784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7"/>
          <p:cNvSpPr txBox="1"/>
          <p:nvPr/>
        </p:nvSpPr>
        <p:spPr>
          <a:xfrm>
            <a:off x="4754880" y="1207008"/>
            <a:ext cx="39867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 software systems</a:t>
            </a:r>
            <a:endParaRPr/>
          </a:p>
        </p:txBody>
      </p:sp>
      <p:pic>
        <p:nvPicPr>
          <p:cNvPr descr="AI software systems, relative scores out of 6: Quality 4; Consistency 5; Transparency 4; Expertise needed 5; Investment needed 6." id="209" name="Google Shape;209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0" y="1700784"/>
            <a:ext cx="3986784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Which is better?</a:t>
            </a:r>
            <a:endParaRPr sz="2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8"/>
          <p:cNvSpPr txBox="1"/>
          <p:nvPr>
            <p:ph type="title"/>
          </p:nvPr>
        </p:nvSpPr>
        <p:spPr>
          <a:xfrm>
            <a:off x="311700" y="445025"/>
            <a:ext cx="8520600" cy="29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/>
              <a:t>AI prompting</a:t>
            </a:r>
            <a:r>
              <a:rPr lang="en"/>
              <a:t> is a deep and important skill that is valuable across many roles and industries.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en"/>
              <a:t>AI system development </a:t>
            </a:r>
            <a:r>
              <a:rPr lang="en"/>
              <a:t>requires more specialized expertise, is harder to find, and is the focus of this course.</a:t>
            </a:r>
            <a:endParaRPr sz="2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9"/>
          <p:cNvSpPr txBox="1"/>
          <p:nvPr>
            <p:ph type="title"/>
          </p:nvPr>
        </p:nvSpPr>
        <p:spPr>
          <a:xfrm>
            <a:off x="311700" y="1728125"/>
            <a:ext cx="8520600" cy="168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000"/>
              <a:t>Developing an AI System</a:t>
            </a:r>
            <a:endParaRPr sz="4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a fully realized system may look like…</a:t>
            </a:r>
            <a:endParaRPr sz="2800"/>
          </a:p>
        </p:txBody>
      </p:sp>
      <p:sp>
        <p:nvSpPr>
          <p:cNvPr id="226" name="Google Shape;226;p40"/>
          <p:cNvSpPr/>
          <p:nvPr/>
        </p:nvSpPr>
        <p:spPr>
          <a:xfrm>
            <a:off x="2298150" y="3558425"/>
            <a:ext cx="60018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User interface</a:t>
            </a:r>
            <a:endParaRPr sz="1500"/>
          </a:p>
        </p:txBody>
      </p:sp>
      <p:sp>
        <p:nvSpPr>
          <p:cNvPr id="227" name="Google Shape;227;p40"/>
          <p:cNvSpPr/>
          <p:nvPr/>
        </p:nvSpPr>
        <p:spPr>
          <a:xfrm>
            <a:off x="492775" y="2985725"/>
            <a:ext cx="35871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Resume ingestion pipeline</a:t>
            </a:r>
            <a:endParaRPr sz="1500"/>
          </a:p>
        </p:txBody>
      </p:sp>
      <p:sp>
        <p:nvSpPr>
          <p:cNvPr id="228" name="Google Shape;228;p40"/>
          <p:cNvSpPr/>
          <p:nvPr/>
        </p:nvSpPr>
        <p:spPr>
          <a:xfrm>
            <a:off x="492775" y="3558425"/>
            <a:ext cx="18054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Connector to existing HR software</a:t>
            </a:r>
            <a:endParaRPr sz="1300"/>
          </a:p>
        </p:txBody>
      </p:sp>
      <p:sp>
        <p:nvSpPr>
          <p:cNvPr id="229" name="Google Shape;229;p40"/>
          <p:cNvSpPr/>
          <p:nvPr/>
        </p:nvSpPr>
        <p:spPr>
          <a:xfrm>
            <a:off x="4079875" y="2985725"/>
            <a:ext cx="20649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User options</a:t>
            </a:r>
            <a:endParaRPr sz="1500"/>
          </a:p>
        </p:txBody>
      </p:sp>
      <p:sp>
        <p:nvSpPr>
          <p:cNvPr id="230" name="Google Shape;230;p40"/>
          <p:cNvSpPr/>
          <p:nvPr/>
        </p:nvSpPr>
        <p:spPr>
          <a:xfrm>
            <a:off x="6100482" y="2985725"/>
            <a:ext cx="21996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Accounts &amp; authentication</a:t>
            </a:r>
            <a:endParaRPr sz="1300"/>
          </a:p>
        </p:txBody>
      </p:sp>
      <p:sp>
        <p:nvSpPr>
          <p:cNvPr id="231" name="Google Shape;231;p40"/>
          <p:cNvSpPr/>
          <p:nvPr/>
        </p:nvSpPr>
        <p:spPr>
          <a:xfrm>
            <a:off x="1081350" y="2413025"/>
            <a:ext cx="24690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Raw resume database</a:t>
            </a:r>
            <a:endParaRPr sz="1500"/>
          </a:p>
        </p:txBody>
      </p:sp>
      <p:sp>
        <p:nvSpPr>
          <p:cNvPr id="232" name="Google Shape;232;p40"/>
          <p:cNvSpPr/>
          <p:nvPr/>
        </p:nvSpPr>
        <p:spPr>
          <a:xfrm>
            <a:off x="3550329" y="2413025"/>
            <a:ext cx="17799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AI-based resume annotations</a:t>
            </a:r>
            <a:endParaRPr sz="1300"/>
          </a:p>
        </p:txBody>
      </p:sp>
      <p:sp>
        <p:nvSpPr>
          <p:cNvPr id="233" name="Google Shape;233;p40"/>
          <p:cNvSpPr/>
          <p:nvPr/>
        </p:nvSpPr>
        <p:spPr>
          <a:xfrm>
            <a:off x="5330348" y="2413025"/>
            <a:ext cx="13467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Manual resume database</a:t>
            </a:r>
            <a:endParaRPr sz="1300"/>
          </a:p>
        </p:txBody>
      </p:sp>
      <p:sp>
        <p:nvSpPr>
          <p:cNvPr id="234" name="Google Shape;234;p40"/>
          <p:cNvSpPr/>
          <p:nvPr/>
        </p:nvSpPr>
        <p:spPr>
          <a:xfrm>
            <a:off x="6677050" y="2413025"/>
            <a:ext cx="9561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Jobs database</a:t>
            </a:r>
            <a:endParaRPr sz="1300"/>
          </a:p>
        </p:txBody>
      </p:sp>
      <p:sp>
        <p:nvSpPr>
          <p:cNvPr id="235" name="Google Shape;235;p40"/>
          <p:cNvSpPr/>
          <p:nvPr/>
        </p:nvSpPr>
        <p:spPr>
          <a:xfrm>
            <a:off x="1799475" y="1840325"/>
            <a:ext cx="25323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AI prompts</a:t>
            </a:r>
            <a:endParaRPr sz="1500"/>
          </a:p>
        </p:txBody>
      </p:sp>
      <p:sp>
        <p:nvSpPr>
          <p:cNvPr id="236" name="Google Shape;236;p40"/>
          <p:cNvSpPr/>
          <p:nvPr/>
        </p:nvSpPr>
        <p:spPr>
          <a:xfrm>
            <a:off x="4301350" y="1840325"/>
            <a:ext cx="25764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AI harness</a:t>
            </a:r>
            <a:endParaRPr sz="1500"/>
          </a:p>
        </p:txBody>
      </p:sp>
      <p:sp>
        <p:nvSpPr>
          <p:cNvPr id="237" name="Google Shape;237;p40"/>
          <p:cNvSpPr/>
          <p:nvPr/>
        </p:nvSpPr>
        <p:spPr>
          <a:xfrm>
            <a:off x="2918639" y="1267625"/>
            <a:ext cx="27978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External LLM calls</a:t>
            </a:r>
            <a:endParaRPr sz="15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a fully realized system may look like…</a:t>
            </a:r>
            <a:endParaRPr sz="2800"/>
          </a:p>
        </p:txBody>
      </p:sp>
      <p:sp>
        <p:nvSpPr>
          <p:cNvPr id="243" name="Google Shape;243;p41"/>
          <p:cNvSpPr/>
          <p:nvPr/>
        </p:nvSpPr>
        <p:spPr>
          <a:xfrm>
            <a:off x="2298150" y="3558425"/>
            <a:ext cx="60018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User interface</a:t>
            </a:r>
            <a:endParaRPr sz="1500"/>
          </a:p>
        </p:txBody>
      </p:sp>
      <p:sp>
        <p:nvSpPr>
          <p:cNvPr id="244" name="Google Shape;244;p41"/>
          <p:cNvSpPr/>
          <p:nvPr/>
        </p:nvSpPr>
        <p:spPr>
          <a:xfrm>
            <a:off x="492775" y="2985725"/>
            <a:ext cx="35871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Resume ingestion pipeline</a:t>
            </a:r>
            <a:endParaRPr sz="1500"/>
          </a:p>
        </p:txBody>
      </p:sp>
      <p:sp>
        <p:nvSpPr>
          <p:cNvPr id="245" name="Google Shape;245;p41"/>
          <p:cNvSpPr/>
          <p:nvPr/>
        </p:nvSpPr>
        <p:spPr>
          <a:xfrm>
            <a:off x="492775" y="3558425"/>
            <a:ext cx="18054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Connector to existing HR software</a:t>
            </a:r>
            <a:endParaRPr sz="1300"/>
          </a:p>
        </p:txBody>
      </p:sp>
      <p:sp>
        <p:nvSpPr>
          <p:cNvPr id="246" name="Google Shape;246;p41"/>
          <p:cNvSpPr/>
          <p:nvPr/>
        </p:nvSpPr>
        <p:spPr>
          <a:xfrm>
            <a:off x="4079875" y="2985725"/>
            <a:ext cx="20649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User options</a:t>
            </a:r>
            <a:endParaRPr sz="1500"/>
          </a:p>
        </p:txBody>
      </p:sp>
      <p:sp>
        <p:nvSpPr>
          <p:cNvPr id="247" name="Google Shape;247;p41"/>
          <p:cNvSpPr/>
          <p:nvPr/>
        </p:nvSpPr>
        <p:spPr>
          <a:xfrm>
            <a:off x="6100482" y="2985725"/>
            <a:ext cx="21996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Accounts &amp; authentication</a:t>
            </a:r>
            <a:endParaRPr sz="1300"/>
          </a:p>
        </p:txBody>
      </p:sp>
      <p:sp>
        <p:nvSpPr>
          <p:cNvPr id="248" name="Google Shape;248;p41"/>
          <p:cNvSpPr/>
          <p:nvPr/>
        </p:nvSpPr>
        <p:spPr>
          <a:xfrm>
            <a:off x="1081350" y="2413025"/>
            <a:ext cx="24690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Raw resume database</a:t>
            </a:r>
            <a:endParaRPr sz="1500"/>
          </a:p>
        </p:txBody>
      </p:sp>
      <p:sp>
        <p:nvSpPr>
          <p:cNvPr id="249" name="Google Shape;249;p41"/>
          <p:cNvSpPr/>
          <p:nvPr/>
        </p:nvSpPr>
        <p:spPr>
          <a:xfrm>
            <a:off x="3550329" y="2413025"/>
            <a:ext cx="17799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AI-based resume annotations</a:t>
            </a:r>
            <a:endParaRPr sz="1300"/>
          </a:p>
        </p:txBody>
      </p:sp>
      <p:sp>
        <p:nvSpPr>
          <p:cNvPr id="250" name="Google Shape;250;p41"/>
          <p:cNvSpPr/>
          <p:nvPr/>
        </p:nvSpPr>
        <p:spPr>
          <a:xfrm>
            <a:off x="5330348" y="2413025"/>
            <a:ext cx="13467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Manual resume database</a:t>
            </a:r>
            <a:endParaRPr sz="1300"/>
          </a:p>
        </p:txBody>
      </p:sp>
      <p:sp>
        <p:nvSpPr>
          <p:cNvPr id="251" name="Google Shape;251;p41"/>
          <p:cNvSpPr/>
          <p:nvPr/>
        </p:nvSpPr>
        <p:spPr>
          <a:xfrm>
            <a:off x="6677050" y="2413025"/>
            <a:ext cx="9561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Jobs database</a:t>
            </a:r>
            <a:endParaRPr sz="1300"/>
          </a:p>
        </p:txBody>
      </p:sp>
      <p:sp>
        <p:nvSpPr>
          <p:cNvPr id="252" name="Google Shape;252;p41"/>
          <p:cNvSpPr/>
          <p:nvPr/>
        </p:nvSpPr>
        <p:spPr>
          <a:xfrm>
            <a:off x="1799475" y="1840325"/>
            <a:ext cx="25323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AI prompts</a:t>
            </a:r>
            <a:endParaRPr sz="1500"/>
          </a:p>
        </p:txBody>
      </p:sp>
      <p:sp>
        <p:nvSpPr>
          <p:cNvPr id="253" name="Google Shape;253;p41"/>
          <p:cNvSpPr/>
          <p:nvPr/>
        </p:nvSpPr>
        <p:spPr>
          <a:xfrm>
            <a:off x="4301350" y="1840325"/>
            <a:ext cx="25764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AI harness</a:t>
            </a:r>
            <a:endParaRPr sz="1500"/>
          </a:p>
        </p:txBody>
      </p:sp>
      <p:sp>
        <p:nvSpPr>
          <p:cNvPr id="254" name="Google Shape;254;p41"/>
          <p:cNvSpPr/>
          <p:nvPr/>
        </p:nvSpPr>
        <p:spPr>
          <a:xfrm>
            <a:off x="2918639" y="1267625"/>
            <a:ext cx="27978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External LLM calls</a:t>
            </a:r>
            <a:endParaRPr sz="1500"/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1127850" y="1980000"/>
            <a:ext cx="6416700" cy="1155300"/>
          </a:xfrm>
          <a:prstGeom prst="rect">
            <a:avLst/>
          </a:prstGeom>
          <a:solidFill>
            <a:srgbClr val="FFFFFF">
              <a:alpha val="9125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b="1" lang="en" sz="1600"/>
              <a:t>Building all of this will take a long time, and you may or may not like the thing you built at the end, because you won’t know if the functionality is effective. </a:t>
            </a:r>
            <a:endParaRPr b="1"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“Agile Development”</a:t>
            </a:r>
            <a:endParaRPr sz="2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Building a vertical slice</a:t>
            </a:r>
            <a:endParaRPr sz="2800"/>
          </a:p>
        </p:txBody>
      </p:sp>
      <p:sp>
        <p:nvSpPr>
          <p:cNvPr id="266" name="Google Shape;266;p43"/>
          <p:cNvSpPr/>
          <p:nvPr/>
        </p:nvSpPr>
        <p:spPr>
          <a:xfrm>
            <a:off x="2298150" y="3558425"/>
            <a:ext cx="60018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User interface</a:t>
            </a:r>
            <a:endParaRPr sz="1500"/>
          </a:p>
        </p:txBody>
      </p:sp>
      <p:sp>
        <p:nvSpPr>
          <p:cNvPr id="267" name="Google Shape;267;p43"/>
          <p:cNvSpPr/>
          <p:nvPr/>
        </p:nvSpPr>
        <p:spPr>
          <a:xfrm>
            <a:off x="492775" y="2985725"/>
            <a:ext cx="35871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Resume ingestion pipeline</a:t>
            </a:r>
            <a:endParaRPr sz="1500"/>
          </a:p>
        </p:txBody>
      </p:sp>
      <p:sp>
        <p:nvSpPr>
          <p:cNvPr id="268" name="Google Shape;268;p43"/>
          <p:cNvSpPr/>
          <p:nvPr/>
        </p:nvSpPr>
        <p:spPr>
          <a:xfrm>
            <a:off x="492775" y="3558425"/>
            <a:ext cx="18054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Connector to existing HR software</a:t>
            </a:r>
            <a:endParaRPr sz="1300"/>
          </a:p>
        </p:txBody>
      </p:sp>
      <p:sp>
        <p:nvSpPr>
          <p:cNvPr id="269" name="Google Shape;269;p43"/>
          <p:cNvSpPr/>
          <p:nvPr/>
        </p:nvSpPr>
        <p:spPr>
          <a:xfrm>
            <a:off x="4079875" y="2985725"/>
            <a:ext cx="20649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User options</a:t>
            </a:r>
            <a:endParaRPr sz="1500"/>
          </a:p>
        </p:txBody>
      </p:sp>
      <p:sp>
        <p:nvSpPr>
          <p:cNvPr id="270" name="Google Shape;270;p43"/>
          <p:cNvSpPr/>
          <p:nvPr/>
        </p:nvSpPr>
        <p:spPr>
          <a:xfrm>
            <a:off x="6100482" y="2985725"/>
            <a:ext cx="21996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Accounts &amp; authentication</a:t>
            </a:r>
            <a:endParaRPr sz="1300"/>
          </a:p>
        </p:txBody>
      </p:sp>
      <p:sp>
        <p:nvSpPr>
          <p:cNvPr id="271" name="Google Shape;271;p43"/>
          <p:cNvSpPr/>
          <p:nvPr/>
        </p:nvSpPr>
        <p:spPr>
          <a:xfrm>
            <a:off x="1081350" y="2413025"/>
            <a:ext cx="24690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Raw resume database</a:t>
            </a:r>
            <a:endParaRPr sz="1500"/>
          </a:p>
        </p:txBody>
      </p:sp>
      <p:sp>
        <p:nvSpPr>
          <p:cNvPr id="272" name="Google Shape;272;p43"/>
          <p:cNvSpPr/>
          <p:nvPr/>
        </p:nvSpPr>
        <p:spPr>
          <a:xfrm>
            <a:off x="3550329" y="2413025"/>
            <a:ext cx="17799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AI-based resume annotations</a:t>
            </a:r>
            <a:endParaRPr sz="1300"/>
          </a:p>
        </p:txBody>
      </p:sp>
      <p:sp>
        <p:nvSpPr>
          <p:cNvPr id="273" name="Google Shape;273;p43"/>
          <p:cNvSpPr/>
          <p:nvPr/>
        </p:nvSpPr>
        <p:spPr>
          <a:xfrm>
            <a:off x="5330348" y="2413025"/>
            <a:ext cx="13467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Manual resume database</a:t>
            </a:r>
            <a:endParaRPr sz="1300"/>
          </a:p>
        </p:txBody>
      </p:sp>
      <p:sp>
        <p:nvSpPr>
          <p:cNvPr id="274" name="Google Shape;274;p43"/>
          <p:cNvSpPr/>
          <p:nvPr/>
        </p:nvSpPr>
        <p:spPr>
          <a:xfrm>
            <a:off x="6677050" y="2413025"/>
            <a:ext cx="9561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Jobs database</a:t>
            </a:r>
            <a:endParaRPr sz="1300"/>
          </a:p>
        </p:txBody>
      </p:sp>
      <p:sp>
        <p:nvSpPr>
          <p:cNvPr id="275" name="Google Shape;275;p43"/>
          <p:cNvSpPr/>
          <p:nvPr/>
        </p:nvSpPr>
        <p:spPr>
          <a:xfrm>
            <a:off x="1799475" y="1840325"/>
            <a:ext cx="25323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AI prompts</a:t>
            </a:r>
            <a:endParaRPr sz="1500"/>
          </a:p>
        </p:txBody>
      </p:sp>
      <p:sp>
        <p:nvSpPr>
          <p:cNvPr id="276" name="Google Shape;276;p43"/>
          <p:cNvSpPr/>
          <p:nvPr/>
        </p:nvSpPr>
        <p:spPr>
          <a:xfrm>
            <a:off x="4301350" y="1840325"/>
            <a:ext cx="25764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AI harness</a:t>
            </a:r>
            <a:endParaRPr sz="1500"/>
          </a:p>
        </p:txBody>
      </p:sp>
      <p:sp>
        <p:nvSpPr>
          <p:cNvPr id="277" name="Google Shape;277;p43"/>
          <p:cNvSpPr/>
          <p:nvPr/>
        </p:nvSpPr>
        <p:spPr>
          <a:xfrm>
            <a:off x="2918639" y="1267625"/>
            <a:ext cx="2797800" cy="572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External LLM calls</a:t>
            </a:r>
            <a:endParaRPr sz="1500"/>
          </a:p>
        </p:txBody>
      </p:sp>
      <p:sp>
        <p:nvSpPr>
          <p:cNvPr id="278" name="Google Shape;278;p43"/>
          <p:cNvSpPr/>
          <p:nvPr/>
        </p:nvSpPr>
        <p:spPr>
          <a:xfrm rot="289015">
            <a:off x="3060175" y="1085860"/>
            <a:ext cx="214357" cy="3357615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What is a Vertical Slice?</a:t>
            </a:r>
            <a:endParaRPr sz="2800"/>
          </a:p>
        </p:txBody>
      </p:sp>
      <p:sp>
        <p:nvSpPr>
          <p:cNvPr id="284" name="Google Shape;284;p44"/>
          <p:cNvSpPr txBox="1"/>
          <p:nvPr>
            <p:ph idx="1" type="body"/>
          </p:nvPr>
        </p:nvSpPr>
        <p:spPr>
          <a:xfrm>
            <a:off x="311700" y="1152475"/>
            <a:ext cx="84285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800"/>
              <a:t>A vertical slice</a:t>
            </a:r>
            <a:r>
              <a:rPr lang="en" sz="1800"/>
              <a:t>: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Contains </a:t>
            </a:r>
            <a:r>
              <a:rPr b="1" lang="en" sz="1800"/>
              <a:t>everything</a:t>
            </a:r>
            <a:r>
              <a:rPr lang="en" sz="1800"/>
              <a:t> needed to go from top to bottom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Works on a </a:t>
            </a:r>
            <a:r>
              <a:rPr b="1" lang="en" sz="1800"/>
              <a:t>subset</a:t>
            </a:r>
            <a:r>
              <a:rPr lang="en" sz="1800"/>
              <a:t> of inputs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Proves the </a:t>
            </a:r>
            <a:r>
              <a:rPr b="1" lang="en" sz="1800"/>
              <a:t>end-to-end flow</a:t>
            </a:r>
            <a:r>
              <a:rPr lang="en" sz="1800"/>
              <a:t> works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Is the </a:t>
            </a:r>
            <a:r>
              <a:rPr b="1" lang="en" sz="1800"/>
              <a:t>simplest possible</a:t>
            </a:r>
            <a:r>
              <a:rPr lang="en" sz="1800"/>
              <a:t> complete solution</a:t>
            </a:r>
            <a:br>
              <a:rPr lang="en" sz="1800"/>
            </a:b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800"/>
              <a:t>When we build AI systems, we want to start with vertical slices.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The Opposite: Horizontal Development</a:t>
            </a:r>
            <a:endParaRPr sz="2800"/>
          </a:p>
        </p:txBody>
      </p:sp>
      <p:sp>
        <p:nvSpPr>
          <p:cNvPr id="290" name="Google Shape;290;p45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960"/>
              </a:spcBef>
              <a:spcAft>
                <a:spcPts val="0"/>
              </a:spcAft>
              <a:buSzPts val="1800"/>
              <a:buNone/>
            </a:pPr>
            <a:r>
              <a:rPr b="1" lang="en" sz="1600"/>
              <a:t>Horizontal development</a:t>
            </a:r>
            <a:r>
              <a:rPr lang="en" sz="1600"/>
              <a:t> means:</a:t>
            </a:r>
            <a:endParaRPr sz="1600"/>
          </a:p>
          <a:p>
            <a:pPr indent="-3429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Building for </a:t>
            </a:r>
            <a:r>
              <a:rPr b="1" lang="en" sz="1600"/>
              <a:t>all contingencies</a:t>
            </a:r>
            <a:r>
              <a:rPr lang="en" sz="1600"/>
              <a:t> at each level</a:t>
            </a:r>
            <a:endParaRPr sz="1600"/>
          </a:p>
          <a:p>
            <a:pPr indent="-3429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Handling </a:t>
            </a:r>
            <a:r>
              <a:rPr b="1" lang="en" sz="1600"/>
              <a:t>every possibility</a:t>
            </a:r>
            <a:r>
              <a:rPr lang="en" sz="1600"/>
              <a:t> before moving forward</a:t>
            </a:r>
            <a:endParaRPr sz="1600"/>
          </a:p>
          <a:p>
            <a:pPr indent="-3429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Creating </a:t>
            </a:r>
            <a:r>
              <a:rPr b="1" lang="en" sz="1600"/>
              <a:t>complete infrastructure</a:t>
            </a:r>
            <a:r>
              <a:rPr lang="en" sz="1600"/>
              <a:t> before testing end-to-end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960"/>
              </a:spcBef>
              <a:spcAft>
                <a:spcPts val="0"/>
              </a:spcAft>
              <a:buSzPts val="1800"/>
              <a:buNone/>
            </a:pPr>
            <a:r>
              <a:rPr b="1" lang="en" sz="1600"/>
              <a:t>Problem</a:t>
            </a:r>
            <a:r>
              <a:rPr lang="en" sz="1600"/>
              <a:t>: You spend weeks building infrastructure before knowing if the core idea works!</a:t>
            </a:r>
            <a:endParaRPr sz="16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Example Problem: Time Series Analysis</a:t>
            </a:r>
            <a:endParaRPr sz="2800"/>
          </a:p>
        </p:txBody>
      </p:sp>
      <p:sp>
        <p:nvSpPr>
          <p:cNvPr id="296" name="Google Shape;296;p46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800"/>
              <a:t>Task</a:t>
            </a:r>
            <a:r>
              <a:rPr lang="en" sz="1800"/>
              <a:t>: Run a regression on 25 datasets</a:t>
            </a:r>
            <a:br>
              <a:rPr lang="en" sz="1800"/>
            </a:b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800"/>
              <a:t>Context</a:t>
            </a:r>
            <a:r>
              <a:rPr lang="en" sz="1800"/>
              <a:t>: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have data from 25 countries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Each CSV contains education and GDP data over time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want to run a time series analysis on the relationship</a:t>
            </a:r>
            <a:br>
              <a:rPr lang="en" sz="1800"/>
            </a:b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800"/>
              <a:t>Question</a:t>
            </a:r>
            <a:r>
              <a:rPr lang="en" sz="1800"/>
              <a:t>: How do we break this down?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Time Series Analysis</a:t>
            </a:r>
            <a:r>
              <a:rPr lang="en" sz="2800"/>
              <a:t>: Complete Problem</a:t>
            </a:r>
            <a:endParaRPr sz="2800"/>
          </a:p>
        </p:txBody>
      </p:sp>
      <p:sp>
        <p:nvSpPr>
          <p:cNvPr id="302" name="Google Shape;302;p47"/>
          <p:cNvSpPr txBox="1"/>
          <p:nvPr>
            <p:ph idx="1" type="body"/>
          </p:nvPr>
        </p:nvSpPr>
        <p:spPr>
          <a:xfrm>
            <a:off x="311700" y="4333900"/>
            <a:ext cx="85206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lang="en" sz="1800"/>
              <a:t>This is the </a:t>
            </a:r>
            <a:r>
              <a:rPr b="1" lang="en" sz="1800"/>
              <a:t>complete problem</a:t>
            </a:r>
            <a:r>
              <a:rPr lang="en" sz="1800"/>
              <a:t>, but where do we start?</a:t>
            </a:r>
            <a:endParaRPr sz="1800"/>
          </a:p>
        </p:txBody>
      </p:sp>
      <p:pic>
        <p:nvPicPr>
          <p:cNvPr id="303" name="Google Shape;30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0300" y="1170125"/>
            <a:ext cx="2318491" cy="301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Time Series Analysis: Complete Problem</a:t>
            </a:r>
            <a:endParaRPr/>
          </a:p>
        </p:txBody>
      </p:sp>
      <p:sp>
        <p:nvSpPr>
          <p:cNvPr id="309" name="Google Shape;309;p48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700"/>
              <a:t>Any of these items could require multiple rounds of iteration &amp; problem solving:</a:t>
            </a:r>
            <a:endParaRPr sz="1700"/>
          </a:p>
          <a:p>
            <a:pPr indent="-33655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700"/>
              <a:buChar char="●"/>
            </a:pPr>
            <a:r>
              <a:rPr b="1" lang="en" sz="1700"/>
              <a:t>Load Data</a:t>
            </a:r>
            <a:r>
              <a:rPr lang="en" sz="1700"/>
              <a:t>: What format for each column? How to handle dates? Any transformations?</a:t>
            </a:r>
            <a:endParaRPr sz="1700"/>
          </a:p>
          <a:p>
            <a:pPr indent="-33655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700"/>
              <a:buChar char="●"/>
            </a:pPr>
            <a:r>
              <a:rPr b="1" lang="en" sz="1700"/>
              <a:t>Clean Data</a:t>
            </a:r>
            <a:r>
              <a:rPr lang="en" sz="1700"/>
              <a:t>: What cleaning steps? How do we handle missing values?</a:t>
            </a:r>
            <a:endParaRPr sz="1700"/>
          </a:p>
          <a:p>
            <a:pPr indent="-33655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700"/>
              <a:buChar char="●"/>
            </a:pPr>
            <a:r>
              <a:rPr b="1" lang="en" sz="1700"/>
              <a:t>Run Regression</a:t>
            </a:r>
            <a:r>
              <a:rPr lang="en" sz="1700"/>
              <a:t>: What type? Linear? Time series?</a:t>
            </a:r>
            <a:endParaRPr sz="1700"/>
          </a:p>
          <a:p>
            <a:pPr indent="-33655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700"/>
              <a:buChar char="●"/>
            </a:pPr>
            <a:r>
              <a:rPr b="1" lang="en" sz="1700"/>
              <a:t>Present Output</a:t>
            </a:r>
            <a:r>
              <a:rPr lang="en" sz="1700"/>
              <a:t>: Table? Graph? JSON? What metrics?</a:t>
            </a:r>
            <a:br>
              <a:rPr lang="en" sz="1700"/>
            </a:b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700"/>
              <a:t>This is the complete problem, but we never want to start here!</a:t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lang="en" sz="1700"/>
              <a:t>We want to start with a </a:t>
            </a:r>
            <a:r>
              <a:rPr b="1" lang="en" sz="1700"/>
              <a:t>vertical slice</a:t>
            </a:r>
            <a:r>
              <a:rPr lang="en" sz="1700"/>
              <a:t>.</a:t>
            </a:r>
            <a:endParaRPr sz="17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Time Series Analysis: Vertical Slice</a:t>
            </a:r>
            <a:endParaRPr sz="2800"/>
          </a:p>
        </p:txBody>
      </p:sp>
      <p:sp>
        <p:nvSpPr>
          <p:cNvPr id="315" name="Google Shape;315;p49"/>
          <p:cNvSpPr txBox="1"/>
          <p:nvPr>
            <p:ph idx="1" type="body"/>
          </p:nvPr>
        </p:nvSpPr>
        <p:spPr>
          <a:xfrm>
            <a:off x="311700" y="4315725"/>
            <a:ext cx="8520600" cy="6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800"/>
              <a:t>This proves it works end-to-end with minimal effort!</a:t>
            </a:r>
            <a:endParaRPr sz="1800"/>
          </a:p>
        </p:txBody>
      </p:sp>
      <p:pic>
        <p:nvPicPr>
          <p:cNvPr id="316" name="Google Shape;31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1275" y="1170125"/>
            <a:ext cx="2451994" cy="299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Vertical slices actually enable MORE planning ahead</a:t>
            </a:r>
            <a:endParaRPr sz="2800"/>
          </a:p>
        </p:txBody>
      </p:sp>
      <p:sp>
        <p:nvSpPr>
          <p:cNvPr id="322" name="Google Shape;322;p50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lang="en" sz="1800"/>
              <a:t>Before coding, we need to </a:t>
            </a:r>
            <a:r>
              <a:rPr b="1" lang="en" sz="1800"/>
              <a:t>think systematically</a:t>
            </a:r>
            <a:r>
              <a:rPr lang="en" sz="1800"/>
              <a:t>:</a:t>
            </a:r>
            <a:endParaRPr sz="1800"/>
          </a:p>
          <a:p>
            <a:pPr indent="-3365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How do we abstract and organize our code?</a:t>
            </a:r>
            <a:endParaRPr sz="1700"/>
          </a:p>
          <a:p>
            <a:pPr indent="-3365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How do we break tasks into inputs and outputs?</a:t>
            </a:r>
            <a:endParaRPr sz="1700"/>
          </a:p>
          <a:p>
            <a:pPr indent="-3365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How do we organize these into functions?</a:t>
            </a:r>
            <a:endParaRPr sz="1700"/>
          </a:p>
          <a:p>
            <a:pPr indent="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b="1" lang="en"/>
              <a:t>Answering all of these questions for the whole system is impossible</a:t>
            </a:r>
            <a:r>
              <a:rPr lang="en"/>
              <a:t> — there are too many unknowns.</a:t>
            </a:r>
            <a:br>
              <a:rPr b="1" lang="en"/>
            </a:b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b="1" lang="en"/>
              <a:t>But for a </a:t>
            </a:r>
            <a:r>
              <a:rPr b="1" lang="en"/>
              <a:t>vertical</a:t>
            </a:r>
            <a:r>
              <a:rPr b="1" lang="en"/>
              <a:t> slice</a:t>
            </a:r>
            <a:r>
              <a:rPr lang="en"/>
              <a:t> we can answer each question thoroughly on a reduced problem scope, and then iterate as needed when scope increases.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Time Series Analysis: Comparison</a:t>
            </a:r>
            <a:endParaRPr sz="2800"/>
          </a:p>
        </p:txBody>
      </p:sp>
      <p:sp>
        <p:nvSpPr>
          <p:cNvPr id="328" name="Google Shape;328;p51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lang="en" sz="1400"/>
              <a:t>Horizontal development (what not to do)</a:t>
            </a:r>
            <a:endParaRPr sz="1400"/>
          </a:p>
          <a:p>
            <a:pPr indent="-330200" lvl="0" marL="457200" rtl="0" algn="l"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Load all 25 datasets with full error handling</a:t>
            </a:r>
            <a:endParaRPr sz="1400"/>
          </a:p>
          <a:p>
            <a:pPr indent="-330200" lvl="0" marL="457200" rtl="0" algn="l"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Clean all datasets with every edge case covered</a:t>
            </a:r>
            <a:endParaRPr sz="1400"/>
          </a:p>
          <a:p>
            <a:pPr indent="-330200" lvl="0" marL="457200" rtl="0" algn="l"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Build multiple regression types and robustness checks</a:t>
            </a:r>
            <a:endParaRPr sz="1400"/>
          </a:p>
          <a:p>
            <a:pPr indent="-330200" lvl="0" marL="457200" rtl="0" algn="l"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Create multiple output formats and visualizations</a:t>
            </a:r>
            <a:endParaRPr sz="1400"/>
          </a:p>
          <a:p>
            <a:pPr indent="0" lvl="0" marL="0" rtl="0" algn="l">
              <a:spcBef>
                <a:spcPts val="72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/>
              <a:t>Vertical slices</a:t>
            </a:r>
            <a:endParaRPr sz="1400"/>
          </a:p>
          <a:p>
            <a:pPr indent="-330200" lvl="0" marL="457200" marR="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Load one dataset: </a:t>
            </a:r>
            <a:r>
              <a:rPr lang="en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load_data() → pd.DataFrame</a:t>
            </a:r>
            <a:endParaRPr sz="1400"/>
          </a:p>
          <a:p>
            <a:pPr indent="-330200" lvl="0" marL="457200" marR="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Clean one dataset: </a:t>
            </a:r>
            <a:r>
              <a:rPr lang="en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clean_data(pd.DataFrame) → pd.DataFrame</a:t>
            </a:r>
            <a:endParaRPr sz="1400"/>
          </a:p>
          <a:p>
            <a:pPr indent="-330200" lvl="0" marL="457200" marR="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Run one regression: </a:t>
            </a:r>
            <a:r>
              <a:rPr lang="en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fit_model(pd.DataFrame) → LinregressResult</a:t>
            </a:r>
            <a:endParaRPr sz="1400"/>
          </a:p>
          <a:p>
            <a:pPr indent="-330200" lvl="0" marL="457200" marR="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Show R^2: </a:t>
            </a:r>
            <a:r>
              <a:rPr lang="en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get_results(LinregressResult) → {“r2”: float}</a:t>
            </a:r>
            <a:endParaRPr sz="14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Why Vertical Slices for AI?</a:t>
            </a:r>
            <a:endParaRPr sz="2800"/>
          </a:p>
        </p:txBody>
      </p:sp>
      <p:sp>
        <p:nvSpPr>
          <p:cNvPr id="334" name="Google Shape;334;p52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600"/>
              <a:t>AI systems have unique challenges: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Complex</a:t>
            </a:r>
            <a:r>
              <a:rPr lang="en" sz="1600"/>
              <a:t>: Many moving parts and dependencies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Uncertain failure points</a:t>
            </a:r>
            <a:r>
              <a:rPr lang="en" sz="1600"/>
              <a:t>: We aren't sure where things will break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Non-deterministic</a:t>
            </a:r>
            <a:r>
              <a:rPr lang="en" sz="1600"/>
              <a:t>: Errors appear in unexpected places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600"/>
              <a:buChar char="●"/>
            </a:pPr>
            <a:r>
              <a:rPr b="1" lang="en" sz="1600"/>
              <a:t>Iterative prompting</a:t>
            </a:r>
            <a:r>
              <a:rPr lang="en" sz="1600"/>
              <a:t>: Prompts need testing and refinement</a:t>
            </a:r>
            <a:br>
              <a:rPr lang="en" sz="1600"/>
            </a:b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600"/>
              <a:t>With vertical slices</a:t>
            </a:r>
            <a:r>
              <a:rPr lang="en" sz="1600"/>
              <a:t>: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We build a viable end-to-end solution that works on a </a:t>
            </a:r>
            <a:r>
              <a:rPr b="1" lang="en" sz="1600"/>
              <a:t>subset</a:t>
            </a:r>
            <a:r>
              <a:rPr lang="en" sz="1600"/>
              <a:t> of inputs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We discover integration issues </a:t>
            </a:r>
            <a:r>
              <a:rPr b="1" lang="en" sz="1600"/>
              <a:t>early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We can demonstrate </a:t>
            </a:r>
            <a:r>
              <a:rPr b="1" lang="en" sz="1600"/>
              <a:t>value quickly</a:t>
            </a:r>
            <a:endParaRPr sz="16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The Development Process</a:t>
            </a:r>
            <a:endParaRPr sz="2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The Development Process</a:t>
            </a:r>
            <a:endParaRPr sz="2800"/>
          </a:p>
        </p:txBody>
      </p:sp>
      <p:sp>
        <p:nvSpPr>
          <p:cNvPr id="345" name="Google Shape;345;p54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b="1" lang="en" sz="1800"/>
              <a:t>Three-Step Approach: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 sz="1800"/>
              <a:t>Define a vertical slice</a:t>
            </a:r>
            <a:endParaRPr sz="1800"/>
          </a:p>
          <a:p>
            <a:pPr indent="-317500" lvl="1" marL="9144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What is the minimal end-to-end flow?</a:t>
            </a:r>
            <a:endParaRPr sz="1700"/>
          </a:p>
          <a:p>
            <a:pPr indent="-317500" lvl="1" marL="9144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Start simple, prove it works</a:t>
            </a:r>
            <a:endParaRPr sz="17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 sz="1800"/>
              <a:t>Define the systems (functions) required</a:t>
            </a:r>
            <a:endParaRPr sz="1800"/>
          </a:p>
          <a:p>
            <a:pPr indent="-317500" lvl="1" marL="9144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Know the inputs and outputs of each piece</a:t>
            </a:r>
            <a:endParaRPr sz="1700"/>
          </a:p>
          <a:p>
            <a:pPr indent="-317500" lvl="1" marL="9144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Simpler is better</a:t>
            </a:r>
            <a:endParaRPr sz="17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 sz="1800"/>
              <a:t>Then: </a:t>
            </a:r>
            <a:r>
              <a:rPr b="1" lang="en"/>
              <a:t>Crawl</a:t>
            </a:r>
            <a:r>
              <a:rPr b="1" lang="en" sz="1800"/>
              <a:t> → Walk → Run</a:t>
            </a:r>
            <a:endParaRPr sz="1800"/>
          </a:p>
          <a:p>
            <a:pPr indent="-317500" lvl="1" marL="9144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Start minimal, add features incrementally</a:t>
            </a:r>
            <a:endParaRPr sz="17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Example: Personalized Marketing Emails</a:t>
            </a:r>
            <a:endParaRPr sz="2800"/>
          </a:p>
        </p:txBody>
      </p:sp>
      <p:sp>
        <p:nvSpPr>
          <p:cNvPr id="351" name="Google Shape;351;p55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960"/>
              </a:spcBef>
              <a:spcAft>
                <a:spcPts val="0"/>
              </a:spcAft>
              <a:buSzPts val="1800"/>
              <a:buNone/>
            </a:pPr>
            <a:r>
              <a:rPr b="1" lang="en" sz="1200"/>
              <a:t>Task</a:t>
            </a:r>
            <a:r>
              <a:rPr lang="en" sz="1200"/>
              <a:t>: Send AI-generated personalized marketing emails to leads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lang="en" sz="1200"/>
              <a:t>Horizontal Approach</a:t>
            </a:r>
            <a:r>
              <a:rPr lang="en" sz="1200"/>
              <a:t> (what NOT to do):</a:t>
            </a:r>
            <a:endParaRPr sz="1200"/>
          </a:p>
          <a:p>
            <a:pPr indent="-317500" lvl="0" marL="457200" rtl="0" algn="l"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Build complete database integration for all leads</a:t>
            </a:r>
            <a:endParaRPr sz="1200"/>
          </a:p>
          <a:p>
            <a:pPr indent="-317500" lvl="0" marL="457200" rtl="0" algn="l"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Create email templates for all scenarios</a:t>
            </a:r>
            <a:endParaRPr sz="1200"/>
          </a:p>
          <a:p>
            <a:pPr indent="-317500" lvl="0" marL="457200" rtl="0" algn="l"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Build full SMTP sending infrastructure</a:t>
            </a:r>
            <a:endParaRPr sz="1200"/>
          </a:p>
          <a:p>
            <a:pPr indent="-317500" lvl="0" marL="457200" rtl="0" algn="l"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Set up monitoring and analytics before sending anything</a:t>
            </a:r>
            <a:br>
              <a:rPr b="1" lang="en" sz="1200"/>
            </a:br>
            <a:endParaRPr b="1" sz="1200"/>
          </a:p>
          <a:p>
            <a:pPr indent="0" lvl="0" marL="0" rtl="0" algn="l">
              <a:lnSpc>
                <a:spcPct val="115000"/>
              </a:lnSpc>
              <a:spcBef>
                <a:spcPts val="960"/>
              </a:spcBef>
              <a:spcAft>
                <a:spcPts val="0"/>
              </a:spcAft>
              <a:buSzPts val="1800"/>
              <a:buNone/>
            </a:pPr>
            <a:r>
              <a:rPr b="1" lang="en" sz="1200"/>
              <a:t>Vertical Slices</a:t>
            </a:r>
            <a:r>
              <a:rPr lang="en" sz="1200"/>
              <a:t>:</a:t>
            </a:r>
            <a:endParaRPr sz="1200"/>
          </a:p>
          <a:p>
            <a:pPr indent="-3175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Load </a:t>
            </a:r>
            <a:r>
              <a:rPr b="1" lang="en" sz="1200"/>
              <a:t>one</a:t>
            </a:r>
            <a:r>
              <a:rPr lang="en" sz="1200"/>
              <a:t> lead from the database</a:t>
            </a:r>
            <a:endParaRPr sz="1200"/>
          </a:p>
          <a:p>
            <a:pPr indent="-3175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Generate </a:t>
            </a:r>
            <a:r>
              <a:rPr b="1" lang="en" sz="1200"/>
              <a:t>one</a:t>
            </a:r>
            <a:r>
              <a:rPr lang="en" sz="1200"/>
              <a:t> email with LLM</a:t>
            </a:r>
            <a:endParaRPr sz="1200"/>
          </a:p>
          <a:p>
            <a:pPr indent="-3175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Print email to console for manual review</a:t>
            </a:r>
            <a:endParaRPr sz="1200"/>
          </a:p>
          <a:p>
            <a:pPr indent="-3175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If it looks good, move to next step</a:t>
            </a:r>
            <a:endParaRPr sz="12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Principle: Well-Defined Inputs and Outputs</a:t>
            </a:r>
            <a:endParaRPr sz="2800"/>
          </a:p>
        </p:txBody>
      </p:sp>
      <p:sp>
        <p:nvSpPr>
          <p:cNvPr id="357" name="Google Shape;357;p56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lang="en" sz="1600"/>
              <a:t>Each component should have:</a:t>
            </a:r>
            <a:endParaRPr sz="16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500"/>
              <a:buChar char="●"/>
            </a:pPr>
            <a:r>
              <a:rPr b="1" lang="en" sz="1500"/>
              <a:t>Clear input contract</a:t>
            </a:r>
            <a:r>
              <a:rPr lang="en" sz="1500"/>
              <a:t>: What data does it expect? In what format?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500"/>
              <a:buChar char="●"/>
            </a:pPr>
            <a:r>
              <a:rPr b="1" lang="en" sz="1500"/>
              <a:t>Clear output contract</a:t>
            </a:r>
            <a:r>
              <a:rPr lang="en" sz="1500"/>
              <a:t>: What data does it return? In what format?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500"/>
              <a:buChar char="●"/>
            </a:pPr>
            <a:r>
              <a:rPr b="1" lang="en" sz="1500"/>
              <a:t>Single responsibility</a:t>
            </a:r>
            <a:r>
              <a:rPr lang="en" sz="1500"/>
              <a:t>: Does one thing well</a:t>
            </a:r>
            <a:br>
              <a:rPr lang="en" sz="1500"/>
            </a:b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None/>
            </a:pPr>
            <a:r>
              <a:rPr lang="en" sz="1600"/>
              <a:t>Benefits:</a:t>
            </a:r>
            <a:endParaRPr sz="16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Easy to understand what each piece does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Easy to test each piece independently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Easy to replace or improve individual pieces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Clear error boundaries</a:t>
            </a:r>
            <a:endParaRPr sz="15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Methodology: </a:t>
            </a:r>
            <a:r>
              <a:rPr lang="en"/>
              <a:t>Crawl</a:t>
            </a:r>
            <a:r>
              <a:rPr lang="en" sz="2800"/>
              <a:t>, Walk, Run</a:t>
            </a:r>
            <a:endParaRPr sz="2800"/>
          </a:p>
        </p:txBody>
      </p:sp>
      <p:sp>
        <p:nvSpPr>
          <p:cNvPr id="363" name="Google Shape;363;p57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2100"/>
              <a:buChar char="●"/>
            </a:pPr>
            <a:r>
              <a:rPr b="1" lang="en" sz="2100"/>
              <a:t>Crawl</a:t>
            </a:r>
            <a:r>
              <a:rPr lang="en" sz="2100"/>
              <a:t>: What is the minimum code to verify it's possible and establish something to iterate on?</a:t>
            </a:r>
            <a:endParaRPr sz="2000"/>
          </a:p>
          <a:p>
            <a:pPr indent="-381000" lvl="0" marL="4572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2100"/>
              <a:buChar char="●"/>
            </a:pPr>
            <a:r>
              <a:rPr b="1" lang="en" sz="2100"/>
              <a:t>Walk</a:t>
            </a:r>
            <a:r>
              <a:rPr lang="en" sz="2100"/>
              <a:t>: What is the minimum code to verify it works in most cases and identify possible limitations?</a:t>
            </a:r>
            <a:endParaRPr sz="2000"/>
          </a:p>
          <a:p>
            <a:pPr indent="-381000" lvl="0" marL="4572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2100"/>
              <a:buChar char="●"/>
            </a:pPr>
            <a:r>
              <a:rPr b="1" lang="en" sz="2100"/>
              <a:t>Run</a:t>
            </a:r>
            <a:r>
              <a:rPr lang="en" sz="2100"/>
              <a:t>: What does the full production system look like?</a:t>
            </a:r>
            <a:endParaRPr sz="2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8"/>
          <p:cNvSpPr txBox="1"/>
          <p:nvPr>
            <p:ph idx="1" type="body"/>
          </p:nvPr>
        </p:nvSpPr>
        <p:spPr>
          <a:xfrm>
            <a:off x="311700" y="1152475"/>
            <a:ext cx="4169400" cy="30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SzPts val="1800"/>
              <a:buNone/>
            </a:pPr>
            <a:r>
              <a:rPr b="1" lang="en" sz="1400"/>
              <a:t>Goal</a:t>
            </a:r>
            <a:r>
              <a:rPr lang="en" sz="1400"/>
              <a:t>: Prove the concept works at all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SzPts val="1800"/>
              <a:buNone/>
            </a:pPr>
            <a:r>
              <a:rPr b="1" lang="en" sz="1400"/>
              <a:t>Characteristics</a:t>
            </a:r>
            <a:r>
              <a:rPr lang="en" sz="1400"/>
              <a:t>: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Hardcoded examples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No error handling (let it fail)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Manual verification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Don’t address edge — or even middle cases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Evaluate your starting point for the highest risk element in your system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Proof of concept that it can work in some instances</a:t>
            </a:r>
            <a:endParaRPr sz="1400"/>
          </a:p>
        </p:txBody>
      </p:sp>
      <p:sp>
        <p:nvSpPr>
          <p:cNvPr id="369" name="Google Shape;369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Stand-Up, In Detail</a:t>
            </a:r>
            <a:endParaRPr sz="28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9"/>
          <p:cNvSpPr txBox="1"/>
          <p:nvPr>
            <p:ph idx="1" type="body"/>
          </p:nvPr>
        </p:nvSpPr>
        <p:spPr>
          <a:xfrm>
            <a:off x="311700" y="1152475"/>
            <a:ext cx="4169400" cy="30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SzPts val="1800"/>
              <a:buNone/>
            </a:pPr>
            <a:r>
              <a:rPr b="1" lang="en" sz="1400"/>
              <a:t>Goal</a:t>
            </a:r>
            <a:r>
              <a:rPr lang="en" sz="1400"/>
              <a:t>: Prove the concept works at all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SzPts val="1800"/>
              <a:buNone/>
            </a:pPr>
            <a:r>
              <a:rPr b="1" lang="en" sz="1400"/>
              <a:t>Characteristics</a:t>
            </a:r>
            <a:r>
              <a:rPr lang="en" sz="1400"/>
              <a:t>: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Hardcoded examples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No error handling (let it fail)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Manual verification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Don’t address edge — or even middle cases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Evaluate your starting point for the highest risk element in your system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Proof of concept that it can work in some instances</a:t>
            </a:r>
            <a:endParaRPr sz="1400"/>
          </a:p>
        </p:txBody>
      </p:sp>
      <p:sp>
        <p:nvSpPr>
          <p:cNvPr id="375" name="Google Shape;375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/>
              <a:t>Stand-Up, In Detail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76" name="Google Shape;376;p59"/>
          <p:cNvSpPr txBox="1"/>
          <p:nvPr/>
        </p:nvSpPr>
        <p:spPr>
          <a:xfrm>
            <a:off x="5162550" y="1513600"/>
            <a:ext cx="3423900" cy="28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Example - Resume Screening</a:t>
            </a:r>
            <a:r>
              <a:rPr lang="en">
                <a:solidFill>
                  <a:schemeClr val="dk2"/>
                </a:solidFill>
              </a:rPr>
              <a:t>:</a:t>
            </a:r>
            <a:endParaRPr>
              <a:solidFill>
                <a:schemeClr val="dk2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">
                <a:solidFill>
                  <a:schemeClr val="dk2"/>
                </a:solidFill>
              </a:rPr>
              <a:t>Hardcode path to one resume PDF</a:t>
            </a:r>
            <a:endParaRPr>
              <a:solidFill>
                <a:schemeClr val="dk2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">
                <a:solidFill>
                  <a:schemeClr val="dk2"/>
                </a:solidFill>
              </a:rPr>
              <a:t>Load it in a way that works</a:t>
            </a:r>
            <a:endParaRPr>
              <a:solidFill>
                <a:schemeClr val="dk2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">
                <a:solidFill>
                  <a:schemeClr val="dk2"/>
                </a:solidFill>
              </a:rPr>
              <a:t>Focus on the highest risk element:</a:t>
            </a:r>
            <a:endParaRPr>
              <a:solidFill>
                <a:schemeClr val="dk2"/>
              </a:solidFill>
            </a:endParaRPr>
          </a:p>
          <a:p>
            <a:pPr indent="-317500" lvl="1" marL="9144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Extract skills with LLM, print to console</a:t>
            </a:r>
            <a:endParaRPr>
              <a:solidFill>
                <a:schemeClr val="dk2"/>
              </a:solidFill>
            </a:endParaRPr>
          </a:p>
          <a:p>
            <a:pPr indent="-317500" lvl="1" marL="9144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Compare to hardcoded job requirements</a:t>
            </a:r>
            <a:endParaRPr>
              <a:solidFill>
                <a:schemeClr val="dk2"/>
              </a:solidFill>
            </a:endParaRPr>
          </a:p>
          <a:p>
            <a:pPr indent="-317500" lvl="1" marL="9144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Print match score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60"/>
          <p:cNvSpPr txBox="1"/>
          <p:nvPr>
            <p:ph idx="1" type="body"/>
          </p:nvPr>
        </p:nvSpPr>
        <p:spPr>
          <a:xfrm>
            <a:off x="311700" y="1152475"/>
            <a:ext cx="4169400" cy="30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SzPts val="1800"/>
              <a:buNone/>
            </a:pPr>
            <a:r>
              <a:rPr b="1" lang="en" sz="1400"/>
              <a:t>Goal</a:t>
            </a:r>
            <a:r>
              <a:rPr lang="en" sz="1400"/>
              <a:t>: Prove the concept works at all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SzPts val="1800"/>
              <a:buNone/>
            </a:pPr>
            <a:r>
              <a:rPr b="1" lang="en" sz="1400"/>
              <a:t>Characteristics</a:t>
            </a:r>
            <a:r>
              <a:rPr lang="en" sz="1400"/>
              <a:t>: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Hardcoded examples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No error handling (let it fail)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Manual verification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Don’t address edge — or even middle cases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Evaluate your starting point for the highest risk element in your system</a:t>
            </a:r>
            <a:endParaRPr sz="1400"/>
          </a:p>
          <a:p>
            <a:pPr indent="-342900" lvl="0" marL="45720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Proof of concept that it can work in some instances</a:t>
            </a:r>
            <a:endParaRPr sz="1400"/>
          </a:p>
        </p:txBody>
      </p:sp>
      <p:sp>
        <p:nvSpPr>
          <p:cNvPr id="382" name="Google Shape;382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/>
              <a:t>Stand-Up, In Detail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383" name="Google Shape;383;p60"/>
          <p:cNvSpPr txBox="1"/>
          <p:nvPr/>
        </p:nvSpPr>
        <p:spPr>
          <a:xfrm>
            <a:off x="5162550" y="1513600"/>
            <a:ext cx="3423900" cy="28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2"/>
                </a:solidFill>
              </a:rPr>
              <a:t>Example - Resume Screening</a:t>
            </a:r>
            <a:r>
              <a:rPr lang="en">
                <a:solidFill>
                  <a:schemeClr val="dk2"/>
                </a:solidFill>
              </a:rPr>
              <a:t>:</a:t>
            </a:r>
            <a:endParaRPr>
              <a:solidFill>
                <a:schemeClr val="dk2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">
                <a:solidFill>
                  <a:schemeClr val="dk2"/>
                </a:solidFill>
              </a:rPr>
              <a:t>Hardcode path to one resume PDF</a:t>
            </a:r>
            <a:endParaRPr>
              <a:solidFill>
                <a:schemeClr val="dk2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">
                <a:solidFill>
                  <a:schemeClr val="dk2"/>
                </a:solidFill>
              </a:rPr>
              <a:t>Load it in a way that works</a:t>
            </a:r>
            <a:endParaRPr>
              <a:solidFill>
                <a:schemeClr val="dk2"/>
              </a:solidFill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en">
                <a:solidFill>
                  <a:schemeClr val="dk2"/>
                </a:solidFill>
              </a:rPr>
              <a:t>Focus on the highest risk element:</a:t>
            </a:r>
            <a:endParaRPr>
              <a:solidFill>
                <a:schemeClr val="dk2"/>
              </a:solidFill>
            </a:endParaRPr>
          </a:p>
          <a:p>
            <a:pPr indent="-317500" lvl="1" marL="9144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Extract skills with LLM, print to console</a:t>
            </a:r>
            <a:endParaRPr>
              <a:solidFill>
                <a:schemeClr val="dk2"/>
              </a:solidFill>
            </a:endParaRPr>
          </a:p>
          <a:p>
            <a:pPr indent="-317500" lvl="1" marL="9144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Compare to hardcoded job requirements</a:t>
            </a:r>
            <a:endParaRPr>
              <a:solidFill>
                <a:schemeClr val="dk2"/>
              </a:solidFill>
            </a:endParaRPr>
          </a:p>
          <a:p>
            <a:pPr indent="-317500" lvl="1" marL="9144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Print match score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84" name="Google Shape;384;p60"/>
          <p:cNvSpPr txBox="1"/>
          <p:nvPr/>
        </p:nvSpPr>
        <p:spPr>
          <a:xfrm>
            <a:off x="2292900" y="4467675"/>
            <a:ext cx="49503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84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chemeClr val="dk2"/>
                </a:solidFill>
              </a:rPr>
              <a:t>If this doesn't work, nothing else matters!</a:t>
            </a:r>
            <a:endParaRPr sz="1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Methodology: </a:t>
            </a:r>
            <a:r>
              <a:rPr lang="en"/>
              <a:t>Stand-Up</a:t>
            </a:r>
            <a:r>
              <a:rPr lang="en" sz="2800"/>
              <a:t>, Walk, Run</a:t>
            </a:r>
            <a:endParaRPr sz="2800"/>
          </a:p>
        </p:txBody>
      </p:sp>
      <p:sp>
        <p:nvSpPr>
          <p:cNvPr id="390" name="Google Shape;390;p61"/>
          <p:cNvSpPr txBox="1"/>
          <p:nvPr>
            <p:ph idx="1" type="body"/>
          </p:nvPr>
        </p:nvSpPr>
        <p:spPr>
          <a:xfrm>
            <a:off x="311700" y="1152475"/>
            <a:ext cx="8179500" cy="37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75"/>
              </a:spcBef>
              <a:spcAft>
                <a:spcPts val="0"/>
              </a:spcAft>
              <a:buNone/>
            </a:pPr>
            <a:r>
              <a:rPr b="1" lang="en" sz="1700"/>
              <a:t>Walk</a:t>
            </a:r>
            <a:r>
              <a:rPr lang="en" sz="1700"/>
              <a:t>: What is the minimum code to verify it works in most cases?</a:t>
            </a:r>
            <a:endParaRPr sz="1700"/>
          </a:p>
          <a:p>
            <a:pPr indent="-330200" lvl="0" marL="457200" rtl="0" algn="l">
              <a:spcBef>
                <a:spcPts val="63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Handle common edge cases</a:t>
            </a:r>
            <a:endParaRPr sz="1600"/>
          </a:p>
          <a:p>
            <a:pPr indent="-330200" lvl="0" marL="457200" rtl="0" algn="l">
              <a:spcBef>
                <a:spcPts val="63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Basic error handling</a:t>
            </a:r>
            <a:endParaRPr sz="1600"/>
          </a:p>
          <a:p>
            <a:pPr indent="-330200" lvl="0" marL="457200" rtl="0" algn="l">
              <a:spcBef>
                <a:spcPts val="63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Works reliably for typical inputs</a:t>
            </a:r>
            <a:endParaRPr sz="1600"/>
          </a:p>
          <a:p>
            <a:pPr indent="-330200" lvl="0" marL="457200" rtl="0" algn="l">
              <a:spcBef>
                <a:spcPts val="63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Expand scope as needed to reduce risk</a:t>
            </a:r>
            <a:br>
              <a:rPr lang="en" sz="1600"/>
            </a:br>
            <a:endParaRPr sz="2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None/>
            </a:pPr>
            <a:r>
              <a:rPr b="1" lang="en" sz="1700"/>
              <a:t>Run: </a:t>
            </a:r>
            <a:r>
              <a:rPr lang="en" sz="1700"/>
              <a:t>What does the full production system look like?</a:t>
            </a:r>
            <a:endParaRPr sz="1700"/>
          </a:p>
          <a:p>
            <a:pPr indent="-3302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Comprehensive error handling</a:t>
            </a:r>
            <a:endParaRPr sz="1600"/>
          </a:p>
          <a:p>
            <a:pPr indent="-3302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Monitoring and logging</a:t>
            </a:r>
            <a:endParaRPr sz="1600"/>
          </a:p>
          <a:p>
            <a:pPr indent="-330200" lvl="0" marL="457200" marR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Scale and performance optimization</a:t>
            </a:r>
            <a:endParaRPr sz="1700"/>
          </a:p>
          <a:p>
            <a:pPr indent="0" lvl="0" marL="0" rtl="0" algn="l">
              <a:lnSpc>
                <a:spcPct val="115000"/>
              </a:lnSpc>
              <a:spcBef>
                <a:spcPts val="630"/>
              </a:spcBef>
              <a:spcAft>
                <a:spcPts val="0"/>
              </a:spcAft>
              <a:buNone/>
            </a:pPr>
            <a:r>
              <a:t/>
            </a:r>
            <a:endParaRPr b="1" sz="17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Key Takeaways: Building with AI</a:t>
            </a:r>
            <a:endParaRPr sz="2800"/>
          </a:p>
        </p:txBody>
      </p:sp>
      <p:sp>
        <p:nvSpPr>
          <p:cNvPr id="396" name="Google Shape;396;p62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600"/>
              <a:buAutoNum type="arabicPeriod"/>
            </a:pPr>
            <a:r>
              <a:rPr b="1" lang="en" sz="1600"/>
              <a:t>Define the vertical slice</a:t>
            </a:r>
            <a:r>
              <a:rPr lang="en" sz="1600"/>
              <a:t> – what is the minimum thing you can get working?</a:t>
            </a:r>
            <a:endParaRPr sz="1600"/>
          </a:p>
          <a:p>
            <a:pPr indent="-317500" lvl="1" marL="9144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Prove end-to-end flow works with simplest case</a:t>
            </a:r>
            <a:endParaRPr sz="1500"/>
          </a:p>
          <a:p>
            <a:pPr indent="-317500" lvl="1" marL="9144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Identify integration issues early</a:t>
            </a:r>
            <a:endParaRPr sz="1500"/>
          </a:p>
          <a:p>
            <a:pPr indent="-3429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600"/>
              <a:buAutoNum type="arabicPeriod"/>
            </a:pPr>
            <a:r>
              <a:rPr b="1" lang="en" sz="1600"/>
              <a:t>Figure out the inputs and outputs</a:t>
            </a:r>
            <a:endParaRPr sz="1600"/>
          </a:p>
          <a:p>
            <a:pPr indent="-317500" lvl="1" marL="9144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Each function needs clear contracts</a:t>
            </a:r>
            <a:endParaRPr sz="1500"/>
          </a:p>
          <a:p>
            <a:pPr indent="-317500" lvl="1" marL="9144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Simpler is better</a:t>
            </a:r>
            <a:endParaRPr sz="1500"/>
          </a:p>
          <a:p>
            <a:pPr indent="-3429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600"/>
              <a:buAutoNum type="arabicPeriod"/>
            </a:pPr>
            <a:r>
              <a:rPr b="1" lang="en" sz="1600"/>
              <a:t>Figure out the pricing</a:t>
            </a:r>
            <a:endParaRPr sz="1600"/>
          </a:p>
          <a:p>
            <a:pPr indent="-317500" lvl="1" marL="9144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Know your costs before scaling</a:t>
            </a:r>
            <a:endParaRPr sz="1500"/>
          </a:p>
          <a:p>
            <a:pPr indent="-342900" lvl="0" marL="457200" rtl="0" algn="l">
              <a:lnSpc>
                <a:spcPct val="115000"/>
              </a:lnSpc>
              <a:spcBef>
                <a:spcPts val="720"/>
              </a:spcBef>
              <a:spcAft>
                <a:spcPts val="0"/>
              </a:spcAft>
              <a:buSzPts val="1600"/>
              <a:buAutoNum type="arabicPeriod"/>
            </a:pPr>
            <a:r>
              <a:rPr b="1" lang="en" sz="1600"/>
              <a:t>Expand horizontally after vertical slice works</a:t>
            </a:r>
            <a:endParaRPr sz="1600"/>
          </a:p>
          <a:p>
            <a:pPr indent="-317500" lvl="1" marL="9144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Add batch processing, error handling, features</a:t>
            </a:r>
            <a:endParaRPr sz="1500"/>
          </a:p>
          <a:p>
            <a:pPr indent="-317500" lvl="1" marL="914400" rtl="0" algn="l">
              <a:lnSpc>
                <a:spcPct val="115000"/>
              </a:lnSpc>
              <a:spcBef>
                <a:spcPts val="675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Don't optimize or add features prematurely</a:t>
            </a:r>
            <a:endParaRPr sz="15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63"/>
          <p:cNvSpPr txBox="1"/>
          <p:nvPr>
            <p:ph type="title"/>
          </p:nvPr>
        </p:nvSpPr>
        <p:spPr>
          <a:xfrm>
            <a:off x="311700" y="1728125"/>
            <a:ext cx="8520600" cy="168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000"/>
              <a:t>AI Resume Scoring System</a:t>
            </a:r>
            <a:endParaRPr sz="4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Problem Background</a:t>
            </a:r>
            <a:endParaRPr sz="2800"/>
          </a:p>
        </p:txBody>
      </p:sp>
      <p:sp>
        <p:nvSpPr>
          <p:cNvPr id="407" name="Google Shape;407;p64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have been hired by a company to help with their software developer hiring process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Our goal is to build an AI-assisted resume scoring system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For each resume, we want to score it so that we don't waste time on resumes we are unlikely to hire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are also cost-conscious.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Scores should be on a 0-100 scale.</a:t>
            </a:r>
            <a:endParaRPr sz="18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Brainstorming</a:t>
            </a:r>
            <a:endParaRPr sz="2800"/>
          </a:p>
        </p:txBody>
      </p:sp>
      <p:sp>
        <p:nvSpPr>
          <p:cNvPr id="413" name="Google Shape;413;p65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How are we going to proceed here?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What's our vertical slice?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What are the system components?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What are the inputs and outputs?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How much will our decisions cost?</a:t>
            </a:r>
            <a:endParaRPr sz="18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Let's Look at Our Inputs</a:t>
            </a:r>
            <a:endParaRPr sz="2800"/>
          </a:p>
        </p:txBody>
      </p:sp>
      <p:sp>
        <p:nvSpPr>
          <p:cNvPr id="419" name="Google Shape;419;p66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Data</a:t>
            </a:r>
            <a:r>
              <a:rPr lang="en" sz="1800"/>
              <a:t>: </a:t>
            </a:r>
            <a:r>
              <a:rPr lang="en" sz="1800">
                <a:latin typeface="Courier New"/>
                <a:ea typeface="Courier New"/>
                <a:cs typeface="Courier New"/>
                <a:sym typeface="Courier New"/>
              </a:rPr>
              <a:t>resumes_final.csv</a:t>
            </a:r>
            <a:r>
              <a:rPr lang="en" sz="1800"/>
              <a:t> has one row per resume (anonymized, taken from Kaggle)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Functions</a:t>
            </a:r>
            <a:r>
              <a:rPr lang="en" sz="1800"/>
              <a:t>: Our notebook has two functions already:</a:t>
            </a:r>
            <a:endParaRPr sz="1800"/>
          </a:p>
          <a:p>
            <a:pPr indent="-317500" lvl="1" marL="9144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>
                <a:latin typeface="Courier New"/>
                <a:ea typeface="Courier New"/>
                <a:cs typeface="Courier New"/>
                <a:sym typeface="Courier New"/>
              </a:rPr>
              <a:t>load_resumes()</a:t>
            </a:r>
            <a:r>
              <a:rPr lang="en" sz="1700"/>
              <a:t> - loads all resumes into a dictionary</a:t>
            </a:r>
            <a:endParaRPr sz="1700"/>
          </a:p>
          <a:p>
            <a:pPr indent="-317500" lvl="1" marL="9144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>
                <a:latin typeface="Courier New"/>
                <a:ea typeface="Courier New"/>
                <a:cs typeface="Courier New"/>
                <a:sym typeface="Courier New"/>
              </a:rPr>
              <a:t>analyze_resume()</a:t>
            </a:r>
            <a:r>
              <a:rPr lang="en" sz="1700"/>
              <a:t> - runs a prompt against a resume with structured output</a:t>
            </a:r>
            <a:endParaRPr sz="17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There is a job req in the directory: </a:t>
            </a:r>
            <a:r>
              <a:rPr lang="en" sz="1800">
                <a:latin typeface="Courier New"/>
                <a:ea typeface="Courier New"/>
                <a:cs typeface="Courier New"/>
                <a:sym typeface="Courier New"/>
              </a:rPr>
              <a:t>job_req_senior.md</a:t>
            </a:r>
            <a:endParaRPr sz="18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Define our system, and stand-up!</a:t>
            </a:r>
            <a:endParaRPr sz="2800"/>
          </a:p>
        </p:txBody>
      </p:sp>
      <p:sp>
        <p:nvSpPr>
          <p:cNvPr id="425" name="Google Shape;425;p67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Do we have a good definition of each component?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1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Do we know the inputs and outputs and what has to happen inside each system?</a:t>
            </a:r>
            <a:endParaRPr sz="1800"/>
          </a:p>
          <a:p>
            <a:pPr indent="0" lvl="0" marL="0" rtl="0" algn="ctr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br>
              <a:rPr b="1" lang="en"/>
            </a:br>
            <a:r>
              <a:rPr b="1" lang="en" sz="1800"/>
              <a:t>Next Step: </a:t>
            </a:r>
            <a:r>
              <a:rPr b="1" lang="en"/>
              <a:t>Stand-Up</a:t>
            </a:r>
            <a:r>
              <a:rPr b="1" lang="en" sz="1800"/>
              <a:t>!</a:t>
            </a:r>
            <a:endParaRPr sz="1800"/>
          </a:p>
          <a:p>
            <a:pPr indent="0" lvl="0" marL="0" rtl="0" algn="ctr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lang="en" sz="1800"/>
              <a:t>Start with the simplest possible version</a:t>
            </a:r>
            <a:endParaRPr sz="1800"/>
          </a:p>
          <a:p>
            <a:pPr indent="0" lvl="0" marL="0" rtl="0" algn="ctr">
              <a:lnSpc>
                <a:spcPct val="115000"/>
              </a:lnSpc>
              <a:spcBef>
                <a:spcPts val="1080"/>
              </a:spcBef>
              <a:spcAft>
                <a:spcPts val="0"/>
              </a:spcAft>
              <a:buSzPts val="1800"/>
              <a:buNone/>
            </a:pPr>
            <a:r>
              <a:rPr lang="en"/>
              <a:t>Generate score for a single resume for a single job req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Walk and run — we’ll get here!</a:t>
            </a:r>
            <a:endParaRPr sz="2800"/>
          </a:p>
        </p:txBody>
      </p:sp>
      <p:sp>
        <p:nvSpPr>
          <p:cNvPr id="431" name="Google Shape;431;p68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19"/>
              </a:spcBef>
              <a:spcAft>
                <a:spcPts val="0"/>
              </a:spcAft>
              <a:buSzPts val="1800"/>
              <a:buNone/>
            </a:pPr>
            <a:r>
              <a:rPr b="1" lang="en" sz="1400"/>
              <a:t>Phase 2: Horizontal Expansion (Walk)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Generate score for </a:t>
            </a:r>
            <a:r>
              <a:rPr b="1" lang="en" sz="1400"/>
              <a:t>most</a:t>
            </a:r>
            <a:r>
              <a:rPr lang="en" sz="1400"/>
              <a:t> resumes for a single job req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Address variations in resume format, etc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019"/>
              </a:spcBef>
              <a:spcAft>
                <a:spcPts val="0"/>
              </a:spcAft>
              <a:buSzPts val="1800"/>
              <a:buNone/>
            </a:pPr>
            <a:br>
              <a:rPr b="1" lang="en" sz="1400"/>
            </a:br>
            <a:r>
              <a:rPr b="1" lang="en" sz="1400"/>
              <a:t>Phase 3: Production (Run)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Work on </a:t>
            </a:r>
            <a:r>
              <a:rPr b="1" lang="en" sz="1400"/>
              <a:t>all</a:t>
            </a:r>
            <a:r>
              <a:rPr lang="en" sz="1400"/>
              <a:t> resumes for </a:t>
            </a:r>
            <a:r>
              <a:rPr b="1" lang="en" sz="1400"/>
              <a:t>all</a:t>
            </a:r>
            <a:r>
              <a:rPr lang="en" sz="1400"/>
              <a:t> job reqs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Optimize prompts and costs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Address edge cases, as needed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Add caching for repeated skills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Add human-in-the-loop review</a:t>
            </a:r>
            <a:endParaRPr sz="1400"/>
          </a:p>
          <a:p>
            <a:pPr indent="-323850" lvl="0" marL="457200" rtl="0" algn="l">
              <a:lnSpc>
                <a:spcPct val="115000"/>
              </a:lnSpc>
              <a:spcBef>
                <a:spcPts val="765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Monitor accuracy and performance</a:t>
            </a:r>
            <a:endParaRPr sz="14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800"/>
              <a:t>Next Steps: Hands-On Practice</a:t>
            </a:r>
            <a:endParaRPr sz="2800"/>
          </a:p>
        </p:txBody>
      </p:sp>
      <p:sp>
        <p:nvSpPr>
          <p:cNvPr id="437" name="Google Shape;437;p69"/>
          <p:cNvSpPr txBox="1"/>
          <p:nvPr>
            <p:ph idx="1" type="body"/>
          </p:nvPr>
        </p:nvSpPr>
        <p:spPr>
          <a:xfrm>
            <a:off x="311700" y="1152475"/>
            <a:ext cx="8520600" cy="38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719"/>
              </a:spcBef>
              <a:spcAft>
                <a:spcPts val="0"/>
              </a:spcAft>
              <a:buSzPts val="1800"/>
              <a:buNone/>
            </a:pPr>
            <a:r>
              <a:rPr b="1" lang="en" sz="1200"/>
              <a:t>Goal</a:t>
            </a:r>
            <a:r>
              <a:rPr lang="en" sz="1200"/>
              <a:t>: Build a working resume scorer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719"/>
              </a:spcBef>
              <a:spcAft>
                <a:spcPts val="0"/>
              </a:spcAft>
              <a:buSzPts val="1800"/>
              <a:buNone/>
            </a:pPr>
            <a:r>
              <a:rPr b="1" lang="en" sz="1200"/>
              <a:t>Your Task</a:t>
            </a:r>
            <a:r>
              <a:rPr lang="en" sz="1200"/>
              <a:t>:</a:t>
            </a:r>
            <a:endParaRPr sz="1200"/>
          </a:p>
          <a:p>
            <a:pPr indent="-342900" lvl="0" marL="457200" rtl="0" algn="l">
              <a:lnSpc>
                <a:spcPct val="115000"/>
              </a:lnSpc>
              <a:spcBef>
                <a:spcPts val="540"/>
              </a:spcBef>
              <a:spcAft>
                <a:spcPts val="0"/>
              </a:spcAft>
              <a:buSzPts val="1200"/>
              <a:buAutoNum type="arabicPeriod"/>
            </a:pPr>
            <a:r>
              <a:rPr b="1" lang="en" sz="1200"/>
              <a:t>Form teams</a:t>
            </a:r>
            <a:r>
              <a:rPr lang="en" sz="1200"/>
              <a:t> (2-3 people)</a:t>
            </a:r>
            <a:endParaRPr sz="1200"/>
          </a:p>
          <a:p>
            <a:pPr indent="-342900" lvl="0" marL="457200" rtl="0" algn="l">
              <a:lnSpc>
                <a:spcPct val="115000"/>
              </a:lnSpc>
              <a:spcBef>
                <a:spcPts val="540"/>
              </a:spcBef>
              <a:spcAft>
                <a:spcPts val="0"/>
              </a:spcAft>
              <a:buSzPts val="1200"/>
              <a:buAutoNum type="arabicPeriod"/>
            </a:pPr>
            <a:r>
              <a:rPr b="1" lang="en" sz="1200"/>
              <a:t>Open the notebook</a:t>
            </a:r>
            <a:r>
              <a:rPr lang="en" sz="1200"/>
              <a:t>: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resume_screening.ipynb</a:t>
            </a:r>
            <a:endParaRPr sz="1200"/>
          </a:p>
          <a:p>
            <a:pPr indent="-342900" lvl="0" marL="457200" rtl="0" algn="l">
              <a:lnSpc>
                <a:spcPct val="115000"/>
              </a:lnSpc>
              <a:spcBef>
                <a:spcPts val="540"/>
              </a:spcBef>
              <a:spcAft>
                <a:spcPts val="0"/>
              </a:spcAft>
              <a:buSzPts val="1200"/>
              <a:buAutoNum type="arabicPeriod"/>
            </a:pPr>
            <a:r>
              <a:rPr b="1" lang="en" sz="1200"/>
              <a:t>Work through the examples</a:t>
            </a:r>
            <a:r>
              <a:rPr lang="en" sz="1200"/>
              <a:t>:</a:t>
            </a:r>
            <a:endParaRPr sz="1200"/>
          </a:p>
          <a:p>
            <a:pPr indent="-317500" lvl="1" marL="914400" rtl="0" algn="l">
              <a:lnSpc>
                <a:spcPct val="115000"/>
              </a:lnSpc>
              <a:spcBef>
                <a:spcPts val="495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Load resume data</a:t>
            </a:r>
            <a:endParaRPr sz="1100"/>
          </a:p>
          <a:p>
            <a:pPr indent="-317500" lvl="1" marL="914400" rtl="0" algn="l">
              <a:lnSpc>
                <a:spcPct val="115000"/>
              </a:lnSpc>
              <a:spcBef>
                <a:spcPts val="495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Use structured outputs to extract information</a:t>
            </a:r>
            <a:endParaRPr sz="1100"/>
          </a:p>
          <a:p>
            <a:pPr indent="-317500" lvl="1" marL="914400" rtl="0" algn="l">
              <a:lnSpc>
                <a:spcPct val="115000"/>
              </a:lnSpc>
              <a:spcBef>
                <a:spcPts val="495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Match resumes to job requirements</a:t>
            </a:r>
            <a:endParaRPr sz="1100"/>
          </a:p>
          <a:p>
            <a:pPr indent="-342900" lvl="0" marL="457200" rtl="0" algn="l">
              <a:lnSpc>
                <a:spcPct val="115000"/>
              </a:lnSpc>
              <a:spcBef>
                <a:spcPts val="540"/>
              </a:spcBef>
              <a:spcAft>
                <a:spcPts val="0"/>
              </a:spcAft>
              <a:buSzPts val="1200"/>
              <a:buAutoNum type="arabicPeriod"/>
            </a:pPr>
            <a:r>
              <a:rPr b="1" lang="en" sz="1200"/>
              <a:t>Key questions to answer</a:t>
            </a:r>
            <a:r>
              <a:rPr lang="en" sz="1200"/>
              <a:t>:</a:t>
            </a:r>
            <a:endParaRPr sz="1200"/>
          </a:p>
          <a:p>
            <a:pPr indent="-317500" lvl="1" marL="914400" rtl="0" algn="l">
              <a:lnSpc>
                <a:spcPct val="115000"/>
              </a:lnSpc>
              <a:spcBef>
                <a:spcPts val="495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Can we create a score (0-100)?</a:t>
            </a:r>
            <a:endParaRPr sz="1100"/>
          </a:p>
          <a:p>
            <a:pPr indent="-317500" lvl="1" marL="914400" rtl="0" algn="l">
              <a:lnSpc>
                <a:spcPct val="115000"/>
              </a:lnSpc>
              <a:spcBef>
                <a:spcPts val="495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How do we do that?</a:t>
            </a:r>
            <a:endParaRPr sz="1100"/>
          </a:p>
          <a:p>
            <a:pPr indent="-317500" lvl="1" marL="914400" rtl="0" algn="l">
              <a:lnSpc>
                <a:spcPct val="115000"/>
              </a:lnSpc>
              <a:spcBef>
                <a:spcPts val="495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What prompt and schema do we need?</a:t>
            </a:r>
            <a:endParaRPr sz="1100"/>
          </a:p>
          <a:p>
            <a:pPr indent="-317500" lvl="1" marL="914400" rtl="0" algn="l">
              <a:lnSpc>
                <a:spcPct val="115000"/>
              </a:lnSpc>
              <a:spcBef>
                <a:spcPts val="495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How much does it cost per resume?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719"/>
              </a:spcBef>
              <a:spcAft>
                <a:spcPts val="0"/>
              </a:spcAft>
              <a:buSzPts val="1800"/>
              <a:buNone/>
            </a:pPr>
            <a:r>
              <a:rPr b="1" lang="en" sz="1200"/>
              <a:t>Focus on the Crawl First – </a:t>
            </a:r>
            <a:r>
              <a:rPr b="1" lang="en" sz="1200"/>
              <a:t>Start simple, prove it works</a:t>
            </a:r>
            <a:r>
              <a:rPr b="1" lang="en" sz="1200"/>
              <a:t>!</a:t>
            </a:r>
            <a:endParaRPr b="1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