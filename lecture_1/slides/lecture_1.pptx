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1.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00.xml"/>
  <Override ContentType="application/vnd.openxmlformats-officedocument.presentationml.notesSlide+xml" PartName="/ppt/notesSlides/notesSlide42.xml"/>
  <Override ContentType="application/vnd.openxmlformats-officedocument.presentationml.notesSlide+xml" PartName="/ppt/notesSlides/notesSlide85.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77.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81.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93.xml"/>
  <Override ContentType="application/vnd.openxmlformats-officedocument.presentationml.notesSlide+xml" PartName="/ppt/notesSlides/notesSlide87.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103.xml"/>
  <Override ContentType="application/vnd.openxmlformats-officedocument.presentationml.notesSlide+xml" PartName="/ppt/notesSlides/notesSlide97.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89.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20.xml"/>
  <Override ContentType="application/vnd.openxmlformats-officedocument.presentationml.notesSlide+xml" PartName="/ppt/notesSlides/notesSlide60.xml"/>
  <Override ContentType="application/vnd.openxmlformats-officedocument.presentationml.notesSlide+xml" PartName="/ppt/notesSlides/notesSlide18.xml"/>
  <Override ContentType="application/vnd.openxmlformats-officedocument.presentationml.notesSlide+xml" PartName="/ppt/notesSlides/notesSlide48.xml"/>
  <Override ContentType="application/vnd.openxmlformats-officedocument.presentationml.notesSlide+xml" PartName="/ppt/notesSlides/notesSlide101.xml"/>
  <Override ContentType="application/vnd.openxmlformats-officedocument.presentationml.notesSlide+xml" PartName="/ppt/notesSlides/notesSlide95.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1.xml"/>
  <Override ContentType="application/vnd.openxmlformats-officedocument.presentationml.notesSlide+xml" PartName="/ppt/notesSlides/notesSlide92.xml"/>
  <Override ContentType="application/vnd.openxmlformats-officedocument.presentationml.notesSlide+xml" PartName="/ppt/notesSlides/notesSlide84.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82.xml"/>
  <Override ContentType="application/vnd.openxmlformats-officedocument.presentationml.notesSlide+xml" PartName="/ppt/notesSlides/notesSlide94.xml"/>
  <Override ContentType="application/vnd.openxmlformats-officedocument.presentationml.notesSlide+xml" PartName="/ppt/notesSlides/notesSlide51.xml"/>
  <Override ContentType="application/vnd.openxmlformats-officedocument.presentationml.notesSlide+xml" PartName="/ppt/notesSlides/notesSlide90.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86.xml"/>
  <Override ContentType="application/vnd.openxmlformats-officedocument.presentationml.notesSlide+xml" PartName="/ppt/notesSlides/notesSlide99.xml"/>
  <Override ContentType="application/vnd.openxmlformats-officedocument.presentationml.notesSlide+xml" PartName="/ppt/notesSlides/notesSlide56.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88.xml"/>
  <Override ContentType="application/vnd.openxmlformats-officedocument.presentationml.notesSlide+xml" PartName="/ppt/notesSlides/notesSlide2.xml"/>
  <Override ContentType="application/vnd.openxmlformats-officedocument.presentationml.notesSlide+xml" PartName="/ppt/notesSlides/notesSlide62.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28.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98.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6.xml"/>
  <Override ContentType="application/vnd.openxmlformats-officedocument.presentationml.notesSlide+xml" PartName="/ppt/notesSlides/notesSlide79.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96.xml"/>
  <Override ContentType="application/vnd.openxmlformats-officedocument.presentationml.notesSlide+xml" PartName="/ppt/notesSlides/notesSlide102.xml"/>
  <Override ContentType="application/vnd.openxmlformats-officedocument.presentationml.notesSlide+xml" PartName="/ppt/notesSlides/notesSlide19.xml"/>
  <Override ContentType="application/vnd.openxmlformats-officedocument.presentationml.notesSlide+xml" PartName="/ppt/notesSlides/notesSlide83.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68.xml"/>
  <Override ContentType="application/vnd.openxmlformats-officedocument.presentationml.slide+xml" PartName="/ppt/slides/slide94.xml"/>
  <Override ContentType="application/vnd.openxmlformats-officedocument.presentationml.slide+xml" PartName="/ppt/slides/slide84.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53.xml"/>
  <Override ContentType="application/vnd.openxmlformats-officedocument.presentationml.slide+xml" PartName="/ppt/slides/slide96.xml"/>
  <Override ContentType="application/vnd.openxmlformats-officedocument.presentationml.slide+xml" PartName="/ppt/slides/slide48.xml"/>
  <Override ContentType="application/vnd.openxmlformats-officedocument.presentationml.slide+xml" PartName="/ppt/slides/slide22.xml"/>
  <Override ContentType="application/vnd.openxmlformats-officedocument.presentationml.slide+xml" PartName="/ppt/slides/slide82.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2.xml"/>
  <Override ContentType="application/vnd.openxmlformats-officedocument.presentationml.slide+xml" PartName="/ppt/slides/slide98.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89.xml"/>
  <Override ContentType="application/vnd.openxmlformats-officedocument.presentationml.slide+xml" PartName="/ppt/slides/slide76.xml"/>
  <Override ContentType="application/vnd.openxmlformats-officedocument.presentationml.slide+xml" PartName="/ppt/slides/slide63.xml"/>
  <Override ContentType="application/vnd.openxmlformats-officedocument.presentationml.slide+xml" PartName="/ppt/slides/slide93.xml"/>
  <Override ContentType="application/vnd.openxmlformats-officedocument.presentationml.slide+xml" PartName="/ppt/slides/slide101.xml"/>
  <Override ContentType="application/vnd.openxmlformats-officedocument.presentationml.slide+xml" PartName="/ppt/slides/slide80.xml"/>
  <Override ContentType="application/vnd.openxmlformats-officedocument.presentationml.slide+xml" PartName="/ppt/slides/slide103.xml"/>
  <Override ContentType="application/vnd.openxmlformats-officedocument.presentationml.slide+xml" PartName="/ppt/slides/slide61.xml"/>
  <Override ContentType="application/vnd.openxmlformats-officedocument.presentationml.slide+xml" PartName="/ppt/slides/slide91.xml"/>
  <Override ContentType="application/vnd.openxmlformats-officedocument.presentationml.slide+xml" PartName="/ppt/slides/slide31.xml"/>
  <Override ContentType="application/vnd.openxmlformats-officedocument.presentationml.slide+xml" PartName="/ppt/slides/slide87.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9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42.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97.xml"/>
  <Override ContentType="application/vnd.openxmlformats-officedocument.presentationml.slide+xml" PartName="/ppt/slides/slide11.xml"/>
  <Override ContentType="application/vnd.openxmlformats-officedocument.presentationml.slide+xml" PartName="/ppt/slides/slide6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79.xml"/>
  <Override ContentType="application/vnd.openxmlformats-officedocument.presentationml.slide+xml" PartName="/ppt/slides/slide49.xml"/>
  <Override ContentType="application/vnd.openxmlformats-officedocument.presentationml.slide+xml" PartName="/ppt/slides/slide83.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40.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99.xml"/>
  <Override ContentType="application/vnd.openxmlformats-officedocument.presentationml.slide+xml" PartName="/ppt/slides/slide3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47.xml"/>
  <Override ContentType="application/vnd.openxmlformats-officedocument.presentationml.slide+xml" PartName="/ppt/slides/slide21.xml"/>
  <Override ContentType="application/vnd.openxmlformats-officedocument.presentationml.slide+xml" PartName="/ppt/slides/slide100.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90.xml"/>
  <Override ContentType="application/vnd.openxmlformats-officedocument.presentationml.slide+xml" PartName="/ppt/slides/slide8.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88.xml"/>
  <Override ContentType="application/vnd.openxmlformats-officedocument.presentationml.slide+xml" PartName="/ppt/slides/slide92.xml"/>
  <Override ContentType="application/vnd.openxmlformats-officedocument.presentationml.slide+xml" PartName="/ppt/slides/slide102.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0" r:id="rId4"/>
    <p:sldMasterId id="2147483671"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Lst>
  <p:sldSz cy="5143500" cx="9144000"/>
  <p:notesSz cx="6858000" cy="9144000"/>
  <p:embeddedFontLst>
    <p:embeddedFont>
      <p:font typeface="Roboto Mono"/>
      <p:regular r:id="rId110"/>
      <p:bold r:id="rId111"/>
      <p:italic r:id="rId112"/>
      <p:boldItalic r:id="rId11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30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304"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07" Type="http://schemas.openxmlformats.org/officeDocument/2006/relationships/slide" Target="slides/slide101.xml"/><Relationship Id="rId106" Type="http://schemas.openxmlformats.org/officeDocument/2006/relationships/slide" Target="slides/slide100.xml"/><Relationship Id="rId105" Type="http://schemas.openxmlformats.org/officeDocument/2006/relationships/slide" Target="slides/slide99.xml"/><Relationship Id="rId104" Type="http://schemas.openxmlformats.org/officeDocument/2006/relationships/slide" Target="slides/slide98.xml"/><Relationship Id="rId109" Type="http://schemas.openxmlformats.org/officeDocument/2006/relationships/slide" Target="slides/slide103.xml"/><Relationship Id="rId108" Type="http://schemas.openxmlformats.org/officeDocument/2006/relationships/slide" Target="slides/slide102.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103" Type="http://schemas.openxmlformats.org/officeDocument/2006/relationships/slide" Target="slides/slide97.xml"/><Relationship Id="rId102" Type="http://schemas.openxmlformats.org/officeDocument/2006/relationships/slide" Target="slides/slide96.xml"/><Relationship Id="rId101" Type="http://schemas.openxmlformats.org/officeDocument/2006/relationships/slide" Target="slides/slide95.xml"/><Relationship Id="rId100" Type="http://schemas.openxmlformats.org/officeDocument/2006/relationships/slide" Target="slides/slide94.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95" Type="http://schemas.openxmlformats.org/officeDocument/2006/relationships/slide" Target="slides/slide89.xml"/><Relationship Id="rId94" Type="http://schemas.openxmlformats.org/officeDocument/2006/relationships/slide" Target="slides/slide88.xml"/><Relationship Id="rId97" Type="http://schemas.openxmlformats.org/officeDocument/2006/relationships/slide" Target="slides/slide91.xml"/><Relationship Id="rId96" Type="http://schemas.openxmlformats.org/officeDocument/2006/relationships/slide" Target="slides/slide90.xml"/><Relationship Id="rId11" Type="http://schemas.openxmlformats.org/officeDocument/2006/relationships/slide" Target="slides/slide5.xml"/><Relationship Id="rId99" Type="http://schemas.openxmlformats.org/officeDocument/2006/relationships/slide" Target="slides/slide93.xml"/><Relationship Id="rId10" Type="http://schemas.openxmlformats.org/officeDocument/2006/relationships/slide" Target="slides/slide4.xml"/><Relationship Id="rId98" Type="http://schemas.openxmlformats.org/officeDocument/2006/relationships/slide" Target="slides/slide92.xml"/><Relationship Id="rId13" Type="http://schemas.openxmlformats.org/officeDocument/2006/relationships/slide" Target="slides/slide7.xml"/><Relationship Id="rId12" Type="http://schemas.openxmlformats.org/officeDocument/2006/relationships/slide" Target="slides/slide6.xml"/><Relationship Id="rId91" Type="http://schemas.openxmlformats.org/officeDocument/2006/relationships/slide" Target="slides/slide85.xml"/><Relationship Id="rId90" Type="http://schemas.openxmlformats.org/officeDocument/2006/relationships/slide" Target="slides/slide84.xml"/><Relationship Id="rId93" Type="http://schemas.openxmlformats.org/officeDocument/2006/relationships/slide" Target="slides/slide87.xml"/><Relationship Id="rId92" Type="http://schemas.openxmlformats.org/officeDocument/2006/relationships/slide" Target="slides/slide86.xml"/><Relationship Id="rId15" Type="http://schemas.openxmlformats.org/officeDocument/2006/relationships/slide" Target="slides/slide9.xml"/><Relationship Id="rId110" Type="http://schemas.openxmlformats.org/officeDocument/2006/relationships/font" Target="fonts/RobotoMono-regular.fntdata"/><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 Id="rId113" Type="http://schemas.openxmlformats.org/officeDocument/2006/relationships/font" Target="fonts/RobotoMono-boldItalic.fntdata"/><Relationship Id="rId112" Type="http://schemas.openxmlformats.org/officeDocument/2006/relationships/font" Target="fonts/RobotoMono-italic.fntdata"/><Relationship Id="rId111" Type="http://schemas.openxmlformats.org/officeDocument/2006/relationships/font" Target="fonts/RobotoMono-bold.fntdata"/><Relationship Id="rId84" Type="http://schemas.openxmlformats.org/officeDocument/2006/relationships/slide" Target="slides/slide78.xml"/><Relationship Id="rId83" Type="http://schemas.openxmlformats.org/officeDocument/2006/relationships/slide" Target="slides/slide77.xml"/><Relationship Id="rId86" Type="http://schemas.openxmlformats.org/officeDocument/2006/relationships/slide" Target="slides/slide80.xml"/><Relationship Id="rId85" Type="http://schemas.openxmlformats.org/officeDocument/2006/relationships/slide" Target="slides/slide79.xml"/><Relationship Id="rId88" Type="http://schemas.openxmlformats.org/officeDocument/2006/relationships/slide" Target="slides/slide82.xml"/><Relationship Id="rId87" Type="http://schemas.openxmlformats.org/officeDocument/2006/relationships/slide" Target="slides/slide81.xml"/><Relationship Id="rId89" Type="http://schemas.openxmlformats.org/officeDocument/2006/relationships/slide" Target="slides/slide83.xml"/><Relationship Id="rId80" Type="http://schemas.openxmlformats.org/officeDocument/2006/relationships/slide" Target="slides/slide74.xml"/><Relationship Id="rId82" Type="http://schemas.openxmlformats.org/officeDocument/2006/relationships/slide" Target="slides/slide76.xml"/><Relationship Id="rId81" Type="http://schemas.openxmlformats.org/officeDocument/2006/relationships/slide" Target="slides/slide75.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73" Type="http://schemas.openxmlformats.org/officeDocument/2006/relationships/slide" Target="slides/slide67.xml"/><Relationship Id="rId72" Type="http://schemas.openxmlformats.org/officeDocument/2006/relationships/slide" Target="slides/slide66.xml"/><Relationship Id="rId75" Type="http://schemas.openxmlformats.org/officeDocument/2006/relationships/slide" Target="slides/slide69.xml"/><Relationship Id="rId74" Type="http://schemas.openxmlformats.org/officeDocument/2006/relationships/slide" Target="slides/slide68.xml"/><Relationship Id="rId77" Type="http://schemas.openxmlformats.org/officeDocument/2006/relationships/slide" Target="slides/slide71.xml"/><Relationship Id="rId76" Type="http://schemas.openxmlformats.org/officeDocument/2006/relationships/slide" Target="slides/slide70.xml"/><Relationship Id="rId79" Type="http://schemas.openxmlformats.org/officeDocument/2006/relationships/slide" Target="slides/slide73.xml"/><Relationship Id="rId78" Type="http://schemas.openxmlformats.org/officeDocument/2006/relationships/slide" Target="slides/slide72.xml"/><Relationship Id="rId71" Type="http://schemas.openxmlformats.org/officeDocument/2006/relationships/slide" Target="slides/slide65.xml"/><Relationship Id="rId70" Type="http://schemas.openxmlformats.org/officeDocument/2006/relationships/slide" Target="slides/slide64.xml"/><Relationship Id="rId62" Type="http://schemas.openxmlformats.org/officeDocument/2006/relationships/slide" Target="slides/slide56.xml"/><Relationship Id="rId61" Type="http://schemas.openxmlformats.org/officeDocument/2006/relationships/slide" Target="slides/slide55.xml"/><Relationship Id="rId64" Type="http://schemas.openxmlformats.org/officeDocument/2006/relationships/slide" Target="slides/slide58.xml"/><Relationship Id="rId63" Type="http://schemas.openxmlformats.org/officeDocument/2006/relationships/slide" Target="slides/slide57.xml"/><Relationship Id="rId66" Type="http://schemas.openxmlformats.org/officeDocument/2006/relationships/slide" Target="slides/slide60.xml"/><Relationship Id="rId65" Type="http://schemas.openxmlformats.org/officeDocument/2006/relationships/slide" Target="slides/slide59.xml"/><Relationship Id="rId68" Type="http://schemas.openxmlformats.org/officeDocument/2006/relationships/slide" Target="slides/slide62.xml"/><Relationship Id="rId67" Type="http://schemas.openxmlformats.org/officeDocument/2006/relationships/slide" Target="slides/slide61.xml"/><Relationship Id="rId60" Type="http://schemas.openxmlformats.org/officeDocument/2006/relationships/slide" Target="slides/slide54.xml"/><Relationship Id="rId69" Type="http://schemas.openxmlformats.org/officeDocument/2006/relationships/slide" Target="slides/slide6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55" Type="http://schemas.openxmlformats.org/officeDocument/2006/relationships/slide" Target="slides/slide49.xml"/><Relationship Id="rId54" Type="http://schemas.openxmlformats.org/officeDocument/2006/relationships/slide" Target="slides/slide48.xml"/><Relationship Id="rId57" Type="http://schemas.openxmlformats.org/officeDocument/2006/relationships/slide" Target="slides/slide51.xml"/><Relationship Id="rId56" Type="http://schemas.openxmlformats.org/officeDocument/2006/relationships/slide" Target="slides/slide50.xml"/><Relationship Id="rId59" Type="http://schemas.openxmlformats.org/officeDocument/2006/relationships/slide" Target="slides/slide53.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h2e9020b4023f6052_3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h2e9020b4023f6052_3_45: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h1cfe148236d73e27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 name="Google Shape;105;h1cfe148236d73e27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h1cfe148236d73e27_0_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h1cfe148236d73e27_0_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h2e9020b4023f6052_3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h2e9020b4023f6052_3_69: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h2b946a5b1b085163_3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6" name="Google Shape;126;h2b946a5b1b085163_3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h2b946a5b1b085163_3_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6" name="Google Shape;146;h2b946a5b1b085163_3_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h2b946a5b1b085163_3_4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0" name="Google Shape;170;h2b946a5b1b085163_3_4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h2b946a5b1b085163_3_6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6" name="Google Shape;196;h2b946a5b1b085163_3_6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h2b946a5b1b085163_3_9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2" name="Google Shape;222;h2b946a5b1b085163_3_9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h3e3183e9c96a159b_1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8" name="Google Shape;248;h3e3183e9c96a159b_1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h3e3183e9c96a159b_1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4" name="Google Shape;254;h3e3183e9c96a159b_1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h2e9020b4023f6052_3_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0" name="Google Shape;260;h2e9020b4023f6052_3_98: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hcaeef53f941eb39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hcaeef53f941eb39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hcaeef53f941eb39_2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hcaeef53f941eb39_2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hcaeef53f941eb39_2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hcaeef53f941eb39_2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hcaeef53f941eb39_2_2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hcaeef53f941eb39_2_2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h3e3183e9c96a159b_1_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9" name="Google Shape;289;h3e3183e9c96a159b_1_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 name="Shape 293"/>
        <p:cNvGrpSpPr/>
        <p:nvPr/>
      </p:nvGrpSpPr>
      <p:grpSpPr>
        <a:xfrm>
          <a:off x="0" y="0"/>
          <a:ext cx="0" cy="0"/>
          <a:chOff x="0" y="0"/>
          <a:chExt cx="0" cy="0"/>
        </a:xfrm>
      </p:grpSpPr>
      <p:sp>
        <p:nvSpPr>
          <p:cNvPr id="294" name="Google Shape;294;hcaeef53f941eb39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5" name="Google Shape;295;hcaeef53f941eb39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hcaeef53f941eb39_2_2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hcaeef53f941eb39_2_2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h3e3183e9c96a159b_1_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7" name="Google Shape;307;h3e3183e9c96a159b_1_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h3e3183e9c96a159b_1_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h3e3183e9c96a159b_1_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hcaeef53f941eb39_2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hcaeef53f941eb39_2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hcaeef53f941eb39_2_2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hcaeef53f941eb39_2_2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h3e3183e9c96a159b_1_1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5" name="Google Shape;355;h3e3183e9c96a159b_1_1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hcaeef53f941eb39_2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3" name="Google Shape;363;hcaeef53f941eb39_2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h3e3183e9c96a159b_1_2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1" name="Google Shape;371;h3e3183e9c96a159b_1_2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h3e3183e9c96a159b_1_2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h3e3183e9c96a159b_1_2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1" name="Shape 381"/>
        <p:cNvGrpSpPr/>
        <p:nvPr/>
      </p:nvGrpSpPr>
      <p:grpSpPr>
        <a:xfrm>
          <a:off x="0" y="0"/>
          <a:ext cx="0" cy="0"/>
          <a:chOff x="0" y="0"/>
          <a:chExt cx="0" cy="0"/>
        </a:xfrm>
      </p:grpSpPr>
      <p:sp>
        <p:nvSpPr>
          <p:cNvPr id="382" name="Google Shape;382;hcaeef53f941eb39_2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3" name="Google Shape;383;hcaeef53f941eb39_2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h1e4040262f6abd9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0" name="Google Shape;390;h1e4040262f6abd9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5" name="Shape 395"/>
        <p:cNvGrpSpPr/>
        <p:nvPr/>
      </p:nvGrpSpPr>
      <p:grpSpPr>
        <a:xfrm>
          <a:off x="0" y="0"/>
          <a:ext cx="0" cy="0"/>
          <a:chOff x="0" y="0"/>
          <a:chExt cx="0" cy="0"/>
        </a:xfrm>
      </p:grpSpPr>
      <p:sp>
        <p:nvSpPr>
          <p:cNvPr id="396" name="Google Shape;396;h3e3183e9c96a159b_1_3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7" name="Google Shape;397;h3e3183e9c96a159b_1_3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hcaeef53f941eb39_2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3" name="Google Shape;403;hcaeef53f941eb39_2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hcaeef53f941eb39_2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0" name="Google Shape;410;hcaeef53f941eb39_2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h3e3183e9c96a159b_1_4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8" name="Google Shape;418;h3e3183e9c96a159b_1_4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3" name="Shape 423"/>
        <p:cNvGrpSpPr/>
        <p:nvPr/>
      </p:nvGrpSpPr>
      <p:grpSpPr>
        <a:xfrm>
          <a:off x="0" y="0"/>
          <a:ext cx="0" cy="0"/>
          <a:chOff x="0" y="0"/>
          <a:chExt cx="0" cy="0"/>
        </a:xfrm>
      </p:grpSpPr>
      <p:sp>
        <p:nvSpPr>
          <p:cNvPr id="424" name="Google Shape;424;hcaeef53f941eb39_2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5" name="Google Shape;425;hcaeef53f941eb39_2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hcaeef53f941eb39_2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2" name="Google Shape;432;hcaeef53f941eb39_2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h3e3183e9c96a159b_1_5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9" name="Google Shape;439;h3e3183e9c96a159b_1_5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hcaeef53f941eb39_2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5" name="Google Shape;445;hcaeef53f941eb39_2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hcaeef53f941eb39_2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1" name="Google Shape;451;hcaeef53f941eb39_2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h3e3183e9c96a159b_1_4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7" name="Google Shape;457;h3e3183e9c96a159b_1_4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hcaeef53f941eb39_2_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4" name="Google Shape;464;hcaeef53f941eb39_2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1" name="Shape 471"/>
        <p:cNvGrpSpPr/>
        <p:nvPr/>
      </p:nvGrpSpPr>
      <p:grpSpPr>
        <a:xfrm>
          <a:off x="0" y="0"/>
          <a:ext cx="0" cy="0"/>
          <a:chOff x="0" y="0"/>
          <a:chExt cx="0" cy="0"/>
        </a:xfrm>
      </p:grpSpPr>
      <p:sp>
        <p:nvSpPr>
          <p:cNvPr id="472" name="Google Shape;472;h3e3183e9c96a159b_1_4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3" name="Google Shape;473;h3e3183e9c96a159b_1_4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8" name="Shape 478"/>
        <p:cNvGrpSpPr/>
        <p:nvPr/>
      </p:nvGrpSpPr>
      <p:grpSpPr>
        <a:xfrm>
          <a:off x="0" y="0"/>
          <a:ext cx="0" cy="0"/>
          <a:chOff x="0" y="0"/>
          <a:chExt cx="0" cy="0"/>
        </a:xfrm>
      </p:grpSpPr>
      <p:sp>
        <p:nvSpPr>
          <p:cNvPr id="479" name="Google Shape;479;hcaeef53f941eb39_2_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0" name="Google Shape;480;hcaeef53f941eb39_2_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h3e3183e9c96a159b_1_4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7" name="Google Shape;487;h3e3183e9c96a159b_1_4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h3e3183e9c96a159b_1_4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3" name="Google Shape;493;h3e3183e9c96a159b_1_4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8" name="Shape 498"/>
        <p:cNvGrpSpPr/>
        <p:nvPr/>
      </p:nvGrpSpPr>
      <p:grpSpPr>
        <a:xfrm>
          <a:off x="0" y="0"/>
          <a:ext cx="0" cy="0"/>
          <a:chOff x="0" y="0"/>
          <a:chExt cx="0" cy="0"/>
        </a:xfrm>
      </p:grpSpPr>
      <p:sp>
        <p:nvSpPr>
          <p:cNvPr id="499" name="Google Shape;499;hcaeef53f941eb39_2_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0" name="Google Shape;500;hcaeef53f941eb39_2_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5" name="Shape 505"/>
        <p:cNvGrpSpPr/>
        <p:nvPr/>
      </p:nvGrpSpPr>
      <p:grpSpPr>
        <a:xfrm>
          <a:off x="0" y="0"/>
          <a:ext cx="0" cy="0"/>
          <a:chOff x="0" y="0"/>
          <a:chExt cx="0" cy="0"/>
        </a:xfrm>
      </p:grpSpPr>
      <p:sp>
        <p:nvSpPr>
          <p:cNvPr id="506" name="Google Shape;506;h3e3183e9c96a159b_1_4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7" name="Google Shape;507;h3e3183e9c96a159b_1_4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1" name="Shape 511"/>
        <p:cNvGrpSpPr/>
        <p:nvPr/>
      </p:nvGrpSpPr>
      <p:grpSpPr>
        <a:xfrm>
          <a:off x="0" y="0"/>
          <a:ext cx="0" cy="0"/>
          <a:chOff x="0" y="0"/>
          <a:chExt cx="0" cy="0"/>
        </a:xfrm>
      </p:grpSpPr>
      <p:sp>
        <p:nvSpPr>
          <p:cNvPr id="512" name="Google Shape;512;h3e3183e9c96a159b_1_4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3" name="Google Shape;513;h3e3183e9c96a159b_1_4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hcaeef53f941eb39_2_1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9" name="Google Shape;519;hcaeef53f941eb39_2_1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hcaeef53f941eb39_2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6" name="Google Shape;526;hcaeef53f941eb39_2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h3e3183e9c96a159b_1_5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3" name="Google Shape;533;h3e3183e9c96a159b_1_5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hcaeef53f941eb39_2_2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9" name="Google Shape;539;hcaeef53f941eb39_2_2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hcaeef53f941eb39_2_1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hcaeef53f941eb39_2_1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0" name="Shape 550"/>
        <p:cNvGrpSpPr/>
        <p:nvPr/>
      </p:nvGrpSpPr>
      <p:grpSpPr>
        <a:xfrm>
          <a:off x="0" y="0"/>
          <a:ext cx="0" cy="0"/>
          <a:chOff x="0" y="0"/>
          <a:chExt cx="0" cy="0"/>
        </a:xfrm>
      </p:grpSpPr>
      <p:sp>
        <p:nvSpPr>
          <p:cNvPr id="551" name="Google Shape;551;hcaeef53f941eb39_2_1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2" name="Google Shape;552;hcaeef53f941eb39_2_1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 name="Shape 557"/>
        <p:cNvGrpSpPr/>
        <p:nvPr/>
      </p:nvGrpSpPr>
      <p:grpSpPr>
        <a:xfrm>
          <a:off x="0" y="0"/>
          <a:ext cx="0" cy="0"/>
          <a:chOff x="0" y="0"/>
          <a:chExt cx="0" cy="0"/>
        </a:xfrm>
      </p:grpSpPr>
      <p:sp>
        <p:nvSpPr>
          <p:cNvPr id="558" name="Google Shape;558;h3e3183e9c96a159b_1_5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59" name="Google Shape;559;h3e3183e9c96a159b_1_5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2" name="Shape 562"/>
        <p:cNvGrpSpPr/>
        <p:nvPr/>
      </p:nvGrpSpPr>
      <p:grpSpPr>
        <a:xfrm>
          <a:off x="0" y="0"/>
          <a:ext cx="0" cy="0"/>
          <a:chOff x="0" y="0"/>
          <a:chExt cx="0" cy="0"/>
        </a:xfrm>
      </p:grpSpPr>
      <p:sp>
        <p:nvSpPr>
          <p:cNvPr id="563" name="Google Shape;563;h3e3183e9c96a159b_1_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4" name="Google Shape;564;h3e3183e9c96a159b_1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9" name="Shape 569"/>
        <p:cNvGrpSpPr/>
        <p:nvPr/>
      </p:nvGrpSpPr>
      <p:grpSpPr>
        <a:xfrm>
          <a:off x="0" y="0"/>
          <a:ext cx="0" cy="0"/>
          <a:chOff x="0" y="0"/>
          <a:chExt cx="0" cy="0"/>
        </a:xfrm>
      </p:grpSpPr>
      <p:sp>
        <p:nvSpPr>
          <p:cNvPr id="570" name="Google Shape;570;hcaeef53f941eb39_2_1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1" name="Google Shape;571;hcaeef53f941eb39_2_1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6" name="Shape 576"/>
        <p:cNvGrpSpPr/>
        <p:nvPr/>
      </p:nvGrpSpPr>
      <p:grpSpPr>
        <a:xfrm>
          <a:off x="0" y="0"/>
          <a:ext cx="0" cy="0"/>
          <a:chOff x="0" y="0"/>
          <a:chExt cx="0" cy="0"/>
        </a:xfrm>
      </p:grpSpPr>
      <p:sp>
        <p:nvSpPr>
          <p:cNvPr id="577" name="Google Shape;577;hcaeef53f941eb39_2_1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8" name="Google Shape;578;hcaeef53f941eb39_2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3" name="Shape 583"/>
        <p:cNvGrpSpPr/>
        <p:nvPr/>
      </p:nvGrpSpPr>
      <p:grpSpPr>
        <a:xfrm>
          <a:off x="0" y="0"/>
          <a:ext cx="0" cy="0"/>
          <a:chOff x="0" y="0"/>
          <a:chExt cx="0" cy="0"/>
        </a:xfrm>
      </p:grpSpPr>
      <p:sp>
        <p:nvSpPr>
          <p:cNvPr id="584" name="Google Shape;584;h3e3183e9c96a159b_1_3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5" name="Google Shape;585;h3e3183e9c96a159b_1_3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h3e3183e9c96a159b_1_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1" name="Google Shape;591;h3e3183e9c96a159b_1_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5" name="Shape 595"/>
        <p:cNvGrpSpPr/>
        <p:nvPr/>
      </p:nvGrpSpPr>
      <p:grpSpPr>
        <a:xfrm>
          <a:off x="0" y="0"/>
          <a:ext cx="0" cy="0"/>
          <a:chOff x="0" y="0"/>
          <a:chExt cx="0" cy="0"/>
        </a:xfrm>
      </p:grpSpPr>
      <p:sp>
        <p:nvSpPr>
          <p:cNvPr id="596" name="Google Shape;596;hcaeef53f941eb39_2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7" name="Google Shape;597;hcaeef53f941eb39_2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2" name="Shape 602"/>
        <p:cNvGrpSpPr/>
        <p:nvPr/>
      </p:nvGrpSpPr>
      <p:grpSpPr>
        <a:xfrm>
          <a:off x="0" y="0"/>
          <a:ext cx="0" cy="0"/>
          <a:chOff x="0" y="0"/>
          <a:chExt cx="0" cy="0"/>
        </a:xfrm>
      </p:grpSpPr>
      <p:sp>
        <p:nvSpPr>
          <p:cNvPr id="603" name="Google Shape;603;h3e3183e9c96a159b_1_3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4" name="Google Shape;604;h3e3183e9c96a159b_1_3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hcaeef53f941eb39_2_1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1" name="Google Shape;611;hcaeef53f941eb39_2_1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6" name="Shape 616"/>
        <p:cNvGrpSpPr/>
        <p:nvPr/>
      </p:nvGrpSpPr>
      <p:grpSpPr>
        <a:xfrm>
          <a:off x="0" y="0"/>
          <a:ext cx="0" cy="0"/>
          <a:chOff x="0" y="0"/>
          <a:chExt cx="0" cy="0"/>
        </a:xfrm>
      </p:grpSpPr>
      <p:sp>
        <p:nvSpPr>
          <p:cNvPr id="617" name="Google Shape;617;hcaeef53f941eb39_2_1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8" name="Google Shape;618;hcaeef53f941eb39_2_1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3" name="Shape 623"/>
        <p:cNvGrpSpPr/>
        <p:nvPr/>
      </p:nvGrpSpPr>
      <p:grpSpPr>
        <a:xfrm>
          <a:off x="0" y="0"/>
          <a:ext cx="0" cy="0"/>
          <a:chOff x="0" y="0"/>
          <a:chExt cx="0" cy="0"/>
        </a:xfrm>
      </p:grpSpPr>
      <p:sp>
        <p:nvSpPr>
          <p:cNvPr id="624" name="Google Shape;624;hcaeef53f941eb39_2_1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5" name="Google Shape;625;hcaeef53f941eb39_2_1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1" name="Shape 631"/>
        <p:cNvGrpSpPr/>
        <p:nvPr/>
      </p:nvGrpSpPr>
      <p:grpSpPr>
        <a:xfrm>
          <a:off x="0" y="0"/>
          <a:ext cx="0" cy="0"/>
          <a:chOff x="0" y="0"/>
          <a:chExt cx="0" cy="0"/>
        </a:xfrm>
      </p:grpSpPr>
      <p:sp>
        <p:nvSpPr>
          <p:cNvPr id="632" name="Google Shape;632;h4465f8030de8f4b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3" name="Google Shape;633;h4465f8030de8f4b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7" name="Shape 637"/>
        <p:cNvGrpSpPr/>
        <p:nvPr/>
      </p:nvGrpSpPr>
      <p:grpSpPr>
        <a:xfrm>
          <a:off x="0" y="0"/>
          <a:ext cx="0" cy="0"/>
          <a:chOff x="0" y="0"/>
          <a:chExt cx="0" cy="0"/>
        </a:xfrm>
      </p:grpSpPr>
      <p:sp>
        <p:nvSpPr>
          <p:cNvPr id="638" name="Google Shape;638;hcaeef53f941eb39_2_2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9" name="Google Shape;639;hcaeef53f941eb39_2_2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h3e3183e9c96a159b_1_3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0" name="Google Shape;650;h3e3183e9c96a159b_1_3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hcaeef53f941eb39_2_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6" name="Google Shape;656;hcaeef53f941eb39_2_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hcaeef53f941eb39_2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2" name="Google Shape;662;hcaeef53f941eb39_2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h3e3183e9c96a159b_1_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8" name="Google Shape;668;h3e3183e9c96a159b_1_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hcaeef53f941eb39_2_1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5" name="Google Shape;675;hcaeef53f941eb39_2_1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hcaeef53f941eb39_2_1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3" name="Google Shape;683;hcaeef53f941eb39_2_1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0" name="Shape 690"/>
        <p:cNvGrpSpPr/>
        <p:nvPr/>
      </p:nvGrpSpPr>
      <p:grpSpPr>
        <a:xfrm>
          <a:off x="0" y="0"/>
          <a:ext cx="0" cy="0"/>
          <a:chOff x="0" y="0"/>
          <a:chExt cx="0" cy="0"/>
        </a:xfrm>
      </p:grpSpPr>
      <p:sp>
        <p:nvSpPr>
          <p:cNvPr id="691" name="Google Shape;691;h2e9020b4023f6052_3_1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92" name="Google Shape;692;h2e9020b4023f6052_3_15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5" name="Shape 695"/>
        <p:cNvGrpSpPr/>
        <p:nvPr/>
      </p:nvGrpSpPr>
      <p:grpSpPr>
        <a:xfrm>
          <a:off x="0" y="0"/>
          <a:ext cx="0" cy="0"/>
          <a:chOff x="0" y="0"/>
          <a:chExt cx="0" cy="0"/>
        </a:xfrm>
      </p:grpSpPr>
      <p:sp>
        <p:nvSpPr>
          <p:cNvPr id="696" name="Google Shape;696;h3e3183e9c96a159b_1_5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7" name="Google Shape;697;h3e3183e9c96a159b_1_5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3" name="Shape 703"/>
        <p:cNvGrpSpPr/>
        <p:nvPr/>
      </p:nvGrpSpPr>
      <p:grpSpPr>
        <a:xfrm>
          <a:off x="0" y="0"/>
          <a:ext cx="0" cy="0"/>
          <a:chOff x="0" y="0"/>
          <a:chExt cx="0" cy="0"/>
        </a:xfrm>
      </p:grpSpPr>
      <p:sp>
        <p:nvSpPr>
          <p:cNvPr id="704" name="Google Shape;704;hcaeef53f941eb39_2_1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5" name="Google Shape;705;hcaeef53f941eb39_2_1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1" name="Shape 711"/>
        <p:cNvGrpSpPr/>
        <p:nvPr/>
      </p:nvGrpSpPr>
      <p:grpSpPr>
        <a:xfrm>
          <a:off x="0" y="0"/>
          <a:ext cx="0" cy="0"/>
          <a:chOff x="0" y="0"/>
          <a:chExt cx="0" cy="0"/>
        </a:xfrm>
      </p:grpSpPr>
      <p:sp>
        <p:nvSpPr>
          <p:cNvPr id="712" name="Google Shape;712;hcaeef53f941eb39_2_2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3" name="Google Shape;713;hcaeef53f941eb39_2_2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7" name="Shape 717"/>
        <p:cNvGrpSpPr/>
        <p:nvPr/>
      </p:nvGrpSpPr>
      <p:grpSpPr>
        <a:xfrm>
          <a:off x="0" y="0"/>
          <a:ext cx="0" cy="0"/>
          <a:chOff x="0" y="0"/>
          <a:chExt cx="0" cy="0"/>
        </a:xfrm>
      </p:grpSpPr>
      <p:sp>
        <p:nvSpPr>
          <p:cNvPr id="718" name="Google Shape;718;h1cfe148236d73e2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9" name="Google Shape;719;h1cfe148236d73e2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hcaeef53f941eb39_2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5" name="Google Shape;725;hcaeef53f941eb39_2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9" name="Shape 729"/>
        <p:cNvGrpSpPr/>
        <p:nvPr/>
      </p:nvGrpSpPr>
      <p:grpSpPr>
        <a:xfrm>
          <a:off x="0" y="0"/>
          <a:ext cx="0" cy="0"/>
          <a:chOff x="0" y="0"/>
          <a:chExt cx="0" cy="0"/>
        </a:xfrm>
      </p:grpSpPr>
      <p:sp>
        <p:nvSpPr>
          <p:cNvPr id="730" name="Google Shape;730;hcaeef53f941eb39_2_2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1" name="Google Shape;731;hcaeef53f941eb39_2_2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5" name="Shape 735"/>
        <p:cNvGrpSpPr/>
        <p:nvPr/>
      </p:nvGrpSpPr>
      <p:grpSpPr>
        <a:xfrm>
          <a:off x="0" y="0"/>
          <a:ext cx="0" cy="0"/>
          <a:chOff x="0" y="0"/>
          <a:chExt cx="0" cy="0"/>
        </a:xfrm>
      </p:grpSpPr>
      <p:sp>
        <p:nvSpPr>
          <p:cNvPr id="736" name="Google Shape;736;h1cfe148236d73e2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7" name="Google Shape;737;h1cfe148236d73e2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3" name="Shape 743"/>
        <p:cNvGrpSpPr/>
        <p:nvPr/>
      </p:nvGrpSpPr>
      <p:grpSpPr>
        <a:xfrm>
          <a:off x="0" y="0"/>
          <a:ext cx="0" cy="0"/>
          <a:chOff x="0" y="0"/>
          <a:chExt cx="0" cy="0"/>
        </a:xfrm>
      </p:grpSpPr>
      <p:sp>
        <p:nvSpPr>
          <p:cNvPr id="744" name="Google Shape;744;h1cfe148236d73e2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5" name="Google Shape;745;h1cfe148236d73e2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9" name="Shape 749"/>
        <p:cNvGrpSpPr/>
        <p:nvPr/>
      </p:nvGrpSpPr>
      <p:grpSpPr>
        <a:xfrm>
          <a:off x="0" y="0"/>
          <a:ext cx="0" cy="0"/>
          <a:chOff x="0" y="0"/>
          <a:chExt cx="0" cy="0"/>
        </a:xfrm>
      </p:grpSpPr>
      <p:sp>
        <p:nvSpPr>
          <p:cNvPr id="750" name="Google Shape;750;h1cfe148236d73e27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1" name="Google Shape;751;h1cfe148236d73e27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5" name="Shape 755"/>
        <p:cNvGrpSpPr/>
        <p:nvPr/>
      </p:nvGrpSpPr>
      <p:grpSpPr>
        <a:xfrm>
          <a:off x="0" y="0"/>
          <a:ext cx="0" cy="0"/>
          <a:chOff x="0" y="0"/>
          <a:chExt cx="0" cy="0"/>
        </a:xfrm>
      </p:grpSpPr>
      <p:sp>
        <p:nvSpPr>
          <p:cNvPr id="756" name="Google Shape;756;hcaeef53f941eb39_2_2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7" name="Google Shape;757;hcaeef53f941eb39_2_2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1" name="Shape 761"/>
        <p:cNvGrpSpPr/>
        <p:nvPr/>
      </p:nvGrpSpPr>
      <p:grpSpPr>
        <a:xfrm>
          <a:off x="0" y="0"/>
          <a:ext cx="0" cy="0"/>
          <a:chOff x="0" y="0"/>
          <a:chExt cx="0" cy="0"/>
        </a:xfrm>
      </p:grpSpPr>
      <p:sp>
        <p:nvSpPr>
          <p:cNvPr id="762" name="Google Shape;762;h1cfe148236d73e27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3" name="Google Shape;763;h1cfe148236d73e27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h1cfe148236d73e27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9" name="Google Shape;769;h1cfe148236d73e27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3" name="Shape 773"/>
        <p:cNvGrpSpPr/>
        <p:nvPr/>
      </p:nvGrpSpPr>
      <p:grpSpPr>
        <a:xfrm>
          <a:off x="0" y="0"/>
          <a:ext cx="0" cy="0"/>
          <a:chOff x="0" y="0"/>
          <a:chExt cx="0" cy="0"/>
        </a:xfrm>
      </p:grpSpPr>
      <p:sp>
        <p:nvSpPr>
          <p:cNvPr id="774" name="Google Shape;774;h2e9020b4023f6052_3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5" name="Google Shape;775;h2e9020b4023f6052_3_210: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8" name="Shape 778"/>
        <p:cNvGrpSpPr/>
        <p:nvPr/>
      </p:nvGrpSpPr>
      <p:grpSpPr>
        <a:xfrm>
          <a:off x="0" y="0"/>
          <a:ext cx="0" cy="0"/>
          <a:chOff x="0" y="0"/>
          <a:chExt cx="0" cy="0"/>
        </a:xfrm>
      </p:grpSpPr>
      <p:sp>
        <p:nvSpPr>
          <p:cNvPr id="779" name="Google Shape;779;h1cfe148236d73e27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0" name="Google Shape;780;h1cfe148236d73e27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4" name="Shape 784"/>
        <p:cNvGrpSpPr/>
        <p:nvPr/>
      </p:nvGrpSpPr>
      <p:grpSpPr>
        <a:xfrm>
          <a:off x="0" y="0"/>
          <a:ext cx="0" cy="0"/>
          <a:chOff x="0" y="0"/>
          <a:chExt cx="0" cy="0"/>
        </a:xfrm>
      </p:grpSpPr>
      <p:sp>
        <p:nvSpPr>
          <p:cNvPr id="785" name="Google Shape;785;hcaeef53f941eb39_2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6" name="Google Shape;786;hcaeef53f941eb39_2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1" name="Shape 791"/>
        <p:cNvGrpSpPr/>
        <p:nvPr/>
      </p:nvGrpSpPr>
      <p:grpSpPr>
        <a:xfrm>
          <a:off x="0" y="0"/>
          <a:ext cx="0" cy="0"/>
          <a:chOff x="0" y="0"/>
          <a:chExt cx="0" cy="0"/>
        </a:xfrm>
      </p:grpSpPr>
      <p:sp>
        <p:nvSpPr>
          <p:cNvPr id="792" name="Google Shape;792;h1cfe148236d73e27_0_4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3" name="Google Shape;793;h1cfe148236d73e27_0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h2e9020b4023f6052_3_2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99" name="Google Shape;799;h2e9020b4023f6052_3_235: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2" name="Shape 802"/>
        <p:cNvGrpSpPr/>
        <p:nvPr/>
      </p:nvGrpSpPr>
      <p:grpSpPr>
        <a:xfrm>
          <a:off x="0" y="0"/>
          <a:ext cx="0" cy="0"/>
          <a:chOff x="0" y="0"/>
          <a:chExt cx="0" cy="0"/>
        </a:xfrm>
      </p:grpSpPr>
      <p:sp>
        <p:nvSpPr>
          <p:cNvPr id="803" name="Google Shape;803;h6a5b18338f1c364_21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4" name="Google Shape;804;h6a5b18338f1c364_21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7" name="Shape 807"/>
        <p:cNvGrpSpPr/>
        <p:nvPr/>
      </p:nvGrpSpPr>
      <p:grpSpPr>
        <a:xfrm>
          <a:off x="0" y="0"/>
          <a:ext cx="0" cy="0"/>
          <a:chOff x="0" y="0"/>
          <a:chExt cx="0" cy="0"/>
        </a:xfrm>
      </p:grpSpPr>
      <p:sp>
        <p:nvSpPr>
          <p:cNvPr id="808" name="Google Shape;808;h6a5b18338f1c364_21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9" name="Google Shape;809;h6a5b18338f1c364_21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3" name="Shape 813"/>
        <p:cNvGrpSpPr/>
        <p:nvPr/>
      </p:nvGrpSpPr>
      <p:grpSpPr>
        <a:xfrm>
          <a:off x="0" y="0"/>
          <a:ext cx="0" cy="0"/>
          <a:chOff x="0" y="0"/>
          <a:chExt cx="0" cy="0"/>
        </a:xfrm>
      </p:grpSpPr>
      <p:sp>
        <p:nvSpPr>
          <p:cNvPr id="814" name="Google Shape;814;h6a5b18338f1c364_21_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15" name="Google Shape;815;h6a5b18338f1c364_21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0" name="Shape 820"/>
        <p:cNvGrpSpPr/>
        <p:nvPr/>
      </p:nvGrpSpPr>
      <p:grpSpPr>
        <a:xfrm>
          <a:off x="0" y="0"/>
          <a:ext cx="0" cy="0"/>
          <a:chOff x="0" y="0"/>
          <a:chExt cx="0" cy="0"/>
        </a:xfrm>
      </p:grpSpPr>
      <p:sp>
        <p:nvSpPr>
          <p:cNvPr id="821" name="Google Shape;821;h6a5b18338f1c364_21_1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2" name="Google Shape;822;h6a5b18338f1c364_21_1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h6a5b18338f1c364_21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0" name="Google Shape;830;h6a5b18338f1c364_21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6" name="Shape 836"/>
        <p:cNvGrpSpPr/>
        <p:nvPr/>
      </p:nvGrpSpPr>
      <p:grpSpPr>
        <a:xfrm>
          <a:off x="0" y="0"/>
          <a:ext cx="0" cy="0"/>
          <a:chOff x="0" y="0"/>
          <a:chExt cx="0" cy="0"/>
        </a:xfrm>
      </p:grpSpPr>
      <p:sp>
        <p:nvSpPr>
          <p:cNvPr id="837" name="Google Shape;837;h6a5b18338f1c364_2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8" name="Google Shape;838;h6a5b18338f1c364_2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5" name="Shape 845"/>
        <p:cNvGrpSpPr/>
        <p:nvPr/>
      </p:nvGrpSpPr>
      <p:grpSpPr>
        <a:xfrm>
          <a:off x="0" y="0"/>
          <a:ext cx="0" cy="0"/>
          <a:chOff x="0" y="0"/>
          <a:chExt cx="0" cy="0"/>
        </a:xfrm>
      </p:grpSpPr>
      <p:sp>
        <p:nvSpPr>
          <p:cNvPr id="846" name="Google Shape;846;h6a5b18338f1c364_21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7" name="Google Shape;847;h6a5b18338f1c364_21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h6a5b18338f1c364_21_1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5" name="Google Shape;855;h6a5b18338f1c364_21_1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5" name="Shape 865"/>
        <p:cNvGrpSpPr/>
        <p:nvPr/>
      </p:nvGrpSpPr>
      <p:grpSpPr>
        <a:xfrm>
          <a:off x="0" y="0"/>
          <a:ext cx="0" cy="0"/>
          <a:chOff x="0" y="0"/>
          <a:chExt cx="0" cy="0"/>
        </a:xfrm>
      </p:grpSpPr>
      <p:sp>
        <p:nvSpPr>
          <p:cNvPr id="866" name="Google Shape;866;h6a5b18338f1c364_21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7" name="Google Shape;867;h6a5b18338f1c364_21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3" name="Shape 873"/>
        <p:cNvGrpSpPr/>
        <p:nvPr/>
      </p:nvGrpSpPr>
      <p:grpSpPr>
        <a:xfrm>
          <a:off x="0" y="0"/>
          <a:ext cx="0" cy="0"/>
          <a:chOff x="0" y="0"/>
          <a:chExt cx="0" cy="0"/>
        </a:xfrm>
      </p:grpSpPr>
      <p:sp>
        <p:nvSpPr>
          <p:cNvPr id="874" name="Google Shape;874;h6a5b18338f1c364_21_1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5" name="Google Shape;875;h6a5b18338f1c364_21_1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4" name="Shape 884"/>
        <p:cNvGrpSpPr/>
        <p:nvPr/>
      </p:nvGrpSpPr>
      <p:grpSpPr>
        <a:xfrm>
          <a:off x="0" y="0"/>
          <a:ext cx="0" cy="0"/>
          <a:chOff x="0" y="0"/>
          <a:chExt cx="0" cy="0"/>
        </a:xfrm>
      </p:grpSpPr>
      <p:sp>
        <p:nvSpPr>
          <p:cNvPr id="885" name="Google Shape;885;h6a5b18338f1c364_21_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6" name="Google Shape;886;h6a5b18338f1c364_21_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5" name="Shape 895"/>
        <p:cNvGrpSpPr/>
        <p:nvPr/>
      </p:nvGrpSpPr>
      <p:grpSpPr>
        <a:xfrm>
          <a:off x="0" y="0"/>
          <a:ext cx="0" cy="0"/>
          <a:chOff x="0" y="0"/>
          <a:chExt cx="0" cy="0"/>
        </a:xfrm>
      </p:grpSpPr>
      <p:sp>
        <p:nvSpPr>
          <p:cNvPr id="896" name="Google Shape;896;h6a5b18338f1c364_21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97" name="Google Shape;897;h6a5b18338f1c364_21_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0" name="Shape 900"/>
        <p:cNvGrpSpPr/>
        <p:nvPr/>
      </p:nvGrpSpPr>
      <p:grpSpPr>
        <a:xfrm>
          <a:off x="0" y="0"/>
          <a:ext cx="0" cy="0"/>
          <a:chOff x="0" y="0"/>
          <a:chExt cx="0" cy="0"/>
        </a:xfrm>
      </p:grpSpPr>
      <p:sp>
        <p:nvSpPr>
          <p:cNvPr id="901" name="Google Shape;901;h1cfe148236d73e27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2" name="Google Shape;902;h1cfe148236d73e27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4" name="Shape 54"/>
        <p:cNvGrpSpPr/>
        <p:nvPr/>
      </p:nvGrpSpPr>
      <p:grpSpPr>
        <a:xfrm>
          <a:off x="0" y="0"/>
          <a:ext cx="0" cy="0"/>
          <a:chOff x="0" y="0"/>
          <a:chExt cx="0" cy="0"/>
        </a:xfrm>
      </p:grpSpPr>
      <p:sp>
        <p:nvSpPr>
          <p:cNvPr id="55" name="Google Shape;55;p14"/>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56" name="Google Shape;56;p14"/>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57" name="Google Shape;57;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8" name="Shape 58"/>
        <p:cNvGrpSpPr/>
        <p:nvPr/>
      </p:nvGrpSpPr>
      <p:grpSpPr>
        <a:xfrm>
          <a:off x="0" y="0"/>
          <a:ext cx="0" cy="0"/>
          <a:chOff x="0" y="0"/>
          <a:chExt cx="0" cy="0"/>
        </a:xfrm>
      </p:grpSpPr>
      <p:sp>
        <p:nvSpPr>
          <p:cNvPr id="59" name="Google Shape;59;p1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0" name="Google Shape;60;p1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61" name="Google Shape;61;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62" name="Shape 62"/>
        <p:cNvGrpSpPr/>
        <p:nvPr/>
      </p:nvGrpSpPr>
      <p:grpSpPr>
        <a:xfrm>
          <a:off x="0" y="0"/>
          <a:ext cx="0" cy="0"/>
          <a:chOff x="0" y="0"/>
          <a:chExt cx="0" cy="0"/>
        </a:xfrm>
      </p:grpSpPr>
      <p:sp>
        <p:nvSpPr>
          <p:cNvPr id="63" name="Google Shape;63;p16"/>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64" name="Google Shape;64;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5" name="Shape 65"/>
        <p:cNvGrpSpPr/>
        <p:nvPr/>
      </p:nvGrpSpPr>
      <p:grpSpPr>
        <a:xfrm>
          <a:off x="0" y="0"/>
          <a:ext cx="0" cy="0"/>
          <a:chOff x="0" y="0"/>
          <a:chExt cx="0" cy="0"/>
        </a:xfrm>
      </p:grpSpPr>
      <p:sp>
        <p:nvSpPr>
          <p:cNvPr id="66" name="Google Shape;66;p1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7" name="Google Shape;67;p1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8" name="Shape 68"/>
        <p:cNvGrpSpPr/>
        <p:nvPr/>
      </p:nvGrpSpPr>
      <p:grpSpPr>
        <a:xfrm>
          <a:off x="0" y="0"/>
          <a:ext cx="0" cy="0"/>
          <a:chOff x="0" y="0"/>
          <a:chExt cx="0" cy="0"/>
        </a:xfrm>
      </p:grpSpPr>
      <p:sp>
        <p:nvSpPr>
          <p:cNvPr id="69" name="Google Shape;69;p1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70" name="Google Shape;70;p18"/>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1" name="Google Shape;71;p18"/>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2" name="Google Shape;72;p1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73" name="Shape 73"/>
        <p:cNvGrpSpPr/>
        <p:nvPr/>
      </p:nvGrpSpPr>
      <p:grpSpPr>
        <a:xfrm>
          <a:off x="0" y="0"/>
          <a:ext cx="0" cy="0"/>
          <a:chOff x="0" y="0"/>
          <a:chExt cx="0" cy="0"/>
        </a:xfrm>
      </p:grpSpPr>
      <p:sp>
        <p:nvSpPr>
          <p:cNvPr id="74" name="Google Shape;74;p19"/>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75" name="Google Shape;75;p19"/>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6" name="Google Shape;76;p1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77" name="Shape 77"/>
        <p:cNvGrpSpPr/>
        <p:nvPr/>
      </p:nvGrpSpPr>
      <p:grpSpPr>
        <a:xfrm>
          <a:off x="0" y="0"/>
          <a:ext cx="0" cy="0"/>
          <a:chOff x="0" y="0"/>
          <a:chExt cx="0" cy="0"/>
        </a:xfrm>
      </p:grpSpPr>
      <p:sp>
        <p:nvSpPr>
          <p:cNvPr id="78" name="Google Shape;78;p20"/>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79" name="Google Shape;79;p2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0" name="Shape 80"/>
        <p:cNvGrpSpPr/>
        <p:nvPr/>
      </p:nvGrpSpPr>
      <p:grpSpPr>
        <a:xfrm>
          <a:off x="0" y="0"/>
          <a:ext cx="0" cy="0"/>
          <a:chOff x="0" y="0"/>
          <a:chExt cx="0" cy="0"/>
        </a:xfrm>
      </p:grpSpPr>
      <p:sp>
        <p:nvSpPr>
          <p:cNvPr id="81" name="Google Shape;81;p21"/>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 name="Google Shape;82;p21"/>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83" name="Google Shape;83;p21"/>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84" name="Google Shape;84;p21"/>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85" name="Google Shape;85;p2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6" name="Shape 86"/>
        <p:cNvGrpSpPr/>
        <p:nvPr/>
      </p:nvGrpSpPr>
      <p:grpSpPr>
        <a:xfrm>
          <a:off x="0" y="0"/>
          <a:ext cx="0" cy="0"/>
          <a:chOff x="0" y="0"/>
          <a:chExt cx="0" cy="0"/>
        </a:xfrm>
      </p:grpSpPr>
      <p:sp>
        <p:nvSpPr>
          <p:cNvPr id="87" name="Google Shape;87;p22"/>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88" name="Google Shape;88;p2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89" name="Shape 89"/>
        <p:cNvGrpSpPr/>
        <p:nvPr/>
      </p:nvGrpSpPr>
      <p:grpSpPr>
        <a:xfrm>
          <a:off x="0" y="0"/>
          <a:ext cx="0" cy="0"/>
          <a:chOff x="0" y="0"/>
          <a:chExt cx="0" cy="0"/>
        </a:xfrm>
      </p:grpSpPr>
      <p:sp>
        <p:nvSpPr>
          <p:cNvPr id="90" name="Google Shape;90;p23"/>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91" name="Google Shape;91;p23"/>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92" name="Google Shape;92;p2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3" name="Shape 93"/>
        <p:cNvGrpSpPr/>
        <p:nvPr/>
      </p:nvGrpSpPr>
      <p:grpSpPr>
        <a:xfrm>
          <a:off x="0" y="0"/>
          <a:ext cx="0" cy="0"/>
          <a:chOff x="0" y="0"/>
          <a:chExt cx="0" cy="0"/>
        </a:xfrm>
      </p:grpSpPr>
      <p:sp>
        <p:nvSpPr>
          <p:cNvPr id="94" name="Google Shape;94;p2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2" Type="http://schemas.openxmlformats.org/officeDocument/2006/relationships/theme" Target="../theme/theme1.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52" name="Google Shape;52;p13"/>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53" name="Google Shape;53;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 Id="rId3" Type="http://schemas.openxmlformats.org/officeDocument/2006/relationships/image" Target="../media/image8.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hyperlink" Target="https://github.com/dsi-rse/careers-workshop-ai-developmen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1.xml"/><Relationship Id="rId3" Type="http://schemas.openxmlformats.org/officeDocument/2006/relationships/image" Target="../media/image3.jpg"/><Relationship Id="rId4" Type="http://schemas.openxmlformats.org/officeDocument/2006/relationships/image" Target="../media/image2.png"/><Relationship Id="rId5" Type="http://schemas.openxmlformats.org/officeDocument/2006/relationships/image" Target="../media/image4.png"/><Relationship Id="rId6" Type="http://schemas.openxmlformats.org/officeDocument/2006/relationships/hyperlink" Target="https://www.peppercarrot.com/go/viewer/artworks__2022-12-18_Point-of-View_by-David-Revoy.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2.xml"/><Relationship Id="rId3" Type="http://schemas.openxmlformats.org/officeDocument/2006/relationships/image" Target="../media/image3.jpg"/><Relationship Id="rId4" Type="http://schemas.openxmlformats.org/officeDocument/2006/relationships/image" Target="../media/image2.png"/><Relationship Id="rId5" Type="http://schemas.openxmlformats.org/officeDocument/2006/relationships/image" Target="../media/image4.png"/><Relationship Id="rId6" Type="http://schemas.openxmlformats.org/officeDocument/2006/relationships/hyperlink" Target="https://www.peppercarrot.com/go/viewer/artworks__2022-12-18_Point-of-View_by-David-Revoy.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 Id="rId3" Type="http://schemas.openxmlformats.org/officeDocument/2006/relationships/image" Target="../media/image3.jpg"/><Relationship Id="rId4" Type="http://schemas.openxmlformats.org/officeDocument/2006/relationships/image" Target="../media/image2.png"/><Relationship Id="rId5" Type="http://schemas.openxmlformats.org/officeDocument/2006/relationships/image" Target="../media/image4.png"/><Relationship Id="rId6" Type="http://schemas.openxmlformats.org/officeDocument/2006/relationships/hyperlink" Target="https://www.peppercarrot.com/go/viewer/artworks__2022-12-18_Point-of-View_by-David-Revoy.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 Id="rId3" Type="http://schemas.openxmlformats.org/officeDocument/2006/relationships/image" Target="../media/image11.png"/><Relationship Id="rId4"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5.xml"/><Relationship Id="rId3" Type="http://schemas.openxmlformats.org/officeDocument/2006/relationships/image" Target="../media/image11.png"/><Relationship Id="rId4"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7.xml"/><Relationship Id="rId3"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1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1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2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1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1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 Id="rId3" Type="http://schemas.openxmlformats.org/officeDocument/2006/relationships/image" Target="../media/image2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 Id="rId3" Type="http://schemas.openxmlformats.org/officeDocument/2006/relationships/image" Target="../media/image2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 Id="rId3" Type="http://schemas.openxmlformats.org/officeDocument/2006/relationships/image" Target="../media/image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image" Target="../media/image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1.xml"/><Relationship Id="rId3" Type="http://schemas.openxmlformats.org/officeDocument/2006/relationships/image" Target="../media/image15.gif"/></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2.xml"/><Relationship Id="rId3" Type="http://schemas.openxmlformats.org/officeDocument/2006/relationships/image" Target="../media/image1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3.xml"/><Relationship Id="rId3" Type="http://schemas.openxmlformats.org/officeDocument/2006/relationships/image" Target="../media/image17.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4.xml"/><Relationship Id="rId3" Type="http://schemas.openxmlformats.org/officeDocument/2006/relationships/image" Target="../media/image18.png"/><Relationship Id="rId4" Type="http://schemas.openxmlformats.org/officeDocument/2006/relationships/image" Target="../media/image1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6.xml"/><Relationship Id="rId3" Type="http://schemas.openxmlformats.org/officeDocument/2006/relationships/image" Target="../media/image2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8.xml"/><Relationship Id="rId3" Type="http://schemas.openxmlformats.org/officeDocument/2006/relationships/hyperlink" Target="https://en.wikipedia.org/wiki/On_Bullshit"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9.xml"/><Relationship Id="rId3" Type="http://schemas.openxmlformats.org/officeDocument/2006/relationships/hyperlink" Target="https://en.wikipedia.org/wiki/On_Bullshit"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0.xml"/><Relationship Id="rId3" Type="http://schemas.openxmlformats.org/officeDocument/2006/relationships/image" Target="../media/image1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1.xml"/><Relationship Id="rId3" Type="http://schemas.openxmlformats.org/officeDocument/2006/relationships/image" Target="../media/image13.png"/><Relationship Id="rId4" Type="http://schemas.openxmlformats.org/officeDocument/2006/relationships/image" Target="../media/image1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2.xml"/><Relationship Id="rId3" Type="http://schemas.openxmlformats.org/officeDocument/2006/relationships/image" Target="../media/image13.png"/><Relationship Id="rId4" Type="http://schemas.openxmlformats.org/officeDocument/2006/relationships/image" Target="../media/image19.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4.xml"/><Relationship Id="rId3" Type="http://schemas.openxmlformats.org/officeDocument/2006/relationships/image" Target="../media/image22.png"/><Relationship Id="rId4" Type="http://schemas.openxmlformats.org/officeDocument/2006/relationships/image" Target="../media/image2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5.xml"/><Relationship Id="rId3" Type="http://schemas.openxmlformats.org/officeDocument/2006/relationships/image" Target="../media/image22.png"/><Relationship Id="rId4" Type="http://schemas.openxmlformats.org/officeDocument/2006/relationships/image" Target="../media/image2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0.xml"/><Relationship Id="rId3" Type="http://schemas.openxmlformats.org/officeDocument/2006/relationships/image" Target="../media/image2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3.xml"/><Relationship Id="rId3" Type="http://schemas.openxmlformats.org/officeDocument/2006/relationships/hyperlink" Target="https://github.com/guy915/System-Prompts"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8.xml"/><Relationship Id="rId3" Type="http://schemas.openxmlformats.org/officeDocument/2006/relationships/image" Target="../media/image25.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25"/>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p>
            <a:pPr indent="0" lvl="0" marL="0" rtl="0" algn="l">
              <a:lnSpc>
                <a:spcPct val="100000"/>
              </a:lnSpc>
              <a:spcBef>
                <a:spcPts val="0"/>
              </a:spcBef>
              <a:spcAft>
                <a:spcPts val="0"/>
              </a:spcAft>
              <a:buSzPts val="5200"/>
              <a:buNone/>
            </a:pPr>
            <a:r>
              <a:rPr lang="en" sz="4000"/>
              <a:t>DSI: AI Development Program</a:t>
            </a:r>
            <a:endParaRPr sz="4000"/>
          </a:p>
        </p:txBody>
      </p:sp>
      <p:sp>
        <p:nvSpPr>
          <p:cNvPr id="100" name="Google Shape;100;p25"/>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800"/>
              <a:buNone/>
            </a:pPr>
            <a:r>
              <a:rPr lang="en" sz="1800"/>
              <a:t>Part 1: Introduction to AI Development</a:t>
            </a:r>
            <a:endParaRPr sz="1800"/>
          </a:p>
          <a:p>
            <a:pPr indent="0" lvl="0" marL="0" rtl="0" algn="l">
              <a:lnSpc>
                <a:spcPct val="100000"/>
              </a:lnSpc>
              <a:spcBef>
                <a:spcPts val="600"/>
              </a:spcBef>
              <a:spcAft>
                <a:spcPts val="0"/>
              </a:spcAft>
              <a:buSzPts val="2800"/>
              <a:buNone/>
            </a:pPr>
            <a:r>
              <a:rPr lang="en" sz="1800"/>
              <a:t>University of Chicago</a:t>
            </a:r>
            <a:endParaRPr sz="1800"/>
          </a:p>
        </p:txBody>
      </p:sp>
      <p:pic>
        <p:nvPicPr>
          <p:cNvPr id="101" name="Google Shape;101;p25" title="uchicago-dsi-logo.png"/>
          <p:cNvPicPr preferRelativeResize="0"/>
          <p:nvPr/>
        </p:nvPicPr>
        <p:blipFill>
          <a:blip r:embed="rId3">
            <a:alphaModFix/>
          </a:blip>
          <a:stretch>
            <a:fillRect/>
          </a:stretch>
        </p:blipFill>
        <p:spPr>
          <a:xfrm>
            <a:off x="6531775" y="76200"/>
            <a:ext cx="2536018" cy="526225"/>
          </a:xfrm>
          <a:prstGeom prst="rect">
            <a:avLst/>
          </a:prstGeom>
          <a:noFill/>
          <a:ln>
            <a:noFill/>
          </a:ln>
        </p:spPr>
      </p:pic>
      <p:pic>
        <p:nvPicPr>
          <p:cNvPr id="102" name="Google Shape;102;p25" title="uchicago-logo.png"/>
          <p:cNvPicPr preferRelativeResize="0"/>
          <p:nvPr/>
        </p:nvPicPr>
        <p:blipFill>
          <a:blip r:embed="rId4">
            <a:alphaModFix/>
          </a:blip>
          <a:stretch>
            <a:fillRect/>
          </a:stretch>
        </p:blipFill>
        <p:spPr>
          <a:xfrm>
            <a:off x="76200" y="76200"/>
            <a:ext cx="2461174" cy="5262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Who are we?</a:t>
            </a:r>
            <a:endParaRPr/>
          </a:p>
        </p:txBody>
      </p:sp>
      <p:sp>
        <p:nvSpPr>
          <p:cNvPr id="108" name="Google Shape;108;p26"/>
          <p:cNvSpPr txBox="1"/>
          <p:nvPr>
            <p:ph idx="1" type="body"/>
          </p:nvPr>
        </p:nvSpPr>
        <p:spPr>
          <a:xfrm>
            <a:off x="311700" y="1152475"/>
            <a:ext cx="2487900" cy="3150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sz="1800"/>
              <a:t>David Jacobson</a:t>
            </a:r>
            <a:endParaRPr b="1" sz="1800"/>
          </a:p>
          <a:p>
            <a:pPr indent="-342900" lvl="0" marL="457200" rtl="0" algn="l">
              <a:spcBef>
                <a:spcPts val="1000"/>
              </a:spcBef>
              <a:spcAft>
                <a:spcPts val="1000"/>
              </a:spcAft>
              <a:buSzPts val="1800"/>
              <a:buChar char="●"/>
            </a:pPr>
            <a:r>
              <a:rPr lang="en" sz="1800"/>
              <a:t>Director of Data Science &amp; Engineering, Data Science Institute</a:t>
            </a:r>
            <a:endParaRPr sz="1800"/>
          </a:p>
        </p:txBody>
      </p:sp>
      <p:sp>
        <p:nvSpPr>
          <p:cNvPr id="109" name="Google Shape;109;p26"/>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sz="1800"/>
              <a:t>Jim Pivarski</a:t>
            </a:r>
            <a:endParaRPr b="1" sz="1800"/>
          </a:p>
          <a:p>
            <a:pPr indent="-342900" lvl="0" marL="457200" rtl="0" algn="l">
              <a:spcBef>
                <a:spcPts val="1000"/>
              </a:spcBef>
              <a:spcAft>
                <a:spcPts val="0"/>
              </a:spcAft>
              <a:buSzPts val="1800"/>
              <a:buChar char="●"/>
            </a:pPr>
            <a:r>
              <a:rPr lang="en" sz="1800"/>
              <a:t>Physics PhD, LHC</a:t>
            </a:r>
            <a:br>
              <a:rPr lang="en" sz="1800"/>
            </a:br>
            <a:r>
              <a:rPr lang="en" sz="1800"/>
              <a:t>→ Data Science</a:t>
            </a:r>
            <a:endParaRPr sz="1800"/>
          </a:p>
          <a:p>
            <a:pPr indent="-342900" lvl="0" marL="457200" rtl="0" algn="l">
              <a:spcBef>
                <a:spcPts val="1000"/>
              </a:spcBef>
              <a:spcAft>
                <a:spcPts val="0"/>
              </a:spcAft>
              <a:buSzPts val="1800"/>
              <a:buChar char="●"/>
            </a:pPr>
            <a:r>
              <a:rPr lang="en" sz="1800"/>
              <a:t>Now a member of</a:t>
            </a:r>
            <a:br>
              <a:rPr lang="en" sz="1800"/>
            </a:br>
            <a:r>
              <a:rPr lang="en" sz="1800"/>
              <a:t>UChicago Data Science Institute</a:t>
            </a:r>
            <a:endParaRPr sz="1800"/>
          </a:p>
          <a:p>
            <a:pPr indent="-342900" lvl="0" marL="457200" rtl="0" algn="l">
              <a:spcBef>
                <a:spcPts val="1000"/>
              </a:spcBef>
              <a:spcAft>
                <a:spcPts val="1000"/>
              </a:spcAft>
              <a:buSzPts val="1800"/>
              <a:buChar char="●"/>
            </a:pPr>
            <a:r>
              <a:rPr lang="en" sz="1800"/>
              <a:t>Builds AI workflows involving LLMs and ground-up ML models for social good</a:t>
            </a:r>
            <a:endParaRPr sz="1800"/>
          </a:p>
        </p:txBody>
      </p:sp>
      <p:pic>
        <p:nvPicPr>
          <p:cNvPr id="110" name="Google Shape;110;p26"/>
          <p:cNvPicPr preferRelativeResize="0"/>
          <p:nvPr/>
        </p:nvPicPr>
        <p:blipFill>
          <a:blip r:embed="rId3">
            <a:alphaModFix/>
          </a:blip>
          <a:stretch>
            <a:fillRect/>
          </a:stretch>
        </p:blipFill>
        <p:spPr>
          <a:xfrm>
            <a:off x="2953225" y="1209625"/>
            <a:ext cx="1434575" cy="1434575"/>
          </a:xfrm>
          <a:prstGeom prst="rect">
            <a:avLst/>
          </a:prstGeom>
          <a:noFill/>
          <a:ln>
            <a:noFill/>
          </a:ln>
        </p:spPr>
      </p:pic>
      <p:pic>
        <p:nvPicPr>
          <p:cNvPr id="111" name="Google Shape;111;p26"/>
          <p:cNvPicPr preferRelativeResize="0"/>
          <p:nvPr/>
        </p:nvPicPr>
        <p:blipFill>
          <a:blip r:embed="rId4">
            <a:alphaModFix/>
          </a:blip>
          <a:stretch>
            <a:fillRect/>
          </a:stretch>
        </p:blipFill>
        <p:spPr>
          <a:xfrm>
            <a:off x="7639150" y="1152475"/>
            <a:ext cx="1193149" cy="1491725"/>
          </a:xfrm>
          <a:prstGeom prst="rect">
            <a:avLst/>
          </a:prstGeom>
          <a:noFill/>
          <a:ln>
            <a:noFill/>
          </a:ln>
        </p:spPr>
      </p:pic>
      <p:sp>
        <p:nvSpPr>
          <p:cNvPr id="112" name="Google Shape;112;p26"/>
          <p:cNvSpPr txBox="1"/>
          <p:nvPr/>
        </p:nvSpPr>
        <p:spPr>
          <a:xfrm>
            <a:off x="311700" y="2965450"/>
            <a:ext cx="3999900" cy="1417500"/>
          </a:xfrm>
          <a:prstGeom prst="rect">
            <a:avLst/>
          </a:prstGeom>
          <a:noFill/>
          <a:ln>
            <a:noFill/>
          </a:ln>
        </p:spPr>
        <p:txBody>
          <a:bodyPr anchorCtr="0" anchor="t" bIns="91425" lIns="91425" spcFirstLastPara="1" rIns="91425" wrap="square" tIns="91425">
            <a:spAutoFit/>
          </a:bodyPr>
          <a:lstStyle/>
          <a:p>
            <a:pPr indent="-342900" lvl="0" marL="457200" rtl="0" algn="l">
              <a:lnSpc>
                <a:spcPct val="115000"/>
              </a:lnSpc>
              <a:spcBef>
                <a:spcPts val="1000"/>
              </a:spcBef>
              <a:spcAft>
                <a:spcPts val="1000"/>
              </a:spcAft>
              <a:buClr>
                <a:schemeClr val="dk2"/>
              </a:buClr>
              <a:buSzPts val="1800"/>
              <a:buChar char="●"/>
            </a:pPr>
            <a:r>
              <a:rPr lang="en" sz="1800">
                <a:solidFill>
                  <a:schemeClr val="dk2"/>
                </a:solidFill>
              </a:rPr>
              <a:t>12 years leading industry data science &amp; software teams in marketing, healthcare, and cancer therapeutics</a:t>
            </a:r>
            <a:endParaRPr sz="1800">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 name="Shape 116"/>
        <p:cNvGrpSpPr/>
        <p:nvPr/>
      </p:nvGrpSpPr>
      <p:grpSpPr>
        <a:xfrm>
          <a:off x="0" y="0"/>
          <a:ext cx="0" cy="0"/>
          <a:chOff x="0" y="0"/>
          <a:chExt cx="0" cy="0"/>
        </a:xfrm>
      </p:grpSpPr>
      <p:sp>
        <p:nvSpPr>
          <p:cNvPr id="117" name="Google Shape;117;p2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2800"/>
              <a:buNone/>
            </a:pPr>
            <a:r>
              <a:rPr lang="en" sz="2800"/>
              <a:t>Outline</a:t>
            </a:r>
            <a:endParaRPr sz="2800"/>
          </a:p>
        </p:txBody>
      </p:sp>
      <p:sp>
        <p:nvSpPr>
          <p:cNvPr id="118" name="Google Shape;118;p27"/>
          <p:cNvSpPr txBox="1"/>
          <p:nvPr>
            <p:ph idx="1" type="body"/>
          </p:nvPr>
        </p:nvSpPr>
        <p:spPr>
          <a:xfrm>
            <a:off x="311700" y="1152475"/>
            <a:ext cx="8520600" cy="3858000"/>
          </a:xfrm>
          <a:prstGeom prst="rect">
            <a:avLst/>
          </a:prstGeom>
          <a:noFill/>
          <a:ln>
            <a:noFill/>
          </a:ln>
        </p:spPr>
        <p:txBody>
          <a:bodyPr anchorCtr="0" anchor="t" bIns="91425" lIns="91425" spcFirstLastPara="1" rIns="91425" wrap="square" tIns="91425">
            <a:noAutofit/>
          </a:bodyPr>
          <a:lstStyle/>
          <a:p>
            <a:pPr indent="-342900" lvl="0" marL="457200" rtl="0" algn="l">
              <a:lnSpc>
                <a:spcPct val="115000"/>
              </a:lnSpc>
              <a:spcBef>
                <a:spcPts val="810"/>
              </a:spcBef>
              <a:spcAft>
                <a:spcPts val="0"/>
              </a:spcAft>
              <a:buSzPts val="1800"/>
              <a:buAutoNum type="arabicPeriod"/>
            </a:pPr>
            <a:r>
              <a:rPr lang="en" sz="1800"/>
              <a:t>Motivation and Learning Objectives</a:t>
            </a:r>
            <a:endParaRPr sz="1800"/>
          </a:p>
          <a:p>
            <a:pPr indent="-342900" lvl="0" marL="457200" rtl="0" algn="l">
              <a:lnSpc>
                <a:spcPct val="115000"/>
              </a:lnSpc>
              <a:spcBef>
                <a:spcPts val="810"/>
              </a:spcBef>
              <a:spcAft>
                <a:spcPts val="0"/>
              </a:spcAft>
              <a:buSzPts val="1800"/>
              <a:buAutoNum type="arabicPeriod"/>
            </a:pPr>
            <a:r>
              <a:rPr lang="en" sz="1800"/>
              <a:t>Foundations</a:t>
            </a:r>
            <a:endParaRPr/>
          </a:p>
          <a:p>
            <a:pPr indent="-342900" lvl="0" marL="457200" rtl="0" algn="l">
              <a:lnSpc>
                <a:spcPct val="115000"/>
              </a:lnSpc>
              <a:spcBef>
                <a:spcPts val="810"/>
              </a:spcBef>
              <a:spcAft>
                <a:spcPts val="0"/>
              </a:spcAft>
              <a:buSzPts val="1800"/>
              <a:buAutoNum type="arabicPeriod"/>
            </a:pPr>
            <a:r>
              <a:rPr lang="en" sz="1800"/>
              <a:t>Terminology</a:t>
            </a:r>
            <a:endParaRPr sz="1800"/>
          </a:p>
          <a:p>
            <a:pPr indent="-342900" lvl="0" marL="457200" rtl="0" algn="l">
              <a:lnSpc>
                <a:spcPct val="115000"/>
              </a:lnSpc>
              <a:spcBef>
                <a:spcPts val="810"/>
              </a:spcBef>
              <a:spcAft>
                <a:spcPts val="0"/>
              </a:spcAft>
              <a:buSzPts val="1800"/>
              <a:buAutoNum type="arabicPeriod"/>
            </a:pPr>
            <a:r>
              <a:rPr lang="en" sz="1800"/>
              <a:t>Context Engineering</a:t>
            </a:r>
            <a:endParaRPr sz="1800"/>
          </a:p>
          <a:p>
            <a:pPr indent="-342900" lvl="0" marL="457200" rtl="0" algn="l">
              <a:lnSpc>
                <a:spcPct val="115000"/>
              </a:lnSpc>
              <a:spcBef>
                <a:spcPts val="810"/>
              </a:spcBef>
              <a:spcAft>
                <a:spcPts val="0"/>
              </a:spcAft>
              <a:buSzPts val="1800"/>
              <a:buAutoNum type="arabicPeriod"/>
            </a:pPr>
            <a:r>
              <a:rPr lang="en" sz="1800"/>
              <a:t>Pricing</a:t>
            </a:r>
            <a:endParaRPr sz="1800"/>
          </a:p>
          <a:p>
            <a:pPr indent="-342900" lvl="0" marL="457200" rtl="0" algn="l">
              <a:lnSpc>
                <a:spcPct val="115000"/>
              </a:lnSpc>
              <a:spcBef>
                <a:spcPts val="810"/>
              </a:spcBef>
              <a:spcAft>
                <a:spcPts val="0"/>
              </a:spcAft>
              <a:buSzPts val="1800"/>
              <a:buAutoNum type="arabicPeriod"/>
            </a:pPr>
            <a:r>
              <a:rPr lang="en"/>
              <a:t>Hands-on </a:t>
            </a:r>
            <a:r>
              <a:rPr lang="en" sz="1800"/>
              <a:t>Exercise</a:t>
            </a:r>
            <a:endParaRPr sz="1800"/>
          </a:p>
          <a:p>
            <a:pPr indent="0" lvl="0" marL="0" rtl="0" algn="l">
              <a:lnSpc>
                <a:spcPct val="115000"/>
              </a:lnSpc>
              <a:spcBef>
                <a:spcPts val="810"/>
              </a:spcBef>
              <a:spcAft>
                <a:spcPts val="0"/>
              </a:spcAft>
              <a:buNone/>
            </a:pPr>
            <a:r>
              <a:t/>
            </a:r>
            <a:endParaRPr/>
          </a:p>
          <a:p>
            <a:pPr indent="0" lvl="0" marL="0" rtl="0" algn="l">
              <a:lnSpc>
                <a:spcPct val="115000"/>
              </a:lnSpc>
              <a:spcBef>
                <a:spcPts val="810"/>
              </a:spcBef>
              <a:spcAft>
                <a:spcPts val="0"/>
              </a:spcAft>
              <a:buNone/>
            </a:pPr>
            <a:r>
              <a:rPr lang="en"/>
              <a:t>Follow along and get exercises here: </a:t>
            </a:r>
            <a:r>
              <a:rPr lang="en" u="sng">
                <a:solidFill>
                  <a:schemeClr val="hlink"/>
                </a:solidFill>
                <a:hlinkClick r:id="rId3"/>
              </a:rPr>
              <a:t>https://github.com/dsi-rse/careers-workshop-ai-development/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8"/>
          <p:cNvSpPr txBox="1"/>
          <p:nvPr>
            <p:ph type="title"/>
          </p:nvPr>
        </p:nvSpPr>
        <p:spPr>
          <a:xfrm>
            <a:off x="311700" y="1728125"/>
            <a:ext cx="8520600" cy="1687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3600"/>
              <a:buNone/>
            </a:pPr>
            <a:r>
              <a:rPr lang="en" sz="4000"/>
              <a:t>Motivation and Learning Objectives</a:t>
            </a:r>
            <a:endParaRPr sz="40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cxnSp>
        <p:nvCxnSpPr>
          <p:cNvPr id="128" name="Google Shape;128;p29"/>
          <p:cNvCxnSpPr/>
          <p:nvPr/>
        </p:nvCxnSpPr>
        <p:spPr>
          <a:xfrm>
            <a:off x="794650" y="2921277"/>
            <a:ext cx="7250400" cy="0"/>
          </a:xfrm>
          <a:prstGeom prst="straightConnector1">
            <a:avLst/>
          </a:prstGeom>
          <a:noFill/>
          <a:ln cap="flat" cmpd="sng" w="9525">
            <a:solidFill>
              <a:schemeClr val="dk2"/>
            </a:solidFill>
            <a:prstDash val="solid"/>
            <a:round/>
            <a:headEnd len="sm" w="sm" type="none"/>
            <a:tailEnd len="sm" w="sm" type="none"/>
          </a:ln>
        </p:spPr>
      </p:cxnSp>
      <p:sp>
        <p:nvSpPr>
          <p:cNvPr id="129" name="Google Shape;129;p29"/>
          <p:cNvSpPr txBox="1"/>
          <p:nvPr/>
        </p:nvSpPr>
        <p:spPr>
          <a:xfrm>
            <a:off x="188800" y="2982819"/>
            <a:ext cx="1211700" cy="7851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Foundational AI research</a:t>
            </a:r>
            <a:endParaRPr b="0" i="0" sz="1300" u="none" cap="none" strike="noStrike">
              <a:solidFill>
                <a:schemeClr val="dk2"/>
              </a:solidFill>
              <a:latin typeface="Arial"/>
              <a:ea typeface="Arial"/>
              <a:cs typeface="Arial"/>
              <a:sym typeface="Arial"/>
            </a:endParaRPr>
          </a:p>
        </p:txBody>
      </p:sp>
      <p:sp>
        <p:nvSpPr>
          <p:cNvPr id="130" name="Google Shape;130;p29"/>
          <p:cNvSpPr txBox="1"/>
          <p:nvPr/>
        </p:nvSpPr>
        <p:spPr>
          <a:xfrm>
            <a:off x="1291250" y="2247219"/>
            <a:ext cx="1400000" cy="5850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Frontier agent development</a:t>
            </a:r>
            <a:endParaRPr b="0" i="0" sz="1300" u="none" cap="none" strike="noStrike">
              <a:solidFill>
                <a:schemeClr val="dk2"/>
              </a:solidFill>
              <a:latin typeface="Arial"/>
              <a:ea typeface="Arial"/>
              <a:cs typeface="Arial"/>
              <a:sym typeface="Arial"/>
            </a:endParaRPr>
          </a:p>
        </p:txBody>
      </p:sp>
      <p:sp>
        <p:nvSpPr>
          <p:cNvPr id="131" name="Google Shape;131;p29"/>
          <p:cNvSpPr txBox="1"/>
          <p:nvPr/>
        </p:nvSpPr>
        <p:spPr>
          <a:xfrm>
            <a:off x="2575250" y="2982819"/>
            <a:ext cx="1130100" cy="384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“AI startups”</a:t>
            </a:r>
            <a:endParaRPr b="0" i="0" sz="1300" u="none" cap="none" strike="noStrike">
              <a:solidFill>
                <a:schemeClr val="dk2"/>
              </a:solidFill>
              <a:latin typeface="Arial"/>
              <a:ea typeface="Arial"/>
              <a:cs typeface="Arial"/>
              <a:sym typeface="Arial"/>
            </a:endParaRPr>
          </a:p>
        </p:txBody>
      </p:sp>
      <p:sp>
        <p:nvSpPr>
          <p:cNvPr id="132" name="Google Shape;132;p29"/>
          <p:cNvSpPr txBox="1"/>
          <p:nvPr/>
        </p:nvSpPr>
        <p:spPr>
          <a:xfrm>
            <a:off x="3888200" y="2247219"/>
            <a:ext cx="1130100" cy="5850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Developing AI systems</a:t>
            </a:r>
            <a:endParaRPr b="0" i="0" sz="1300" u="none" cap="none" strike="noStrike">
              <a:solidFill>
                <a:schemeClr val="dk2"/>
              </a:solidFill>
              <a:latin typeface="Arial"/>
              <a:ea typeface="Arial"/>
              <a:cs typeface="Arial"/>
              <a:sym typeface="Arial"/>
            </a:endParaRPr>
          </a:p>
        </p:txBody>
      </p:sp>
      <p:sp>
        <p:nvSpPr>
          <p:cNvPr id="133" name="Google Shape;133;p29"/>
          <p:cNvSpPr txBox="1"/>
          <p:nvPr/>
        </p:nvSpPr>
        <p:spPr>
          <a:xfrm>
            <a:off x="5148100" y="2982819"/>
            <a:ext cx="1130100" cy="5850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Enabling AI tool adoption</a:t>
            </a:r>
            <a:endParaRPr b="0" i="0" sz="1300" u="none" cap="none" strike="noStrike">
              <a:solidFill>
                <a:schemeClr val="dk2"/>
              </a:solidFill>
              <a:latin typeface="Arial"/>
              <a:ea typeface="Arial"/>
              <a:cs typeface="Arial"/>
              <a:sym typeface="Arial"/>
            </a:endParaRPr>
          </a:p>
        </p:txBody>
      </p:sp>
      <p:sp>
        <p:nvSpPr>
          <p:cNvPr id="134" name="Google Shape;134;p29"/>
          <p:cNvSpPr txBox="1"/>
          <p:nvPr/>
        </p:nvSpPr>
        <p:spPr>
          <a:xfrm>
            <a:off x="7335500" y="2982819"/>
            <a:ext cx="1419000" cy="7851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Using AI tools for one-off tasks in your job</a:t>
            </a:r>
            <a:endParaRPr b="0" i="0" sz="1300" u="none" cap="none" strike="noStrike">
              <a:solidFill>
                <a:schemeClr val="dk2"/>
              </a:solidFill>
              <a:latin typeface="Arial"/>
              <a:ea typeface="Arial"/>
              <a:cs typeface="Arial"/>
              <a:sym typeface="Arial"/>
            </a:endParaRPr>
          </a:p>
        </p:txBody>
      </p:sp>
      <p:sp>
        <p:nvSpPr>
          <p:cNvPr id="135" name="Google Shape;135;p29"/>
          <p:cNvSpPr txBox="1"/>
          <p:nvPr/>
        </p:nvSpPr>
        <p:spPr>
          <a:xfrm>
            <a:off x="6228025" y="2247219"/>
            <a:ext cx="1632900" cy="5850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Building repeatable AI workflows</a:t>
            </a:r>
            <a:endParaRPr b="0" i="0" sz="1300" u="none" cap="none" strike="noStrike">
              <a:solidFill>
                <a:schemeClr val="dk2"/>
              </a:solidFill>
              <a:latin typeface="Arial"/>
              <a:ea typeface="Arial"/>
              <a:cs typeface="Arial"/>
              <a:sym typeface="Arial"/>
            </a:endParaRPr>
          </a:p>
        </p:txBody>
      </p:sp>
      <p:sp>
        <p:nvSpPr>
          <p:cNvPr id="136" name="Google Shape;136;p29"/>
          <p:cNvSpPr txBox="1"/>
          <p:nvPr/>
        </p:nvSpPr>
        <p:spPr>
          <a:xfrm>
            <a:off x="192525" y="178325"/>
            <a:ext cx="8372100" cy="569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500"/>
              <a:buFont typeface="Arial"/>
              <a:buNone/>
            </a:pPr>
            <a:r>
              <a:rPr b="0" i="0" lang="en" sz="2500" u="none" cap="none" strike="noStrike">
                <a:solidFill>
                  <a:schemeClr val="dk1"/>
                </a:solidFill>
                <a:latin typeface="Arial"/>
                <a:ea typeface="Arial"/>
                <a:cs typeface="Arial"/>
                <a:sym typeface="Arial"/>
              </a:rPr>
              <a:t>What are “careers in AI”?</a:t>
            </a:r>
            <a:endParaRPr b="0" i="0" sz="2500" u="none" cap="none" strike="noStrike">
              <a:solidFill>
                <a:schemeClr val="dk1"/>
              </a:solidFill>
              <a:latin typeface="Arial"/>
              <a:ea typeface="Arial"/>
              <a:cs typeface="Arial"/>
              <a:sym typeface="Arial"/>
            </a:endParaRPr>
          </a:p>
        </p:txBody>
      </p:sp>
      <p:sp>
        <p:nvSpPr>
          <p:cNvPr id="137" name="Google Shape;137;p29"/>
          <p:cNvSpPr/>
          <p:nvPr/>
        </p:nvSpPr>
        <p:spPr>
          <a:xfrm>
            <a:off x="72760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 name="Google Shape;138;p29"/>
          <p:cNvSpPr/>
          <p:nvPr/>
        </p:nvSpPr>
        <p:spPr>
          <a:xfrm>
            <a:off x="192420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9"/>
          <p:cNvSpPr/>
          <p:nvPr/>
        </p:nvSpPr>
        <p:spPr>
          <a:xfrm>
            <a:off x="307325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9"/>
          <p:cNvSpPr/>
          <p:nvPr/>
        </p:nvSpPr>
        <p:spPr>
          <a:xfrm>
            <a:off x="438620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 name="Google Shape;141;p29"/>
          <p:cNvSpPr/>
          <p:nvPr/>
        </p:nvSpPr>
        <p:spPr>
          <a:xfrm>
            <a:off x="564610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9"/>
          <p:cNvSpPr/>
          <p:nvPr/>
        </p:nvSpPr>
        <p:spPr>
          <a:xfrm>
            <a:off x="6977425"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9"/>
          <p:cNvSpPr/>
          <p:nvPr/>
        </p:nvSpPr>
        <p:spPr>
          <a:xfrm>
            <a:off x="797795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cxnSp>
        <p:nvCxnSpPr>
          <p:cNvPr id="148" name="Google Shape;148;p30"/>
          <p:cNvCxnSpPr/>
          <p:nvPr/>
        </p:nvCxnSpPr>
        <p:spPr>
          <a:xfrm>
            <a:off x="789925" y="2921294"/>
            <a:ext cx="7250400" cy="0"/>
          </a:xfrm>
          <a:prstGeom prst="straightConnector1">
            <a:avLst/>
          </a:prstGeom>
          <a:noFill/>
          <a:ln cap="flat" cmpd="sng" w="9525">
            <a:solidFill>
              <a:schemeClr val="dk2"/>
            </a:solidFill>
            <a:prstDash val="solid"/>
            <a:round/>
            <a:headEnd len="sm" w="sm" type="none"/>
            <a:tailEnd len="sm" w="sm" type="none"/>
          </a:ln>
        </p:spPr>
      </p:cxnSp>
      <p:sp>
        <p:nvSpPr>
          <p:cNvPr id="149" name="Google Shape;149;p30"/>
          <p:cNvSpPr txBox="1"/>
          <p:nvPr/>
        </p:nvSpPr>
        <p:spPr>
          <a:xfrm>
            <a:off x="188800" y="2982819"/>
            <a:ext cx="1211700" cy="7851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Foundational AI research</a:t>
            </a:r>
            <a:endParaRPr b="0" i="0" sz="1300" u="none" cap="none" strike="noStrike">
              <a:solidFill>
                <a:schemeClr val="dk2"/>
              </a:solidFill>
              <a:latin typeface="Arial"/>
              <a:ea typeface="Arial"/>
              <a:cs typeface="Arial"/>
              <a:sym typeface="Arial"/>
            </a:endParaRPr>
          </a:p>
        </p:txBody>
      </p:sp>
      <p:sp>
        <p:nvSpPr>
          <p:cNvPr id="150" name="Google Shape;150;p30"/>
          <p:cNvSpPr txBox="1"/>
          <p:nvPr/>
        </p:nvSpPr>
        <p:spPr>
          <a:xfrm>
            <a:off x="1291250" y="2247219"/>
            <a:ext cx="1400000" cy="5850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Frontier agent development</a:t>
            </a:r>
            <a:endParaRPr b="0" i="0" sz="1300" u="none" cap="none" strike="noStrike">
              <a:solidFill>
                <a:schemeClr val="dk2"/>
              </a:solidFill>
              <a:latin typeface="Arial"/>
              <a:ea typeface="Arial"/>
              <a:cs typeface="Arial"/>
              <a:sym typeface="Arial"/>
            </a:endParaRPr>
          </a:p>
        </p:txBody>
      </p:sp>
      <p:sp>
        <p:nvSpPr>
          <p:cNvPr id="151" name="Google Shape;151;p30"/>
          <p:cNvSpPr txBox="1"/>
          <p:nvPr/>
        </p:nvSpPr>
        <p:spPr>
          <a:xfrm>
            <a:off x="2575250" y="2982819"/>
            <a:ext cx="1130100" cy="384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“AI startups”</a:t>
            </a:r>
            <a:endParaRPr b="0" i="0" sz="1300" u="none" cap="none" strike="noStrike">
              <a:solidFill>
                <a:schemeClr val="dk2"/>
              </a:solidFill>
              <a:latin typeface="Arial"/>
              <a:ea typeface="Arial"/>
              <a:cs typeface="Arial"/>
              <a:sym typeface="Arial"/>
            </a:endParaRPr>
          </a:p>
        </p:txBody>
      </p:sp>
      <p:sp>
        <p:nvSpPr>
          <p:cNvPr id="152" name="Google Shape;152;p30"/>
          <p:cNvSpPr txBox="1"/>
          <p:nvPr/>
        </p:nvSpPr>
        <p:spPr>
          <a:xfrm>
            <a:off x="3888200" y="2247219"/>
            <a:ext cx="1130100" cy="5850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Developing AI systems</a:t>
            </a:r>
            <a:endParaRPr b="0" i="0" sz="1300" u="none" cap="none" strike="noStrike">
              <a:solidFill>
                <a:schemeClr val="dk2"/>
              </a:solidFill>
              <a:latin typeface="Arial"/>
              <a:ea typeface="Arial"/>
              <a:cs typeface="Arial"/>
              <a:sym typeface="Arial"/>
            </a:endParaRPr>
          </a:p>
        </p:txBody>
      </p:sp>
      <p:sp>
        <p:nvSpPr>
          <p:cNvPr id="153" name="Google Shape;153;p30"/>
          <p:cNvSpPr txBox="1"/>
          <p:nvPr/>
        </p:nvSpPr>
        <p:spPr>
          <a:xfrm>
            <a:off x="5148100" y="2982819"/>
            <a:ext cx="1130100" cy="5850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Enabling AI tool adoption</a:t>
            </a:r>
            <a:endParaRPr b="0" i="0" sz="1300" u="none" cap="none" strike="noStrike">
              <a:solidFill>
                <a:schemeClr val="dk2"/>
              </a:solidFill>
              <a:latin typeface="Arial"/>
              <a:ea typeface="Arial"/>
              <a:cs typeface="Arial"/>
              <a:sym typeface="Arial"/>
            </a:endParaRPr>
          </a:p>
        </p:txBody>
      </p:sp>
      <p:sp>
        <p:nvSpPr>
          <p:cNvPr id="154" name="Google Shape;154;p30"/>
          <p:cNvSpPr txBox="1"/>
          <p:nvPr/>
        </p:nvSpPr>
        <p:spPr>
          <a:xfrm>
            <a:off x="7335500" y="2982819"/>
            <a:ext cx="1419000" cy="7851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Using AI tools for one-off tasks in your job</a:t>
            </a:r>
            <a:endParaRPr b="0" i="0" sz="1300" u="none" cap="none" strike="noStrike">
              <a:solidFill>
                <a:schemeClr val="dk2"/>
              </a:solidFill>
              <a:latin typeface="Arial"/>
              <a:ea typeface="Arial"/>
              <a:cs typeface="Arial"/>
              <a:sym typeface="Arial"/>
            </a:endParaRPr>
          </a:p>
        </p:txBody>
      </p:sp>
      <p:sp>
        <p:nvSpPr>
          <p:cNvPr id="155" name="Google Shape;155;p30"/>
          <p:cNvSpPr txBox="1"/>
          <p:nvPr/>
        </p:nvSpPr>
        <p:spPr>
          <a:xfrm>
            <a:off x="6228025" y="2247219"/>
            <a:ext cx="1632900" cy="5850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Building repeatable AI workflows</a:t>
            </a:r>
            <a:endParaRPr b="0" i="0" sz="1300" u="none" cap="none" strike="noStrike">
              <a:solidFill>
                <a:schemeClr val="dk2"/>
              </a:solidFill>
              <a:latin typeface="Arial"/>
              <a:ea typeface="Arial"/>
              <a:cs typeface="Arial"/>
              <a:sym typeface="Arial"/>
            </a:endParaRPr>
          </a:p>
        </p:txBody>
      </p:sp>
      <p:cxnSp>
        <p:nvCxnSpPr>
          <p:cNvPr id="156" name="Google Shape;156;p30"/>
          <p:cNvCxnSpPr/>
          <p:nvPr/>
        </p:nvCxnSpPr>
        <p:spPr>
          <a:xfrm rot="10800000">
            <a:off x="2285475" y="1688669"/>
            <a:ext cx="0" cy="298200"/>
          </a:xfrm>
          <a:prstGeom prst="straightConnector1">
            <a:avLst/>
          </a:prstGeom>
          <a:noFill/>
          <a:ln cap="flat" cmpd="sng" w="19050">
            <a:solidFill>
              <a:srgbClr val="1155CC"/>
            </a:solidFill>
            <a:prstDash val="solid"/>
            <a:round/>
            <a:headEnd len="sm" w="sm" type="none"/>
            <a:tailEnd len="sm" w="sm" type="none"/>
          </a:ln>
        </p:spPr>
      </p:cxnSp>
      <p:cxnSp>
        <p:nvCxnSpPr>
          <p:cNvPr id="157" name="Google Shape;157;p30"/>
          <p:cNvCxnSpPr/>
          <p:nvPr/>
        </p:nvCxnSpPr>
        <p:spPr>
          <a:xfrm>
            <a:off x="2285475" y="1688669"/>
            <a:ext cx="2797257" cy="0"/>
          </a:xfrm>
          <a:prstGeom prst="straightConnector1">
            <a:avLst/>
          </a:prstGeom>
          <a:noFill/>
          <a:ln cap="flat" cmpd="sng" w="19050">
            <a:solidFill>
              <a:srgbClr val="1155CC"/>
            </a:solidFill>
            <a:prstDash val="solid"/>
            <a:round/>
            <a:headEnd len="sm" w="sm" type="none"/>
            <a:tailEnd len="sm" w="sm" type="none"/>
          </a:ln>
        </p:spPr>
      </p:cxnSp>
      <p:cxnSp>
        <p:nvCxnSpPr>
          <p:cNvPr id="158" name="Google Shape;158;p30"/>
          <p:cNvCxnSpPr/>
          <p:nvPr/>
        </p:nvCxnSpPr>
        <p:spPr>
          <a:xfrm>
            <a:off x="5082732" y="1688669"/>
            <a:ext cx="0" cy="298200"/>
          </a:xfrm>
          <a:prstGeom prst="straightConnector1">
            <a:avLst/>
          </a:prstGeom>
          <a:noFill/>
          <a:ln cap="flat" cmpd="sng" w="19050">
            <a:solidFill>
              <a:srgbClr val="1155CC"/>
            </a:solidFill>
            <a:prstDash val="solid"/>
            <a:round/>
            <a:headEnd len="sm" w="sm" type="none"/>
            <a:tailEnd len="sm" w="sm" type="none"/>
          </a:ln>
        </p:spPr>
      </p:cxnSp>
      <p:sp>
        <p:nvSpPr>
          <p:cNvPr id="159" name="Google Shape;159;p30"/>
          <p:cNvSpPr txBox="1"/>
          <p:nvPr/>
        </p:nvSpPr>
        <p:spPr>
          <a:xfrm>
            <a:off x="2321053" y="1231769"/>
            <a:ext cx="27261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800"/>
              <a:buFont typeface="Arial"/>
              <a:buNone/>
            </a:pPr>
            <a:r>
              <a:rPr b="0" i="0" lang="en" sz="1800" u="none" cap="none" strike="noStrike">
                <a:solidFill>
                  <a:srgbClr val="1155CC"/>
                </a:solidFill>
                <a:latin typeface="Arial"/>
                <a:ea typeface="Arial"/>
                <a:cs typeface="Arial"/>
                <a:sym typeface="Arial"/>
              </a:rPr>
              <a:t>“AI Development”</a:t>
            </a:r>
            <a:endParaRPr b="0" i="0" sz="1800" u="none" cap="none" strike="noStrike">
              <a:solidFill>
                <a:srgbClr val="1155CC"/>
              </a:solidFill>
              <a:latin typeface="Arial"/>
              <a:ea typeface="Arial"/>
              <a:cs typeface="Arial"/>
              <a:sym typeface="Arial"/>
            </a:endParaRPr>
          </a:p>
        </p:txBody>
      </p:sp>
      <p:sp>
        <p:nvSpPr>
          <p:cNvPr id="160" name="Google Shape;160;p30"/>
          <p:cNvSpPr txBox="1"/>
          <p:nvPr/>
        </p:nvSpPr>
        <p:spPr>
          <a:xfrm>
            <a:off x="192525" y="178325"/>
            <a:ext cx="8372100" cy="569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500"/>
              <a:buFont typeface="Arial"/>
              <a:buNone/>
            </a:pPr>
            <a:r>
              <a:rPr b="0" i="0" lang="en" sz="2500" u="none" cap="none" strike="noStrike">
                <a:solidFill>
                  <a:schemeClr val="dk1"/>
                </a:solidFill>
                <a:latin typeface="Arial"/>
                <a:ea typeface="Arial"/>
                <a:cs typeface="Arial"/>
                <a:sym typeface="Arial"/>
              </a:rPr>
              <a:t>Our focus in this course is on “AI Development”</a:t>
            </a:r>
            <a:endParaRPr b="0" i="0" sz="2500" u="none" cap="none" strike="noStrike">
              <a:solidFill>
                <a:schemeClr val="dk1"/>
              </a:solidFill>
              <a:latin typeface="Arial"/>
              <a:ea typeface="Arial"/>
              <a:cs typeface="Arial"/>
              <a:sym typeface="Arial"/>
            </a:endParaRPr>
          </a:p>
        </p:txBody>
      </p:sp>
      <p:sp>
        <p:nvSpPr>
          <p:cNvPr id="161" name="Google Shape;161;p30"/>
          <p:cNvSpPr/>
          <p:nvPr/>
        </p:nvSpPr>
        <p:spPr>
          <a:xfrm>
            <a:off x="72760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30"/>
          <p:cNvSpPr/>
          <p:nvPr/>
        </p:nvSpPr>
        <p:spPr>
          <a:xfrm>
            <a:off x="192420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30"/>
          <p:cNvSpPr/>
          <p:nvPr/>
        </p:nvSpPr>
        <p:spPr>
          <a:xfrm>
            <a:off x="307325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30"/>
          <p:cNvSpPr/>
          <p:nvPr/>
        </p:nvSpPr>
        <p:spPr>
          <a:xfrm>
            <a:off x="438620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30"/>
          <p:cNvSpPr/>
          <p:nvPr/>
        </p:nvSpPr>
        <p:spPr>
          <a:xfrm>
            <a:off x="564610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30"/>
          <p:cNvSpPr/>
          <p:nvPr/>
        </p:nvSpPr>
        <p:spPr>
          <a:xfrm>
            <a:off x="6977425"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30"/>
          <p:cNvSpPr/>
          <p:nvPr/>
        </p:nvSpPr>
        <p:spPr>
          <a:xfrm>
            <a:off x="797795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cxnSp>
        <p:nvCxnSpPr>
          <p:cNvPr id="172" name="Google Shape;172;p31"/>
          <p:cNvCxnSpPr/>
          <p:nvPr/>
        </p:nvCxnSpPr>
        <p:spPr>
          <a:xfrm>
            <a:off x="789925" y="2921294"/>
            <a:ext cx="7250400" cy="0"/>
          </a:xfrm>
          <a:prstGeom prst="straightConnector1">
            <a:avLst/>
          </a:prstGeom>
          <a:noFill/>
          <a:ln cap="flat" cmpd="sng" w="9525">
            <a:solidFill>
              <a:schemeClr val="dk2"/>
            </a:solidFill>
            <a:prstDash val="solid"/>
            <a:round/>
            <a:headEnd len="sm" w="sm" type="none"/>
            <a:tailEnd len="sm" w="sm" type="none"/>
          </a:ln>
        </p:spPr>
      </p:cxnSp>
      <p:sp>
        <p:nvSpPr>
          <p:cNvPr id="173" name="Google Shape;173;p31"/>
          <p:cNvSpPr txBox="1"/>
          <p:nvPr/>
        </p:nvSpPr>
        <p:spPr>
          <a:xfrm>
            <a:off x="188800" y="2982819"/>
            <a:ext cx="1211700" cy="7851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Foundational AI research</a:t>
            </a:r>
            <a:endParaRPr b="0" i="0" sz="1300" u="none" cap="none" strike="noStrike">
              <a:solidFill>
                <a:schemeClr val="dk2"/>
              </a:solidFill>
              <a:latin typeface="Arial"/>
              <a:ea typeface="Arial"/>
              <a:cs typeface="Arial"/>
              <a:sym typeface="Arial"/>
            </a:endParaRPr>
          </a:p>
        </p:txBody>
      </p:sp>
      <p:sp>
        <p:nvSpPr>
          <p:cNvPr id="174" name="Google Shape;174;p31"/>
          <p:cNvSpPr txBox="1"/>
          <p:nvPr/>
        </p:nvSpPr>
        <p:spPr>
          <a:xfrm>
            <a:off x="1291250" y="2247219"/>
            <a:ext cx="1400000" cy="5850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Frontier agent development</a:t>
            </a:r>
            <a:endParaRPr b="0" i="0" sz="1300" u="none" cap="none" strike="noStrike">
              <a:solidFill>
                <a:schemeClr val="dk2"/>
              </a:solidFill>
              <a:latin typeface="Arial"/>
              <a:ea typeface="Arial"/>
              <a:cs typeface="Arial"/>
              <a:sym typeface="Arial"/>
            </a:endParaRPr>
          </a:p>
        </p:txBody>
      </p:sp>
      <p:sp>
        <p:nvSpPr>
          <p:cNvPr id="175" name="Google Shape;175;p31"/>
          <p:cNvSpPr txBox="1"/>
          <p:nvPr/>
        </p:nvSpPr>
        <p:spPr>
          <a:xfrm>
            <a:off x="2575250" y="2982819"/>
            <a:ext cx="1130100" cy="384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“AI startups”</a:t>
            </a:r>
            <a:endParaRPr b="0" i="0" sz="1300" u="none" cap="none" strike="noStrike">
              <a:solidFill>
                <a:schemeClr val="dk2"/>
              </a:solidFill>
              <a:latin typeface="Arial"/>
              <a:ea typeface="Arial"/>
              <a:cs typeface="Arial"/>
              <a:sym typeface="Arial"/>
            </a:endParaRPr>
          </a:p>
        </p:txBody>
      </p:sp>
      <p:sp>
        <p:nvSpPr>
          <p:cNvPr id="176" name="Google Shape;176;p31"/>
          <p:cNvSpPr txBox="1"/>
          <p:nvPr/>
        </p:nvSpPr>
        <p:spPr>
          <a:xfrm>
            <a:off x="3888200" y="2247219"/>
            <a:ext cx="1130100" cy="5850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Developing AI systems</a:t>
            </a:r>
            <a:endParaRPr b="0" i="0" sz="1300" u="none" cap="none" strike="noStrike">
              <a:solidFill>
                <a:schemeClr val="dk2"/>
              </a:solidFill>
              <a:latin typeface="Arial"/>
              <a:ea typeface="Arial"/>
              <a:cs typeface="Arial"/>
              <a:sym typeface="Arial"/>
            </a:endParaRPr>
          </a:p>
        </p:txBody>
      </p:sp>
      <p:sp>
        <p:nvSpPr>
          <p:cNvPr id="177" name="Google Shape;177;p31"/>
          <p:cNvSpPr txBox="1"/>
          <p:nvPr/>
        </p:nvSpPr>
        <p:spPr>
          <a:xfrm>
            <a:off x="5148100" y="2982819"/>
            <a:ext cx="1130100" cy="5850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Enabling AI tool adoption</a:t>
            </a:r>
            <a:endParaRPr b="0" i="0" sz="1300" u="none" cap="none" strike="noStrike">
              <a:solidFill>
                <a:schemeClr val="dk2"/>
              </a:solidFill>
              <a:latin typeface="Arial"/>
              <a:ea typeface="Arial"/>
              <a:cs typeface="Arial"/>
              <a:sym typeface="Arial"/>
            </a:endParaRPr>
          </a:p>
        </p:txBody>
      </p:sp>
      <p:sp>
        <p:nvSpPr>
          <p:cNvPr id="178" name="Google Shape;178;p31"/>
          <p:cNvSpPr txBox="1"/>
          <p:nvPr/>
        </p:nvSpPr>
        <p:spPr>
          <a:xfrm>
            <a:off x="7335500" y="2982819"/>
            <a:ext cx="1419000" cy="7851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Using AI tools for one-off tasks in your job</a:t>
            </a:r>
            <a:endParaRPr b="0" i="0" sz="1300" u="none" cap="none" strike="noStrike">
              <a:solidFill>
                <a:schemeClr val="dk2"/>
              </a:solidFill>
              <a:latin typeface="Arial"/>
              <a:ea typeface="Arial"/>
              <a:cs typeface="Arial"/>
              <a:sym typeface="Arial"/>
            </a:endParaRPr>
          </a:p>
        </p:txBody>
      </p:sp>
      <p:sp>
        <p:nvSpPr>
          <p:cNvPr id="179" name="Google Shape;179;p31"/>
          <p:cNvSpPr txBox="1"/>
          <p:nvPr/>
        </p:nvSpPr>
        <p:spPr>
          <a:xfrm>
            <a:off x="6228025" y="2247219"/>
            <a:ext cx="1632900" cy="5850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Building repeatable AI workflows</a:t>
            </a:r>
            <a:endParaRPr b="0" i="0" sz="1300" u="none" cap="none" strike="noStrike">
              <a:solidFill>
                <a:schemeClr val="dk2"/>
              </a:solidFill>
              <a:latin typeface="Arial"/>
              <a:ea typeface="Arial"/>
              <a:cs typeface="Arial"/>
              <a:sym typeface="Arial"/>
            </a:endParaRPr>
          </a:p>
        </p:txBody>
      </p:sp>
      <p:cxnSp>
        <p:nvCxnSpPr>
          <p:cNvPr id="180" name="Google Shape;180;p31"/>
          <p:cNvCxnSpPr/>
          <p:nvPr/>
        </p:nvCxnSpPr>
        <p:spPr>
          <a:xfrm rot="10800000">
            <a:off x="2285475" y="1688669"/>
            <a:ext cx="0" cy="298200"/>
          </a:xfrm>
          <a:prstGeom prst="straightConnector1">
            <a:avLst/>
          </a:prstGeom>
          <a:noFill/>
          <a:ln cap="flat" cmpd="sng" w="19050">
            <a:solidFill>
              <a:srgbClr val="1155CC"/>
            </a:solidFill>
            <a:prstDash val="solid"/>
            <a:round/>
            <a:headEnd len="sm" w="sm" type="none"/>
            <a:tailEnd len="sm" w="sm" type="none"/>
          </a:ln>
        </p:spPr>
      </p:cxnSp>
      <p:cxnSp>
        <p:nvCxnSpPr>
          <p:cNvPr id="181" name="Google Shape;181;p31"/>
          <p:cNvCxnSpPr/>
          <p:nvPr/>
        </p:nvCxnSpPr>
        <p:spPr>
          <a:xfrm>
            <a:off x="2285475" y="1688669"/>
            <a:ext cx="2797257" cy="0"/>
          </a:xfrm>
          <a:prstGeom prst="straightConnector1">
            <a:avLst/>
          </a:prstGeom>
          <a:noFill/>
          <a:ln cap="flat" cmpd="sng" w="19050">
            <a:solidFill>
              <a:srgbClr val="1155CC"/>
            </a:solidFill>
            <a:prstDash val="solid"/>
            <a:round/>
            <a:headEnd len="sm" w="sm" type="none"/>
            <a:tailEnd len="sm" w="sm" type="none"/>
          </a:ln>
        </p:spPr>
      </p:cxnSp>
      <p:cxnSp>
        <p:nvCxnSpPr>
          <p:cNvPr id="182" name="Google Shape;182;p31"/>
          <p:cNvCxnSpPr/>
          <p:nvPr/>
        </p:nvCxnSpPr>
        <p:spPr>
          <a:xfrm>
            <a:off x="5082732" y="1688669"/>
            <a:ext cx="0" cy="298200"/>
          </a:xfrm>
          <a:prstGeom prst="straightConnector1">
            <a:avLst/>
          </a:prstGeom>
          <a:noFill/>
          <a:ln cap="flat" cmpd="sng" w="19050">
            <a:solidFill>
              <a:srgbClr val="1155CC"/>
            </a:solidFill>
            <a:prstDash val="solid"/>
            <a:round/>
            <a:headEnd len="sm" w="sm" type="none"/>
            <a:tailEnd len="sm" w="sm" type="none"/>
          </a:ln>
        </p:spPr>
      </p:cxnSp>
      <p:sp>
        <p:nvSpPr>
          <p:cNvPr id="183" name="Google Shape;183;p31"/>
          <p:cNvSpPr txBox="1"/>
          <p:nvPr/>
        </p:nvSpPr>
        <p:spPr>
          <a:xfrm>
            <a:off x="2321053" y="1231769"/>
            <a:ext cx="27261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800"/>
              <a:buFont typeface="Arial"/>
              <a:buNone/>
            </a:pPr>
            <a:r>
              <a:rPr b="0" i="0" lang="en" sz="1800" u="none" cap="none" strike="noStrike">
                <a:solidFill>
                  <a:srgbClr val="1155CC"/>
                </a:solidFill>
                <a:latin typeface="Arial"/>
                <a:ea typeface="Arial"/>
                <a:cs typeface="Arial"/>
                <a:sym typeface="Arial"/>
              </a:rPr>
              <a:t>“AI Development”</a:t>
            </a:r>
            <a:endParaRPr b="0" i="0" sz="1800" u="none" cap="none" strike="noStrike">
              <a:solidFill>
                <a:srgbClr val="1155CC"/>
              </a:solidFill>
              <a:latin typeface="Arial"/>
              <a:ea typeface="Arial"/>
              <a:cs typeface="Arial"/>
              <a:sym typeface="Arial"/>
            </a:endParaRPr>
          </a:p>
        </p:txBody>
      </p:sp>
      <p:sp>
        <p:nvSpPr>
          <p:cNvPr id="184" name="Google Shape;184;p31"/>
          <p:cNvSpPr txBox="1"/>
          <p:nvPr/>
        </p:nvSpPr>
        <p:spPr>
          <a:xfrm>
            <a:off x="192525" y="178325"/>
            <a:ext cx="8372100" cy="569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500"/>
              <a:buFont typeface="Arial"/>
              <a:buNone/>
            </a:pPr>
            <a:r>
              <a:rPr b="0" i="0" lang="en" sz="2500" u="none" cap="none" strike="noStrike">
                <a:solidFill>
                  <a:schemeClr val="dk1"/>
                </a:solidFill>
                <a:latin typeface="Arial"/>
                <a:ea typeface="Arial"/>
                <a:cs typeface="Arial"/>
                <a:sym typeface="Arial"/>
              </a:rPr>
              <a:t>Our focus in this course is on “AI Development”</a:t>
            </a:r>
            <a:endParaRPr b="0" i="0" sz="2500" u="none" cap="none" strike="noStrike">
              <a:solidFill>
                <a:schemeClr val="dk1"/>
              </a:solidFill>
              <a:latin typeface="Arial"/>
              <a:ea typeface="Arial"/>
              <a:cs typeface="Arial"/>
              <a:sym typeface="Arial"/>
            </a:endParaRPr>
          </a:p>
        </p:txBody>
      </p:sp>
      <p:sp>
        <p:nvSpPr>
          <p:cNvPr id="185" name="Google Shape;185;p31"/>
          <p:cNvSpPr/>
          <p:nvPr/>
        </p:nvSpPr>
        <p:spPr>
          <a:xfrm>
            <a:off x="72760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 name="Google Shape;186;p31"/>
          <p:cNvSpPr/>
          <p:nvPr/>
        </p:nvSpPr>
        <p:spPr>
          <a:xfrm>
            <a:off x="192420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 name="Google Shape;187;p31"/>
          <p:cNvSpPr/>
          <p:nvPr/>
        </p:nvSpPr>
        <p:spPr>
          <a:xfrm>
            <a:off x="307325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 name="Google Shape;188;p31"/>
          <p:cNvSpPr/>
          <p:nvPr/>
        </p:nvSpPr>
        <p:spPr>
          <a:xfrm>
            <a:off x="438620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 name="Google Shape;189;p31"/>
          <p:cNvSpPr/>
          <p:nvPr/>
        </p:nvSpPr>
        <p:spPr>
          <a:xfrm>
            <a:off x="564610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 name="Google Shape;190;p31"/>
          <p:cNvSpPr/>
          <p:nvPr/>
        </p:nvSpPr>
        <p:spPr>
          <a:xfrm>
            <a:off x="6977425"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1" name="Google Shape;191;p31"/>
          <p:cNvSpPr/>
          <p:nvPr/>
        </p:nvSpPr>
        <p:spPr>
          <a:xfrm>
            <a:off x="797795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92" name="Google Shape;192;p31"/>
          <p:cNvCxnSpPr/>
          <p:nvPr/>
        </p:nvCxnSpPr>
        <p:spPr>
          <a:xfrm rot="10800000">
            <a:off x="4368026" y="3408575"/>
            <a:ext cx="0" cy="712200"/>
          </a:xfrm>
          <a:prstGeom prst="straightConnector1">
            <a:avLst/>
          </a:prstGeom>
          <a:noFill/>
          <a:ln cap="flat" cmpd="sng" w="38100">
            <a:solidFill>
              <a:srgbClr val="CC0000"/>
            </a:solidFill>
            <a:prstDash val="solid"/>
            <a:round/>
            <a:headEnd len="sm" w="sm" type="none"/>
            <a:tailEnd len="med" w="med" type="triangle"/>
          </a:ln>
        </p:spPr>
      </p:cxnSp>
      <p:sp>
        <p:nvSpPr>
          <p:cNvPr id="193" name="Google Shape;193;p31"/>
          <p:cNvSpPr txBox="1"/>
          <p:nvPr/>
        </p:nvSpPr>
        <p:spPr>
          <a:xfrm>
            <a:off x="3004976" y="4164602"/>
            <a:ext cx="2726100" cy="6771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rgbClr val="CC0000"/>
                </a:solidFill>
                <a:latin typeface="Arial"/>
                <a:ea typeface="Arial"/>
                <a:cs typeface="Arial"/>
                <a:sym typeface="Arial"/>
              </a:rPr>
              <a:t>The contents of this course sit somewhere around here</a:t>
            </a:r>
            <a:endParaRPr b="0" i="0" sz="1600" u="none" cap="none" strike="noStrike">
              <a:solidFill>
                <a:srgbClr val="CC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32"/>
          <p:cNvSpPr/>
          <p:nvPr/>
        </p:nvSpPr>
        <p:spPr>
          <a:xfrm>
            <a:off x="5699150" y="738150"/>
            <a:ext cx="3252300" cy="4212300"/>
          </a:xfrm>
          <a:prstGeom prst="rect">
            <a:avLst/>
          </a:prstGeom>
          <a:solidFill>
            <a:srgbClr val="A4C2F4">
              <a:alpha val="30588"/>
            </a:srgbClr>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32"/>
          <p:cNvSpPr/>
          <p:nvPr/>
        </p:nvSpPr>
        <p:spPr>
          <a:xfrm>
            <a:off x="192525" y="738150"/>
            <a:ext cx="2671200" cy="4212300"/>
          </a:xfrm>
          <a:prstGeom prst="rect">
            <a:avLst/>
          </a:prstGeom>
          <a:solidFill>
            <a:srgbClr val="C6F4A4">
              <a:alpha val="30588"/>
            </a:srgbClr>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A4C2F4"/>
              </a:solidFill>
              <a:latin typeface="Arial"/>
              <a:ea typeface="Arial"/>
              <a:cs typeface="Arial"/>
              <a:sym typeface="Arial"/>
            </a:endParaRPr>
          </a:p>
        </p:txBody>
      </p:sp>
      <p:cxnSp>
        <p:nvCxnSpPr>
          <p:cNvPr id="200" name="Google Shape;200;p32"/>
          <p:cNvCxnSpPr/>
          <p:nvPr/>
        </p:nvCxnSpPr>
        <p:spPr>
          <a:xfrm>
            <a:off x="799375" y="2921277"/>
            <a:ext cx="7250400" cy="0"/>
          </a:xfrm>
          <a:prstGeom prst="straightConnector1">
            <a:avLst/>
          </a:prstGeom>
          <a:noFill/>
          <a:ln cap="flat" cmpd="sng" w="9525">
            <a:solidFill>
              <a:schemeClr val="dk2"/>
            </a:solidFill>
            <a:prstDash val="solid"/>
            <a:round/>
            <a:headEnd len="sm" w="sm" type="none"/>
            <a:tailEnd len="sm" w="sm" type="none"/>
          </a:ln>
        </p:spPr>
      </p:cxnSp>
      <p:sp>
        <p:nvSpPr>
          <p:cNvPr id="201" name="Google Shape;201;p32"/>
          <p:cNvSpPr/>
          <p:nvPr/>
        </p:nvSpPr>
        <p:spPr>
          <a:xfrm>
            <a:off x="72760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2"/>
          <p:cNvSpPr/>
          <p:nvPr/>
        </p:nvSpPr>
        <p:spPr>
          <a:xfrm>
            <a:off x="192420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2"/>
          <p:cNvSpPr/>
          <p:nvPr/>
        </p:nvSpPr>
        <p:spPr>
          <a:xfrm>
            <a:off x="307325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4" name="Google Shape;204;p32"/>
          <p:cNvSpPr/>
          <p:nvPr/>
        </p:nvSpPr>
        <p:spPr>
          <a:xfrm>
            <a:off x="438620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32"/>
          <p:cNvSpPr/>
          <p:nvPr/>
        </p:nvSpPr>
        <p:spPr>
          <a:xfrm>
            <a:off x="564610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32"/>
          <p:cNvSpPr/>
          <p:nvPr/>
        </p:nvSpPr>
        <p:spPr>
          <a:xfrm>
            <a:off x="6977425"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32"/>
          <p:cNvSpPr/>
          <p:nvPr/>
        </p:nvSpPr>
        <p:spPr>
          <a:xfrm>
            <a:off x="797795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32"/>
          <p:cNvSpPr txBox="1"/>
          <p:nvPr/>
        </p:nvSpPr>
        <p:spPr>
          <a:xfrm>
            <a:off x="188800" y="2982819"/>
            <a:ext cx="1211700" cy="7851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Foundational AI research</a:t>
            </a:r>
            <a:endParaRPr b="0" i="0" sz="1300" u="none" cap="none" strike="noStrike">
              <a:solidFill>
                <a:schemeClr val="dk2"/>
              </a:solidFill>
              <a:latin typeface="Arial"/>
              <a:ea typeface="Arial"/>
              <a:cs typeface="Arial"/>
              <a:sym typeface="Arial"/>
            </a:endParaRPr>
          </a:p>
        </p:txBody>
      </p:sp>
      <p:sp>
        <p:nvSpPr>
          <p:cNvPr id="209" name="Google Shape;209;p32"/>
          <p:cNvSpPr txBox="1"/>
          <p:nvPr/>
        </p:nvSpPr>
        <p:spPr>
          <a:xfrm>
            <a:off x="1291250" y="2247219"/>
            <a:ext cx="1400000" cy="5850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Frontier agent development</a:t>
            </a:r>
            <a:endParaRPr b="0" i="0" sz="1300" u="none" cap="none" strike="noStrike">
              <a:solidFill>
                <a:schemeClr val="dk2"/>
              </a:solidFill>
              <a:latin typeface="Arial"/>
              <a:ea typeface="Arial"/>
              <a:cs typeface="Arial"/>
              <a:sym typeface="Arial"/>
            </a:endParaRPr>
          </a:p>
        </p:txBody>
      </p:sp>
      <p:sp>
        <p:nvSpPr>
          <p:cNvPr id="210" name="Google Shape;210;p32"/>
          <p:cNvSpPr txBox="1"/>
          <p:nvPr/>
        </p:nvSpPr>
        <p:spPr>
          <a:xfrm>
            <a:off x="2575250" y="2982819"/>
            <a:ext cx="1130100" cy="384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“AI startups”</a:t>
            </a:r>
            <a:endParaRPr b="0" i="0" sz="1300" u="none" cap="none" strike="noStrike">
              <a:solidFill>
                <a:schemeClr val="dk2"/>
              </a:solidFill>
              <a:latin typeface="Arial"/>
              <a:ea typeface="Arial"/>
              <a:cs typeface="Arial"/>
              <a:sym typeface="Arial"/>
            </a:endParaRPr>
          </a:p>
        </p:txBody>
      </p:sp>
      <p:sp>
        <p:nvSpPr>
          <p:cNvPr id="211" name="Google Shape;211;p32"/>
          <p:cNvSpPr txBox="1"/>
          <p:nvPr/>
        </p:nvSpPr>
        <p:spPr>
          <a:xfrm>
            <a:off x="3888200" y="2247219"/>
            <a:ext cx="1130100" cy="5850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Developing AI systems</a:t>
            </a:r>
            <a:endParaRPr b="0" i="0" sz="1300" u="none" cap="none" strike="noStrike">
              <a:solidFill>
                <a:schemeClr val="dk2"/>
              </a:solidFill>
              <a:latin typeface="Arial"/>
              <a:ea typeface="Arial"/>
              <a:cs typeface="Arial"/>
              <a:sym typeface="Arial"/>
            </a:endParaRPr>
          </a:p>
        </p:txBody>
      </p:sp>
      <p:sp>
        <p:nvSpPr>
          <p:cNvPr id="212" name="Google Shape;212;p32"/>
          <p:cNvSpPr txBox="1"/>
          <p:nvPr/>
        </p:nvSpPr>
        <p:spPr>
          <a:xfrm>
            <a:off x="5148100" y="2982819"/>
            <a:ext cx="1130100" cy="5850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Enabling AI tool adoption</a:t>
            </a:r>
            <a:endParaRPr b="0" i="0" sz="1300" u="none" cap="none" strike="noStrike">
              <a:solidFill>
                <a:schemeClr val="dk2"/>
              </a:solidFill>
              <a:latin typeface="Arial"/>
              <a:ea typeface="Arial"/>
              <a:cs typeface="Arial"/>
              <a:sym typeface="Arial"/>
            </a:endParaRPr>
          </a:p>
        </p:txBody>
      </p:sp>
      <p:sp>
        <p:nvSpPr>
          <p:cNvPr id="213" name="Google Shape;213;p32"/>
          <p:cNvSpPr txBox="1"/>
          <p:nvPr/>
        </p:nvSpPr>
        <p:spPr>
          <a:xfrm>
            <a:off x="7335500" y="2982819"/>
            <a:ext cx="1419000" cy="7851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Using AI tools for one-off tasks in your job</a:t>
            </a:r>
            <a:endParaRPr b="0" i="0" sz="1300" u="none" cap="none" strike="noStrike">
              <a:solidFill>
                <a:schemeClr val="dk2"/>
              </a:solidFill>
              <a:latin typeface="Arial"/>
              <a:ea typeface="Arial"/>
              <a:cs typeface="Arial"/>
              <a:sym typeface="Arial"/>
            </a:endParaRPr>
          </a:p>
        </p:txBody>
      </p:sp>
      <p:sp>
        <p:nvSpPr>
          <p:cNvPr id="214" name="Google Shape;214;p32"/>
          <p:cNvSpPr txBox="1"/>
          <p:nvPr/>
        </p:nvSpPr>
        <p:spPr>
          <a:xfrm>
            <a:off x="6228025" y="2247219"/>
            <a:ext cx="1632900" cy="5850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Building repeatable AI workflows</a:t>
            </a:r>
            <a:endParaRPr b="0" i="0" sz="1300" u="none" cap="none" strike="noStrike">
              <a:solidFill>
                <a:schemeClr val="dk2"/>
              </a:solidFill>
              <a:latin typeface="Arial"/>
              <a:ea typeface="Arial"/>
              <a:cs typeface="Arial"/>
              <a:sym typeface="Arial"/>
            </a:endParaRPr>
          </a:p>
        </p:txBody>
      </p:sp>
      <p:sp>
        <p:nvSpPr>
          <p:cNvPr id="215" name="Google Shape;215;p32"/>
          <p:cNvSpPr txBox="1"/>
          <p:nvPr/>
        </p:nvSpPr>
        <p:spPr>
          <a:xfrm>
            <a:off x="192525" y="178325"/>
            <a:ext cx="8372100" cy="569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500"/>
              <a:buFont typeface="Arial"/>
              <a:buNone/>
            </a:pPr>
            <a:r>
              <a:rPr b="0" i="0" lang="en" sz="2500" u="none" cap="none" strike="noStrike">
                <a:solidFill>
                  <a:schemeClr val="dk1"/>
                </a:solidFill>
                <a:latin typeface="Arial"/>
                <a:ea typeface="Arial"/>
                <a:cs typeface="Arial"/>
                <a:sym typeface="Arial"/>
              </a:rPr>
              <a:t>Why AI Development?</a:t>
            </a:r>
            <a:endParaRPr b="0" i="0" sz="2500" u="none" cap="none" strike="noStrike">
              <a:solidFill>
                <a:schemeClr val="dk1"/>
              </a:solidFill>
              <a:latin typeface="Arial"/>
              <a:ea typeface="Arial"/>
              <a:cs typeface="Arial"/>
              <a:sym typeface="Arial"/>
            </a:endParaRPr>
          </a:p>
        </p:txBody>
      </p:sp>
      <p:cxnSp>
        <p:nvCxnSpPr>
          <p:cNvPr id="216" name="Google Shape;216;p32"/>
          <p:cNvCxnSpPr/>
          <p:nvPr/>
        </p:nvCxnSpPr>
        <p:spPr>
          <a:xfrm rot="10800000">
            <a:off x="4368026" y="3408575"/>
            <a:ext cx="0" cy="712200"/>
          </a:xfrm>
          <a:prstGeom prst="straightConnector1">
            <a:avLst/>
          </a:prstGeom>
          <a:noFill/>
          <a:ln cap="flat" cmpd="sng" w="38100">
            <a:solidFill>
              <a:srgbClr val="CC0000"/>
            </a:solidFill>
            <a:prstDash val="solid"/>
            <a:round/>
            <a:headEnd len="sm" w="sm" type="none"/>
            <a:tailEnd len="med" w="med" type="triangle"/>
          </a:ln>
        </p:spPr>
      </p:cxnSp>
      <p:sp>
        <p:nvSpPr>
          <p:cNvPr id="217" name="Google Shape;217;p32"/>
          <p:cNvSpPr txBox="1"/>
          <p:nvPr/>
        </p:nvSpPr>
        <p:spPr>
          <a:xfrm>
            <a:off x="3004976" y="4164602"/>
            <a:ext cx="2726100" cy="6771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rgbClr val="CC0000"/>
                </a:solidFill>
                <a:latin typeface="Arial"/>
                <a:ea typeface="Arial"/>
                <a:cs typeface="Arial"/>
                <a:sym typeface="Arial"/>
              </a:rPr>
              <a:t>The contents of this course sit somewhere around here</a:t>
            </a:r>
            <a:endParaRPr b="0" i="0" sz="1600" u="none" cap="none" strike="noStrike">
              <a:solidFill>
                <a:srgbClr val="CC0000"/>
              </a:solidFill>
              <a:latin typeface="Arial"/>
              <a:ea typeface="Arial"/>
              <a:cs typeface="Arial"/>
              <a:sym typeface="Arial"/>
            </a:endParaRPr>
          </a:p>
        </p:txBody>
      </p:sp>
      <p:sp>
        <p:nvSpPr>
          <p:cNvPr id="218" name="Google Shape;218;p32"/>
          <p:cNvSpPr txBox="1"/>
          <p:nvPr/>
        </p:nvSpPr>
        <p:spPr>
          <a:xfrm>
            <a:off x="5618175" y="738150"/>
            <a:ext cx="3333300" cy="1046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400"/>
              <a:buFont typeface="Arial"/>
              <a:buNone/>
            </a:pPr>
            <a:r>
              <a:rPr b="1" i="1" lang="en" sz="1400" u="none" cap="none" strike="noStrike">
                <a:solidFill>
                  <a:srgbClr val="1C4587"/>
                </a:solidFill>
                <a:latin typeface="Arial"/>
                <a:ea typeface="Arial"/>
                <a:cs typeface="Arial"/>
                <a:sym typeface="Arial"/>
              </a:rPr>
              <a:t>Highly dependent on the state of existing tools; learned by extensive practice and perpetual curiosity about practical applications</a:t>
            </a:r>
            <a:endParaRPr b="1" i="1" sz="1400" u="none" cap="none" strike="noStrike">
              <a:solidFill>
                <a:srgbClr val="1C4587"/>
              </a:solidFill>
              <a:latin typeface="Arial"/>
              <a:ea typeface="Arial"/>
              <a:cs typeface="Arial"/>
              <a:sym typeface="Arial"/>
            </a:endParaRPr>
          </a:p>
        </p:txBody>
      </p:sp>
      <p:sp>
        <p:nvSpPr>
          <p:cNvPr id="219" name="Google Shape;219;p32"/>
          <p:cNvSpPr txBox="1"/>
          <p:nvPr/>
        </p:nvSpPr>
        <p:spPr>
          <a:xfrm>
            <a:off x="192525" y="738150"/>
            <a:ext cx="2671200" cy="1046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400"/>
              <a:buFont typeface="Arial"/>
              <a:buNone/>
            </a:pPr>
            <a:r>
              <a:rPr b="1" i="1" lang="en" sz="1400" u="none" cap="none" strike="noStrike">
                <a:solidFill>
                  <a:srgbClr val="38761D"/>
                </a:solidFill>
                <a:latin typeface="Arial"/>
                <a:ea typeface="Arial"/>
                <a:cs typeface="Arial"/>
                <a:sym typeface="Arial"/>
              </a:rPr>
              <a:t>Highly dependent on the cutting edge of frontier technology and concentrated in frontier labs and academia</a:t>
            </a:r>
            <a:endParaRPr b="1" i="1" sz="1400" u="none" cap="none" strike="noStrike">
              <a:solidFill>
                <a:srgbClr val="38761D"/>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cxnSp>
        <p:nvCxnSpPr>
          <p:cNvPr id="224" name="Google Shape;224;p33"/>
          <p:cNvCxnSpPr/>
          <p:nvPr/>
        </p:nvCxnSpPr>
        <p:spPr>
          <a:xfrm>
            <a:off x="799400" y="2921286"/>
            <a:ext cx="7250400" cy="0"/>
          </a:xfrm>
          <a:prstGeom prst="straightConnector1">
            <a:avLst/>
          </a:prstGeom>
          <a:noFill/>
          <a:ln cap="flat" cmpd="sng" w="9525">
            <a:solidFill>
              <a:schemeClr val="dk2"/>
            </a:solidFill>
            <a:prstDash val="solid"/>
            <a:round/>
            <a:headEnd len="sm" w="sm" type="none"/>
            <a:tailEnd len="sm" w="sm" type="none"/>
          </a:ln>
        </p:spPr>
      </p:cxnSp>
      <p:sp>
        <p:nvSpPr>
          <p:cNvPr id="225" name="Google Shape;225;p33"/>
          <p:cNvSpPr/>
          <p:nvPr/>
        </p:nvSpPr>
        <p:spPr>
          <a:xfrm>
            <a:off x="72760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33"/>
          <p:cNvSpPr/>
          <p:nvPr/>
        </p:nvSpPr>
        <p:spPr>
          <a:xfrm>
            <a:off x="192420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7" name="Google Shape;227;p33"/>
          <p:cNvSpPr/>
          <p:nvPr/>
        </p:nvSpPr>
        <p:spPr>
          <a:xfrm>
            <a:off x="307325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8" name="Google Shape;228;p33"/>
          <p:cNvSpPr/>
          <p:nvPr/>
        </p:nvSpPr>
        <p:spPr>
          <a:xfrm>
            <a:off x="438620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9" name="Google Shape;229;p33"/>
          <p:cNvSpPr/>
          <p:nvPr/>
        </p:nvSpPr>
        <p:spPr>
          <a:xfrm>
            <a:off x="564610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33"/>
          <p:cNvSpPr/>
          <p:nvPr/>
        </p:nvSpPr>
        <p:spPr>
          <a:xfrm>
            <a:off x="6977425"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1" name="Google Shape;231;p33"/>
          <p:cNvSpPr/>
          <p:nvPr/>
        </p:nvSpPr>
        <p:spPr>
          <a:xfrm>
            <a:off x="7977950" y="2849919"/>
            <a:ext cx="134100" cy="134100"/>
          </a:xfrm>
          <a:prstGeom prst="ellipse">
            <a:avLst/>
          </a:prstGeom>
          <a:solidFill>
            <a:srgbClr val="FFFF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2" name="Google Shape;232;p33"/>
          <p:cNvSpPr txBox="1"/>
          <p:nvPr/>
        </p:nvSpPr>
        <p:spPr>
          <a:xfrm>
            <a:off x="188800" y="2982819"/>
            <a:ext cx="1211700" cy="7851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Foundational AI research</a:t>
            </a:r>
            <a:endParaRPr b="0" i="0" sz="1300" u="none" cap="none" strike="noStrike">
              <a:solidFill>
                <a:schemeClr val="dk2"/>
              </a:solidFill>
              <a:latin typeface="Arial"/>
              <a:ea typeface="Arial"/>
              <a:cs typeface="Arial"/>
              <a:sym typeface="Arial"/>
            </a:endParaRPr>
          </a:p>
        </p:txBody>
      </p:sp>
      <p:sp>
        <p:nvSpPr>
          <p:cNvPr id="233" name="Google Shape;233;p33"/>
          <p:cNvSpPr txBox="1"/>
          <p:nvPr/>
        </p:nvSpPr>
        <p:spPr>
          <a:xfrm>
            <a:off x="1291250" y="2247219"/>
            <a:ext cx="1400000" cy="5850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Frontier agent development</a:t>
            </a:r>
            <a:endParaRPr b="0" i="0" sz="1300" u="none" cap="none" strike="noStrike">
              <a:solidFill>
                <a:schemeClr val="dk2"/>
              </a:solidFill>
              <a:latin typeface="Arial"/>
              <a:ea typeface="Arial"/>
              <a:cs typeface="Arial"/>
              <a:sym typeface="Arial"/>
            </a:endParaRPr>
          </a:p>
        </p:txBody>
      </p:sp>
      <p:sp>
        <p:nvSpPr>
          <p:cNvPr id="234" name="Google Shape;234;p33"/>
          <p:cNvSpPr txBox="1"/>
          <p:nvPr/>
        </p:nvSpPr>
        <p:spPr>
          <a:xfrm>
            <a:off x="2575250" y="2982819"/>
            <a:ext cx="1130100" cy="384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“AI startups”</a:t>
            </a:r>
            <a:endParaRPr b="0" i="0" sz="1300" u="none" cap="none" strike="noStrike">
              <a:solidFill>
                <a:schemeClr val="dk2"/>
              </a:solidFill>
              <a:latin typeface="Arial"/>
              <a:ea typeface="Arial"/>
              <a:cs typeface="Arial"/>
              <a:sym typeface="Arial"/>
            </a:endParaRPr>
          </a:p>
        </p:txBody>
      </p:sp>
      <p:sp>
        <p:nvSpPr>
          <p:cNvPr id="235" name="Google Shape;235;p33"/>
          <p:cNvSpPr txBox="1"/>
          <p:nvPr/>
        </p:nvSpPr>
        <p:spPr>
          <a:xfrm>
            <a:off x="3888200" y="2247219"/>
            <a:ext cx="1130100" cy="5850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Developing AI systems</a:t>
            </a:r>
            <a:endParaRPr b="0" i="0" sz="1300" u="none" cap="none" strike="noStrike">
              <a:solidFill>
                <a:schemeClr val="dk2"/>
              </a:solidFill>
              <a:latin typeface="Arial"/>
              <a:ea typeface="Arial"/>
              <a:cs typeface="Arial"/>
              <a:sym typeface="Arial"/>
            </a:endParaRPr>
          </a:p>
        </p:txBody>
      </p:sp>
      <p:sp>
        <p:nvSpPr>
          <p:cNvPr id="236" name="Google Shape;236;p33"/>
          <p:cNvSpPr txBox="1"/>
          <p:nvPr/>
        </p:nvSpPr>
        <p:spPr>
          <a:xfrm>
            <a:off x="5148100" y="2982819"/>
            <a:ext cx="1130100" cy="5850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Enabling AI tool adoption</a:t>
            </a:r>
            <a:endParaRPr b="0" i="0" sz="1300" u="none" cap="none" strike="noStrike">
              <a:solidFill>
                <a:schemeClr val="dk2"/>
              </a:solidFill>
              <a:latin typeface="Arial"/>
              <a:ea typeface="Arial"/>
              <a:cs typeface="Arial"/>
              <a:sym typeface="Arial"/>
            </a:endParaRPr>
          </a:p>
        </p:txBody>
      </p:sp>
      <p:sp>
        <p:nvSpPr>
          <p:cNvPr id="237" name="Google Shape;237;p33"/>
          <p:cNvSpPr txBox="1"/>
          <p:nvPr/>
        </p:nvSpPr>
        <p:spPr>
          <a:xfrm>
            <a:off x="7335500" y="2982819"/>
            <a:ext cx="1419000" cy="7851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Using AI tools for one-off tasks in your job</a:t>
            </a:r>
            <a:endParaRPr b="0" i="0" sz="1300" u="none" cap="none" strike="noStrike">
              <a:solidFill>
                <a:schemeClr val="dk2"/>
              </a:solidFill>
              <a:latin typeface="Arial"/>
              <a:ea typeface="Arial"/>
              <a:cs typeface="Arial"/>
              <a:sym typeface="Arial"/>
            </a:endParaRPr>
          </a:p>
        </p:txBody>
      </p:sp>
      <p:sp>
        <p:nvSpPr>
          <p:cNvPr id="238" name="Google Shape;238;p33"/>
          <p:cNvSpPr txBox="1"/>
          <p:nvPr/>
        </p:nvSpPr>
        <p:spPr>
          <a:xfrm>
            <a:off x="6228025" y="2247219"/>
            <a:ext cx="1632900" cy="5850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300"/>
              <a:buFont typeface="Arial"/>
              <a:buNone/>
            </a:pPr>
            <a:r>
              <a:rPr b="0" i="0" lang="en" sz="1300" u="none" cap="none" strike="noStrike">
                <a:solidFill>
                  <a:schemeClr val="dk2"/>
                </a:solidFill>
                <a:latin typeface="Arial"/>
                <a:ea typeface="Arial"/>
                <a:cs typeface="Arial"/>
                <a:sym typeface="Arial"/>
              </a:rPr>
              <a:t>Building repeatable AI workflows</a:t>
            </a:r>
            <a:endParaRPr b="0" i="0" sz="1300" u="none" cap="none" strike="noStrike">
              <a:solidFill>
                <a:schemeClr val="dk2"/>
              </a:solidFill>
              <a:latin typeface="Arial"/>
              <a:ea typeface="Arial"/>
              <a:cs typeface="Arial"/>
              <a:sym typeface="Arial"/>
            </a:endParaRPr>
          </a:p>
        </p:txBody>
      </p:sp>
      <p:sp>
        <p:nvSpPr>
          <p:cNvPr id="239" name="Google Shape;239;p33"/>
          <p:cNvSpPr txBox="1"/>
          <p:nvPr/>
        </p:nvSpPr>
        <p:spPr>
          <a:xfrm>
            <a:off x="187792" y="178325"/>
            <a:ext cx="8372100" cy="569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2500"/>
              <a:buFont typeface="Arial"/>
              <a:buNone/>
            </a:pPr>
            <a:r>
              <a:rPr b="0" i="0" lang="en" sz="2500" u="none" cap="none" strike="noStrike">
                <a:solidFill>
                  <a:schemeClr val="dk1"/>
                </a:solidFill>
                <a:latin typeface="Arial"/>
                <a:ea typeface="Arial"/>
                <a:cs typeface="Arial"/>
                <a:sym typeface="Arial"/>
              </a:rPr>
              <a:t>Why AI Development?</a:t>
            </a:r>
            <a:endParaRPr b="0" i="0" sz="2500" u="none" cap="none" strike="noStrike">
              <a:solidFill>
                <a:schemeClr val="dk1"/>
              </a:solidFill>
              <a:latin typeface="Arial"/>
              <a:ea typeface="Arial"/>
              <a:cs typeface="Arial"/>
              <a:sym typeface="Arial"/>
            </a:endParaRPr>
          </a:p>
        </p:txBody>
      </p:sp>
      <p:sp>
        <p:nvSpPr>
          <p:cNvPr id="240" name="Google Shape;240;p33"/>
          <p:cNvSpPr txBox="1"/>
          <p:nvPr/>
        </p:nvSpPr>
        <p:spPr>
          <a:xfrm>
            <a:off x="5561411" y="738150"/>
            <a:ext cx="3128100" cy="8313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CC0000"/>
                </a:solidFill>
                <a:latin typeface="Arial"/>
                <a:ea typeface="Arial"/>
                <a:cs typeface="Arial"/>
                <a:sym typeface="Arial"/>
              </a:rPr>
              <a:t>Using AI systematically helps you understand it better and use it more effectively for ad hoc work.</a:t>
            </a:r>
            <a:endParaRPr b="0" i="0" sz="1400" u="none" cap="none" strike="noStrike">
              <a:solidFill>
                <a:srgbClr val="CC0000"/>
              </a:solidFill>
              <a:latin typeface="Arial"/>
              <a:ea typeface="Arial"/>
              <a:cs typeface="Arial"/>
              <a:sym typeface="Arial"/>
            </a:endParaRPr>
          </a:p>
        </p:txBody>
      </p:sp>
      <p:sp>
        <p:nvSpPr>
          <p:cNvPr id="241" name="Google Shape;241;p33"/>
          <p:cNvSpPr txBox="1"/>
          <p:nvPr/>
        </p:nvSpPr>
        <p:spPr>
          <a:xfrm>
            <a:off x="192525" y="738150"/>
            <a:ext cx="3128100" cy="8313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400"/>
              <a:buFont typeface="Arial"/>
              <a:buNone/>
            </a:pPr>
            <a:r>
              <a:rPr b="0" i="0" lang="en" sz="1400" u="none" cap="none" strike="noStrike">
                <a:solidFill>
                  <a:srgbClr val="CC0000"/>
                </a:solidFill>
                <a:latin typeface="Arial"/>
                <a:ea typeface="Arial"/>
                <a:cs typeface="Arial"/>
                <a:sym typeface="Arial"/>
              </a:rPr>
              <a:t>Pushing the limits of AI tools is a good entrypoint into the challenges at the frontier of AI technology</a:t>
            </a:r>
            <a:endParaRPr b="0" i="0" sz="1400" u="none" cap="none" strike="noStrike">
              <a:solidFill>
                <a:srgbClr val="CC0000"/>
              </a:solidFill>
              <a:latin typeface="Arial"/>
              <a:ea typeface="Arial"/>
              <a:cs typeface="Arial"/>
              <a:sym typeface="Arial"/>
            </a:endParaRPr>
          </a:p>
        </p:txBody>
      </p:sp>
      <p:cxnSp>
        <p:nvCxnSpPr>
          <p:cNvPr id="242" name="Google Shape;242;p33"/>
          <p:cNvCxnSpPr/>
          <p:nvPr/>
        </p:nvCxnSpPr>
        <p:spPr>
          <a:xfrm rot="10800000">
            <a:off x="1352600" y="1718175"/>
            <a:ext cx="2405700" cy="0"/>
          </a:xfrm>
          <a:prstGeom prst="straightConnector1">
            <a:avLst/>
          </a:prstGeom>
          <a:noFill/>
          <a:ln cap="flat" cmpd="sng" w="28575">
            <a:solidFill>
              <a:srgbClr val="CC0000"/>
            </a:solidFill>
            <a:prstDash val="solid"/>
            <a:round/>
            <a:headEnd len="sm" w="sm" type="none"/>
            <a:tailEnd len="med" w="med" type="triangle"/>
          </a:ln>
        </p:spPr>
      </p:cxnSp>
      <p:cxnSp>
        <p:nvCxnSpPr>
          <p:cNvPr id="243" name="Google Shape;243;p33"/>
          <p:cNvCxnSpPr/>
          <p:nvPr/>
        </p:nvCxnSpPr>
        <p:spPr>
          <a:xfrm>
            <a:off x="5186917" y="1718175"/>
            <a:ext cx="2405700" cy="0"/>
          </a:xfrm>
          <a:prstGeom prst="straightConnector1">
            <a:avLst/>
          </a:prstGeom>
          <a:noFill/>
          <a:ln cap="flat" cmpd="sng" w="28575">
            <a:solidFill>
              <a:srgbClr val="CC0000"/>
            </a:solidFill>
            <a:prstDash val="solid"/>
            <a:round/>
            <a:headEnd len="sm" w="sm" type="none"/>
            <a:tailEnd len="med" w="med" type="triangle"/>
          </a:ln>
        </p:spPr>
      </p:cxnSp>
      <p:cxnSp>
        <p:nvCxnSpPr>
          <p:cNvPr id="244" name="Google Shape;244;p33"/>
          <p:cNvCxnSpPr/>
          <p:nvPr/>
        </p:nvCxnSpPr>
        <p:spPr>
          <a:xfrm rot="10800000">
            <a:off x="4368026" y="3408575"/>
            <a:ext cx="0" cy="712200"/>
          </a:xfrm>
          <a:prstGeom prst="straightConnector1">
            <a:avLst/>
          </a:prstGeom>
          <a:noFill/>
          <a:ln cap="flat" cmpd="sng" w="38100">
            <a:solidFill>
              <a:srgbClr val="CC0000"/>
            </a:solidFill>
            <a:prstDash val="solid"/>
            <a:round/>
            <a:headEnd len="sm" w="sm" type="none"/>
            <a:tailEnd len="med" w="med" type="triangle"/>
          </a:ln>
        </p:spPr>
      </p:cxnSp>
      <p:sp>
        <p:nvSpPr>
          <p:cNvPr id="245" name="Google Shape;245;p33"/>
          <p:cNvSpPr txBox="1"/>
          <p:nvPr/>
        </p:nvSpPr>
        <p:spPr>
          <a:xfrm>
            <a:off x="3004976" y="4164602"/>
            <a:ext cx="2726100" cy="6771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0" i="0" lang="en" sz="1600" u="none" cap="none" strike="noStrike">
                <a:solidFill>
                  <a:srgbClr val="CC0000"/>
                </a:solidFill>
                <a:latin typeface="Arial"/>
                <a:ea typeface="Arial"/>
                <a:cs typeface="Arial"/>
                <a:sym typeface="Arial"/>
              </a:rPr>
              <a:t>The contents of this course sit somewhere around here</a:t>
            </a:r>
            <a:endParaRPr b="0" i="0" sz="1600" u="none" cap="none" strike="noStrike">
              <a:solidFill>
                <a:srgbClr val="CC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Learning objectives</a:t>
            </a:r>
            <a:endParaRPr/>
          </a:p>
        </p:txBody>
      </p:sp>
      <p:sp>
        <p:nvSpPr>
          <p:cNvPr id="251" name="Google Shape;251;p34"/>
          <p:cNvSpPr txBox="1"/>
          <p:nvPr>
            <p:ph idx="1" type="body"/>
          </p:nvPr>
        </p:nvSpPr>
        <p:spPr>
          <a:xfrm>
            <a:off x="311700" y="1152475"/>
            <a:ext cx="8520600" cy="3816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By the end of this course, you will…</a:t>
            </a:r>
            <a:endParaRPr/>
          </a:p>
          <a:p>
            <a:pPr indent="0" lvl="0" marL="0" rtl="0" algn="l">
              <a:spcBef>
                <a:spcPts val="0"/>
              </a:spcBef>
              <a:spcAft>
                <a:spcPts val="0"/>
              </a:spcAft>
              <a:buNone/>
            </a:pPr>
            <a:r>
              <a:t/>
            </a:r>
            <a:endParaRPr sz="600"/>
          </a:p>
          <a:p>
            <a:pPr indent="-342900" lvl="0" marL="457200" rtl="0" algn="l">
              <a:spcBef>
                <a:spcPts val="0"/>
              </a:spcBef>
              <a:spcAft>
                <a:spcPts val="0"/>
              </a:spcAft>
              <a:buSzPts val="1800"/>
              <a:buAutoNum type="arabicPeriod"/>
            </a:pPr>
            <a:r>
              <a:rPr b="1" lang="en"/>
              <a:t>Understand AI terminology</a:t>
            </a:r>
            <a:endParaRPr b="1"/>
          </a:p>
          <a:p>
            <a:pPr indent="-317500" lvl="1" marL="914400" rtl="0" algn="l">
              <a:spcBef>
                <a:spcPts val="0"/>
              </a:spcBef>
              <a:spcAft>
                <a:spcPts val="0"/>
              </a:spcAft>
              <a:buSzPts val="1400"/>
              <a:buChar char="○"/>
            </a:pPr>
            <a:r>
              <a:rPr lang="en"/>
              <a:t>Speak confidently about LLMs, tokens, context windows, agents, tools</a:t>
            </a:r>
            <a:endParaRPr/>
          </a:p>
          <a:p>
            <a:pPr indent="-342900" lvl="0" marL="457200" rtl="0" algn="l">
              <a:spcBef>
                <a:spcPts val="1000"/>
              </a:spcBef>
              <a:spcAft>
                <a:spcPts val="0"/>
              </a:spcAft>
              <a:buSzPts val="1800"/>
              <a:buAutoNum type="arabicPeriod"/>
            </a:pPr>
            <a:r>
              <a:rPr b="1" lang="en"/>
              <a:t>Gain familiarity with trade-offs and pitfalls</a:t>
            </a:r>
            <a:endParaRPr b="1"/>
          </a:p>
          <a:p>
            <a:pPr indent="-317500" lvl="1" marL="914400" rtl="0" algn="l">
              <a:spcBef>
                <a:spcPts val="0"/>
              </a:spcBef>
              <a:spcAft>
                <a:spcPts val="0"/>
              </a:spcAft>
              <a:buSzPts val="1400"/>
              <a:buChar char="○"/>
            </a:pPr>
            <a:r>
              <a:rPr lang="en"/>
              <a:t>Understand what makes ROI sense and what doesn't</a:t>
            </a:r>
            <a:endParaRPr/>
          </a:p>
          <a:p>
            <a:pPr indent="-317500" lvl="1" marL="914400" rtl="0" algn="l">
              <a:spcBef>
                <a:spcPts val="0"/>
              </a:spcBef>
              <a:spcAft>
                <a:spcPts val="0"/>
              </a:spcAft>
              <a:buSzPts val="1400"/>
              <a:buChar char="○"/>
            </a:pPr>
            <a:r>
              <a:rPr lang="en"/>
              <a:t>Calculate and optimize token costs</a:t>
            </a:r>
            <a:endParaRPr/>
          </a:p>
          <a:p>
            <a:pPr indent="-342900" lvl="0" marL="457200" rtl="0" algn="l">
              <a:spcBef>
                <a:spcPts val="1000"/>
              </a:spcBef>
              <a:spcAft>
                <a:spcPts val="0"/>
              </a:spcAft>
              <a:buSzPts val="1800"/>
              <a:buAutoNum type="arabicPeriod"/>
            </a:pPr>
            <a:r>
              <a:rPr b="1" lang="en"/>
              <a:t>Experience building AI systems</a:t>
            </a:r>
            <a:endParaRPr b="1"/>
          </a:p>
          <a:p>
            <a:pPr indent="-317500" lvl="1" marL="914400" rtl="0" algn="l">
              <a:spcBef>
                <a:spcPts val="0"/>
              </a:spcBef>
              <a:spcAft>
                <a:spcPts val="0"/>
              </a:spcAft>
              <a:buSzPts val="1400"/>
              <a:buChar char="○"/>
            </a:pPr>
            <a:r>
              <a:rPr lang="en"/>
              <a:t>Have concrete experience to talk about in job interviews</a:t>
            </a:r>
            <a:endParaRPr/>
          </a:p>
          <a:p>
            <a:pPr indent="-317500" lvl="1" marL="914400" rtl="0" algn="l">
              <a:spcBef>
                <a:spcPts val="0"/>
              </a:spcBef>
              <a:spcAft>
                <a:spcPts val="0"/>
              </a:spcAft>
              <a:buSzPts val="1400"/>
              <a:buChar char="○"/>
            </a:pPr>
            <a:r>
              <a:rPr lang="en"/>
              <a:t>Tune and optimize real systems</a:t>
            </a:r>
            <a:endParaRPr/>
          </a:p>
          <a:p>
            <a:pPr indent="-317500" lvl="1" marL="914400" rtl="0" algn="l">
              <a:spcBef>
                <a:spcPts val="0"/>
              </a:spcBef>
              <a:spcAft>
                <a:spcPts val="0"/>
              </a:spcAft>
              <a:buSzPts val="1400"/>
              <a:buChar char="○"/>
            </a:pPr>
            <a:r>
              <a:rPr lang="en"/>
              <a:t>Understand trade-offs in building such systems</a:t>
            </a:r>
            <a:endParaRPr/>
          </a:p>
          <a:p>
            <a:pPr indent="-342900" lvl="0" marL="457200" rtl="0" algn="l">
              <a:spcBef>
                <a:spcPts val="1000"/>
              </a:spcBef>
              <a:spcAft>
                <a:spcPts val="0"/>
              </a:spcAft>
              <a:buSzPts val="1800"/>
              <a:buAutoNum type="arabicPeriod"/>
            </a:pPr>
            <a:r>
              <a:rPr b="1" lang="en"/>
              <a:t>Understand the agent loop</a:t>
            </a:r>
            <a:endParaRPr b="1"/>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 name="Shape 255"/>
        <p:cNvGrpSpPr/>
        <p:nvPr/>
      </p:nvGrpSpPr>
      <p:grpSpPr>
        <a:xfrm>
          <a:off x="0" y="0"/>
          <a:ext cx="0" cy="0"/>
          <a:chOff x="0" y="0"/>
          <a:chExt cx="0" cy="0"/>
        </a:xfrm>
      </p:grpSpPr>
      <p:sp>
        <p:nvSpPr>
          <p:cNvPr id="256" name="Google Shape;256;p3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 Workshop 1</a:t>
            </a:r>
            <a:endParaRPr/>
          </a:p>
        </p:txBody>
      </p:sp>
      <p:sp>
        <p:nvSpPr>
          <p:cNvPr id="257" name="Google Shape;257;p35"/>
          <p:cNvSpPr txBox="1"/>
          <p:nvPr>
            <p:ph idx="1" type="body"/>
          </p:nvPr>
        </p:nvSpPr>
        <p:spPr>
          <a:xfrm>
            <a:off x="311700" y="1152475"/>
            <a:ext cx="8337300" cy="39909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Focus on definitions and how to work with models</a:t>
            </a:r>
            <a:endParaRPr/>
          </a:p>
          <a:p>
            <a:pPr indent="-342900" lvl="0" marL="457200" rtl="0" algn="l">
              <a:spcBef>
                <a:spcPts val="0"/>
              </a:spcBef>
              <a:spcAft>
                <a:spcPts val="0"/>
              </a:spcAft>
              <a:buSzPts val="1800"/>
              <a:buChar char="●"/>
            </a:pPr>
            <a:r>
              <a:rPr lang="en"/>
              <a:t>Build foundation for hands-on work</a:t>
            </a:r>
            <a:endParaRPr/>
          </a:p>
          <a:p>
            <a:pPr indent="-342900" lvl="0" marL="457200" rtl="0" algn="l">
              <a:spcBef>
                <a:spcPts val="0"/>
              </a:spcBef>
              <a:spcAft>
                <a:spcPts val="0"/>
              </a:spcAft>
              <a:buSzPts val="1800"/>
              <a:buChar char="●"/>
            </a:pPr>
            <a:r>
              <a:rPr lang="en"/>
              <a:t>About 45 hour of lecture, 30 minutes hands-on work, 15 min discussion at the end</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 sz="2500">
                <a:solidFill>
                  <a:schemeClr val="dk1"/>
                </a:solidFill>
              </a:rPr>
              <a:t>Next Workshops:</a:t>
            </a:r>
            <a:endParaRPr sz="2500">
              <a:solidFill>
                <a:schemeClr val="dk1"/>
              </a:solidFill>
            </a:endParaRPr>
          </a:p>
          <a:p>
            <a:pPr indent="0" lvl="0" marL="0" rtl="0" algn="l">
              <a:spcBef>
                <a:spcPts val="0"/>
              </a:spcBef>
              <a:spcAft>
                <a:spcPts val="0"/>
              </a:spcAft>
              <a:buNone/>
            </a:pPr>
            <a:r>
              <a:t/>
            </a:r>
            <a:endParaRPr sz="1500">
              <a:solidFill>
                <a:schemeClr val="dk1"/>
              </a:solidFill>
            </a:endParaRPr>
          </a:p>
          <a:p>
            <a:pPr indent="-342900" lvl="0" marL="457200" rtl="0" algn="l">
              <a:spcBef>
                <a:spcPts val="0"/>
              </a:spcBef>
              <a:spcAft>
                <a:spcPts val="0"/>
              </a:spcAft>
              <a:buSzPts val="1800"/>
              <a:buChar char="●"/>
            </a:pPr>
            <a:r>
              <a:rPr lang="en"/>
              <a:t>Workshops 2</a:t>
            </a:r>
            <a:r>
              <a:rPr lang="en"/>
              <a:t>‒4: specific implementation that highlights concrete problems</a:t>
            </a:r>
            <a:endParaRPr/>
          </a:p>
          <a:p>
            <a:pPr indent="-317500" lvl="1" marL="914400" rtl="0" algn="l">
              <a:spcBef>
                <a:spcPts val="0"/>
              </a:spcBef>
              <a:spcAft>
                <a:spcPts val="0"/>
              </a:spcAft>
              <a:buSzPts val="1400"/>
              <a:buChar char="○"/>
            </a:pPr>
            <a:r>
              <a:rPr lang="en"/>
              <a:t>About 30 minutes of lecture, 1 hour hands-on</a:t>
            </a:r>
            <a:endParaRPr/>
          </a:p>
          <a:p>
            <a:pPr indent="-342900" lvl="0" marL="457200" rtl="0" algn="l">
              <a:spcBef>
                <a:spcPts val="0"/>
              </a:spcBef>
              <a:spcAft>
                <a:spcPts val="0"/>
              </a:spcAft>
              <a:buSzPts val="1800"/>
              <a:buChar char="●"/>
            </a:pPr>
            <a:r>
              <a:rPr lang="en"/>
              <a:t>Dates: Tuesday and Thursday this week and next</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sp>
        <p:nvSpPr>
          <p:cNvPr id="262" name="Google Shape;262;p36"/>
          <p:cNvSpPr txBox="1"/>
          <p:nvPr>
            <p:ph type="title"/>
          </p:nvPr>
        </p:nvSpPr>
        <p:spPr>
          <a:xfrm>
            <a:off x="311700" y="1728125"/>
            <a:ext cx="8520600" cy="1687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3600"/>
              <a:buNone/>
            </a:pPr>
            <a:r>
              <a:rPr lang="en" sz="4000"/>
              <a:t>Foundations</a:t>
            </a:r>
            <a:endParaRPr sz="4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3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AI?</a:t>
            </a:r>
            <a:endParaRPr/>
          </a:p>
        </p:txBody>
      </p:sp>
      <p:sp>
        <p:nvSpPr>
          <p:cNvPr id="268" name="Google Shape;268;p37"/>
          <p:cNvSpPr txBox="1"/>
          <p:nvPr>
            <p:ph idx="1" type="body"/>
          </p:nvPr>
        </p:nvSpPr>
        <p:spPr>
          <a:xfrm>
            <a:off x="311700" y="1152475"/>
            <a:ext cx="8520600" cy="3990900"/>
          </a:xfrm>
          <a:prstGeom prst="rect">
            <a:avLst/>
          </a:prstGeom>
        </p:spPr>
        <p:txBody>
          <a:bodyPr anchorCtr="0" anchor="t" bIns="91425" lIns="91425" spcFirstLastPara="1" rIns="91425" wrap="square" tIns="91425">
            <a:normAutofit fontScale="85000" lnSpcReduction="20000"/>
          </a:bodyPr>
          <a:lstStyle/>
          <a:p>
            <a:pPr indent="0" lvl="0" marL="0" rtl="0" algn="l">
              <a:spcBef>
                <a:spcPts val="0"/>
              </a:spcBef>
              <a:spcAft>
                <a:spcPts val="0"/>
              </a:spcAft>
              <a:buNone/>
            </a:pPr>
            <a:r>
              <a:rPr lang="en"/>
              <a:t>Over the past 70 years, "Artificial Intelligence" has meant many different things.</a:t>
            </a:r>
            <a:endParaRPr/>
          </a:p>
          <a:p>
            <a:pPr indent="0" lvl="0" marL="0" rtl="0" algn="l">
              <a:spcBef>
                <a:spcPts val="0"/>
              </a:spcBef>
              <a:spcAft>
                <a:spcPts val="0"/>
              </a:spcAft>
              <a:buNone/>
            </a:pPr>
            <a:r>
              <a:t/>
            </a:r>
            <a:endParaRPr/>
          </a:p>
          <a:p>
            <a:pPr indent="0" lvl="0" marL="0" rtl="0" algn="l">
              <a:spcBef>
                <a:spcPts val="0"/>
              </a:spcBef>
              <a:spcAft>
                <a:spcPts val="0"/>
              </a:spcAft>
              <a:buNone/>
            </a:pPr>
            <a:br>
              <a:rPr b="1" lang="en"/>
            </a:br>
            <a:endParaRPr sz="388"/>
          </a:p>
          <a:p>
            <a:pPr indent="0" lvl="0" marL="0" rtl="0" algn="l">
              <a:spcBef>
                <a:spcPts val="0"/>
              </a:spcBef>
              <a:spcAft>
                <a:spcPts val="0"/>
              </a:spcAft>
              <a:buNone/>
            </a:pPr>
            <a:r>
              <a:t/>
            </a:r>
            <a:endParaRPr b="1"/>
          </a:p>
          <a:p>
            <a:pPr indent="0" lvl="0" marL="0" rtl="0" algn="l">
              <a:spcBef>
                <a:spcPts val="200"/>
              </a:spcBef>
              <a:spcAft>
                <a:spcPts val="0"/>
              </a:spcAft>
              <a:buNone/>
            </a:pPr>
            <a:r>
              <a:t/>
            </a:r>
            <a:endParaRPr b="1"/>
          </a:p>
          <a:p>
            <a:pPr indent="0" lvl="0" marL="0" rtl="0" algn="l">
              <a:spcBef>
                <a:spcPts val="200"/>
              </a:spcBef>
              <a:spcAft>
                <a:spcPts val="0"/>
              </a:spcAft>
              <a:buNone/>
            </a:pPr>
            <a:r>
              <a:t/>
            </a:r>
            <a:endParaRPr b="1"/>
          </a:p>
          <a:p>
            <a:pPr indent="0" lvl="0" marL="0" rtl="0" algn="l">
              <a:spcBef>
                <a:spcPts val="200"/>
              </a:spcBef>
              <a:spcAft>
                <a:spcPts val="0"/>
              </a:spcAft>
              <a:buNone/>
            </a:pPr>
            <a:r>
              <a:t/>
            </a:r>
            <a:endParaRPr b="1"/>
          </a:p>
          <a:p>
            <a:pPr indent="0" lvl="0" marL="0" rtl="0" algn="l">
              <a:spcBef>
                <a:spcPts val="200"/>
              </a:spcBef>
              <a:spcAft>
                <a:spcPts val="0"/>
              </a:spcAft>
              <a:buNone/>
            </a:pPr>
            <a:r>
              <a:t/>
            </a:r>
            <a:endParaRPr b="1"/>
          </a:p>
          <a:p>
            <a:pPr indent="0" lvl="0" marL="0" rtl="0" algn="l">
              <a:spcBef>
                <a:spcPts val="200"/>
              </a:spcBef>
              <a:spcAft>
                <a:spcPts val="0"/>
              </a:spcAft>
              <a:buNone/>
            </a:pPr>
            <a:r>
              <a:t/>
            </a:r>
            <a:endParaRPr b="1"/>
          </a:p>
          <a:p>
            <a:pPr indent="0" lvl="0" marL="0" rtl="0" algn="l">
              <a:spcBef>
                <a:spcPts val="200"/>
              </a:spcBef>
              <a:spcAft>
                <a:spcPts val="0"/>
              </a:spcAft>
              <a:buNone/>
            </a:pPr>
            <a:r>
              <a:t/>
            </a:r>
            <a:endParaRPr b="1"/>
          </a:p>
          <a:p>
            <a:pPr indent="0" lvl="0" marL="0" rtl="0" algn="l">
              <a:spcBef>
                <a:spcPts val="200"/>
              </a:spcBef>
              <a:spcAft>
                <a:spcPts val="0"/>
              </a:spcAft>
              <a:buNone/>
            </a:pPr>
            <a:r>
              <a:t/>
            </a:r>
            <a:endParaRPr b="1"/>
          </a:p>
          <a:p>
            <a:pPr indent="0" lvl="0" marL="0" rtl="0" algn="l">
              <a:spcBef>
                <a:spcPts val="200"/>
              </a:spcBef>
              <a:spcAft>
                <a:spcPts val="0"/>
              </a:spcAft>
              <a:buNone/>
            </a:pPr>
            <a:r>
              <a:t/>
            </a:r>
            <a:endParaRPr/>
          </a:p>
          <a:p>
            <a:pPr indent="0" lvl="0" marL="0" rtl="0" algn="l">
              <a:spcBef>
                <a:spcPts val="0"/>
              </a:spcBef>
              <a:spcAft>
                <a:spcPts val="0"/>
              </a:spcAft>
              <a:buNone/>
            </a:pPr>
            <a:br>
              <a:rPr lang="en"/>
            </a:br>
            <a:endParaRPr/>
          </a:p>
          <a:p>
            <a:pPr indent="0" lvl="0" marL="0" rtl="0" algn="l">
              <a:spcBef>
                <a:spcPts val="0"/>
              </a:spcBef>
              <a:spcAft>
                <a:spcPts val="0"/>
              </a:spcAft>
              <a:buNone/>
            </a:pPr>
            <a:r>
              <a:t/>
            </a:r>
            <a:endParaRPr sz="1212"/>
          </a:p>
          <a:p>
            <a:pPr indent="0" lvl="0" marL="0" rtl="0" algn="l">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AI?</a:t>
            </a:r>
            <a:endParaRPr/>
          </a:p>
        </p:txBody>
      </p:sp>
      <p:sp>
        <p:nvSpPr>
          <p:cNvPr id="274" name="Google Shape;274;p38"/>
          <p:cNvSpPr txBox="1"/>
          <p:nvPr>
            <p:ph idx="1" type="body"/>
          </p:nvPr>
        </p:nvSpPr>
        <p:spPr>
          <a:xfrm>
            <a:off x="311700" y="1152475"/>
            <a:ext cx="8520600" cy="3990900"/>
          </a:xfrm>
          <a:prstGeom prst="rect">
            <a:avLst/>
          </a:prstGeom>
        </p:spPr>
        <p:txBody>
          <a:bodyPr anchorCtr="0" anchor="t" bIns="91425" lIns="91425" spcFirstLastPara="1" rIns="91425" wrap="square" tIns="91425">
            <a:normAutofit fontScale="85000" lnSpcReduction="20000"/>
          </a:bodyPr>
          <a:lstStyle/>
          <a:p>
            <a:pPr indent="0" lvl="0" marL="0" rtl="0" algn="l">
              <a:spcBef>
                <a:spcPts val="0"/>
              </a:spcBef>
              <a:spcAft>
                <a:spcPts val="0"/>
              </a:spcAft>
              <a:buNone/>
            </a:pPr>
            <a:r>
              <a:rPr lang="en"/>
              <a:t>Over the past 70 years, "Artificial Intelligence" has meant many different things.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Today, we usually mean </a:t>
            </a:r>
            <a:r>
              <a:rPr b="1" lang="en"/>
              <a:t>foundation models</a:t>
            </a:r>
            <a:r>
              <a:rPr b="1" lang="en"/>
              <a:t>:</a:t>
            </a:r>
            <a:br>
              <a:rPr b="1" lang="en"/>
            </a:br>
            <a:endParaRPr sz="388"/>
          </a:p>
          <a:p>
            <a:pPr indent="-325755" lvl="0" marL="457200" rtl="0" algn="l">
              <a:spcBef>
                <a:spcPts val="0"/>
              </a:spcBef>
              <a:spcAft>
                <a:spcPts val="0"/>
              </a:spcAft>
              <a:buSzPct val="100000"/>
              <a:buChar char="●"/>
            </a:pPr>
            <a:r>
              <a:rPr b="1" lang="en"/>
              <a:t>Large Language Models (LLMs):</a:t>
            </a:r>
            <a:r>
              <a:rPr lang="en"/>
              <a:t> ChatGPT, Claude, Llama</a:t>
            </a:r>
            <a:endParaRPr/>
          </a:p>
          <a:p>
            <a:pPr indent="-325755" lvl="0" marL="457200" rtl="0" algn="l">
              <a:spcBef>
                <a:spcPts val="200"/>
              </a:spcBef>
              <a:spcAft>
                <a:spcPts val="0"/>
              </a:spcAft>
              <a:buSzPct val="100000"/>
              <a:buChar char="●"/>
            </a:pPr>
            <a:r>
              <a:rPr b="1" lang="en"/>
              <a:t>Image/video generation:</a:t>
            </a:r>
            <a:r>
              <a:rPr lang="en"/>
              <a:t> Stable Diffusion, Sora</a:t>
            </a:r>
            <a:endParaRPr/>
          </a:p>
          <a:p>
            <a:pPr indent="-325755" lvl="0" marL="457200" rtl="0" algn="l">
              <a:spcBef>
                <a:spcPts val="200"/>
              </a:spcBef>
              <a:spcAft>
                <a:spcPts val="0"/>
              </a:spcAft>
              <a:buSzPct val="100000"/>
              <a:buChar char="●"/>
            </a:pPr>
            <a:r>
              <a:rPr b="1" lang="en"/>
              <a:t>Multimodal:</a:t>
            </a:r>
            <a:r>
              <a:rPr lang="en"/>
              <a:t> Gemini, GPT-4o</a:t>
            </a:r>
            <a:endParaRPr/>
          </a:p>
          <a:p>
            <a:pPr indent="-325755" lvl="0" marL="457200" rtl="0" algn="l">
              <a:spcBef>
                <a:spcPts val="200"/>
              </a:spcBef>
              <a:spcAft>
                <a:spcPts val="0"/>
              </a:spcAft>
              <a:buSzPct val="100000"/>
              <a:buChar char="●"/>
            </a:pPr>
            <a:r>
              <a:rPr b="1" lang="en"/>
              <a:t>Vision (non-generative):</a:t>
            </a:r>
            <a:r>
              <a:rPr lang="en"/>
              <a:t> CLIP, DINOv2, SAM</a:t>
            </a:r>
            <a:endParaRPr/>
          </a:p>
          <a:p>
            <a:pPr indent="-325755" lvl="0" marL="457200" rtl="0" algn="l">
              <a:spcBef>
                <a:spcPts val="200"/>
              </a:spcBef>
              <a:spcAft>
                <a:spcPts val="0"/>
              </a:spcAft>
              <a:buSzPct val="100000"/>
              <a:buChar char="●"/>
            </a:pPr>
            <a:r>
              <a:rPr b="1" lang="en"/>
              <a:t>Speech:</a:t>
            </a:r>
            <a:r>
              <a:rPr lang="en"/>
              <a:t> Whisper</a:t>
            </a:r>
            <a:endParaRPr/>
          </a:p>
          <a:p>
            <a:pPr indent="-325755" lvl="0" marL="457200" rtl="0" algn="l">
              <a:spcBef>
                <a:spcPts val="200"/>
              </a:spcBef>
              <a:spcAft>
                <a:spcPts val="0"/>
              </a:spcAft>
              <a:buSzPct val="100000"/>
              <a:buChar char="●"/>
            </a:pPr>
            <a:r>
              <a:rPr b="1" lang="en"/>
              <a:t>Biology and science:</a:t>
            </a:r>
            <a:r>
              <a:rPr lang="en"/>
              <a:t> ESM-2/ESM3, BioCLIP 2, AlphaEarth Foundations</a:t>
            </a:r>
            <a:endParaRPr/>
          </a:p>
          <a:p>
            <a:pPr indent="-325755" lvl="0" marL="457200" rtl="0" algn="l">
              <a:spcBef>
                <a:spcPts val="200"/>
              </a:spcBef>
              <a:spcAft>
                <a:spcPts val="0"/>
              </a:spcAft>
              <a:buSzPct val="100000"/>
              <a:buChar char="●"/>
            </a:pPr>
            <a:r>
              <a:rPr b="1" lang="en"/>
              <a:t>Time series and weather:</a:t>
            </a:r>
            <a:r>
              <a:rPr lang="en"/>
              <a:t> Chronos, Aurora</a:t>
            </a:r>
            <a:endParaRPr/>
          </a:p>
          <a:p>
            <a:pPr indent="-325755" lvl="0" marL="457200" rtl="0" algn="l">
              <a:spcBef>
                <a:spcPts val="200"/>
              </a:spcBef>
              <a:spcAft>
                <a:spcPts val="0"/>
              </a:spcAft>
              <a:buSzPct val="100000"/>
              <a:buChar char="●"/>
            </a:pPr>
            <a:r>
              <a:rPr b="1" lang="en"/>
              <a:t>Robotics:</a:t>
            </a:r>
            <a:r>
              <a:rPr lang="en"/>
              <a:t> RT-2, π0</a:t>
            </a:r>
            <a:endParaRPr/>
          </a:p>
          <a:p>
            <a:pPr indent="0" lvl="0" marL="0" rtl="0" algn="l">
              <a:spcBef>
                <a:spcPts val="200"/>
              </a:spcBef>
              <a:spcAft>
                <a:spcPts val="0"/>
              </a:spcAft>
              <a:buNone/>
            </a:pPr>
            <a:r>
              <a:t/>
            </a:r>
            <a:endParaRPr/>
          </a:p>
          <a:p>
            <a:pPr indent="0" lvl="0" marL="0" rtl="0" algn="l">
              <a:spcBef>
                <a:spcPts val="0"/>
              </a:spcBef>
              <a:spcAft>
                <a:spcPts val="0"/>
              </a:spcAft>
              <a:buNone/>
            </a:pPr>
            <a:br>
              <a:rPr lang="en"/>
            </a:br>
            <a:endParaRPr/>
          </a:p>
          <a:p>
            <a:pPr indent="0" lvl="0" marL="0" rtl="0" algn="l">
              <a:spcBef>
                <a:spcPts val="0"/>
              </a:spcBef>
              <a:spcAft>
                <a:spcPts val="0"/>
              </a:spcAft>
              <a:buNone/>
            </a:pPr>
            <a:r>
              <a:t/>
            </a:r>
            <a:endParaRPr sz="1212"/>
          </a:p>
          <a:p>
            <a:pPr indent="0" lvl="0" marL="0" rtl="0" algn="l">
              <a:spcBef>
                <a:spcPts val="0"/>
              </a:spcBef>
              <a:spcAft>
                <a:spcPts val="0"/>
              </a:spcAft>
              <a:buNone/>
            </a:pPr>
            <a:r>
              <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3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AI?</a:t>
            </a:r>
            <a:endParaRPr/>
          </a:p>
        </p:txBody>
      </p:sp>
      <p:sp>
        <p:nvSpPr>
          <p:cNvPr id="280" name="Google Shape;280;p39"/>
          <p:cNvSpPr txBox="1"/>
          <p:nvPr>
            <p:ph idx="1" type="body"/>
          </p:nvPr>
        </p:nvSpPr>
        <p:spPr>
          <a:xfrm>
            <a:off x="311700" y="1152475"/>
            <a:ext cx="8520600" cy="3990900"/>
          </a:xfrm>
          <a:prstGeom prst="rect">
            <a:avLst/>
          </a:prstGeom>
        </p:spPr>
        <p:txBody>
          <a:bodyPr anchorCtr="0" anchor="t" bIns="91425" lIns="91425" spcFirstLastPara="1" rIns="91425" wrap="square" tIns="91425">
            <a:normAutofit fontScale="85000" lnSpcReduction="20000"/>
          </a:bodyPr>
          <a:lstStyle/>
          <a:p>
            <a:pPr indent="0" lvl="0" marL="0" rtl="0" algn="l">
              <a:spcBef>
                <a:spcPts val="0"/>
              </a:spcBef>
              <a:spcAft>
                <a:spcPts val="0"/>
              </a:spcAft>
              <a:buNone/>
            </a:pPr>
            <a:r>
              <a:rPr lang="en"/>
              <a:t>Over the past 70 years, "Artificial Intelligence" has meant many different things.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Today, we usually mean </a:t>
            </a:r>
            <a:r>
              <a:rPr b="1" lang="en"/>
              <a:t>foundation models</a:t>
            </a:r>
            <a:r>
              <a:rPr b="1" lang="en"/>
              <a:t>:</a:t>
            </a:r>
            <a:br>
              <a:rPr b="1" lang="en"/>
            </a:br>
            <a:endParaRPr sz="388"/>
          </a:p>
          <a:p>
            <a:pPr indent="-325755" lvl="0" marL="457200" rtl="0" algn="l">
              <a:spcBef>
                <a:spcPts val="0"/>
              </a:spcBef>
              <a:spcAft>
                <a:spcPts val="0"/>
              </a:spcAft>
              <a:buSzPct val="100000"/>
              <a:buChar char="●"/>
            </a:pPr>
            <a:r>
              <a:rPr b="1" lang="en"/>
              <a:t>Large Language Models (LLMs):</a:t>
            </a:r>
            <a:r>
              <a:rPr lang="en"/>
              <a:t> ChatGPT, Claude, Llama</a:t>
            </a:r>
            <a:endParaRPr/>
          </a:p>
          <a:p>
            <a:pPr indent="-325755" lvl="0" marL="457200" rtl="0" algn="l">
              <a:spcBef>
                <a:spcPts val="200"/>
              </a:spcBef>
              <a:spcAft>
                <a:spcPts val="0"/>
              </a:spcAft>
              <a:buSzPct val="100000"/>
              <a:buChar char="●"/>
            </a:pPr>
            <a:r>
              <a:rPr b="1" lang="en"/>
              <a:t>Image/video generation:</a:t>
            </a:r>
            <a:r>
              <a:rPr lang="en"/>
              <a:t> Stable Diffusion, Sora</a:t>
            </a:r>
            <a:endParaRPr/>
          </a:p>
          <a:p>
            <a:pPr indent="-325755" lvl="0" marL="457200" rtl="0" algn="l">
              <a:spcBef>
                <a:spcPts val="200"/>
              </a:spcBef>
              <a:spcAft>
                <a:spcPts val="0"/>
              </a:spcAft>
              <a:buSzPct val="100000"/>
              <a:buChar char="●"/>
            </a:pPr>
            <a:r>
              <a:rPr b="1" lang="en"/>
              <a:t>Multimodal:</a:t>
            </a:r>
            <a:r>
              <a:rPr lang="en"/>
              <a:t> Gemini, GPT-4o</a:t>
            </a:r>
            <a:endParaRPr/>
          </a:p>
          <a:p>
            <a:pPr indent="-325755" lvl="0" marL="457200" rtl="0" algn="l">
              <a:spcBef>
                <a:spcPts val="200"/>
              </a:spcBef>
              <a:spcAft>
                <a:spcPts val="0"/>
              </a:spcAft>
              <a:buSzPct val="100000"/>
              <a:buChar char="●"/>
            </a:pPr>
            <a:r>
              <a:rPr b="1" lang="en"/>
              <a:t>Vision (non-generative):</a:t>
            </a:r>
            <a:r>
              <a:rPr lang="en"/>
              <a:t> CLIP, DINOv2, SAM</a:t>
            </a:r>
            <a:endParaRPr/>
          </a:p>
          <a:p>
            <a:pPr indent="-325755" lvl="0" marL="457200" rtl="0" algn="l">
              <a:spcBef>
                <a:spcPts val="200"/>
              </a:spcBef>
              <a:spcAft>
                <a:spcPts val="0"/>
              </a:spcAft>
              <a:buSzPct val="100000"/>
              <a:buChar char="●"/>
            </a:pPr>
            <a:r>
              <a:rPr b="1" lang="en"/>
              <a:t>Speech:</a:t>
            </a:r>
            <a:r>
              <a:rPr lang="en"/>
              <a:t> Whisper</a:t>
            </a:r>
            <a:endParaRPr/>
          </a:p>
          <a:p>
            <a:pPr indent="-325755" lvl="0" marL="457200" rtl="0" algn="l">
              <a:spcBef>
                <a:spcPts val="200"/>
              </a:spcBef>
              <a:spcAft>
                <a:spcPts val="0"/>
              </a:spcAft>
              <a:buSzPct val="100000"/>
              <a:buChar char="●"/>
            </a:pPr>
            <a:r>
              <a:rPr b="1" lang="en"/>
              <a:t>Biology and science:</a:t>
            </a:r>
            <a:r>
              <a:rPr lang="en"/>
              <a:t> ESM-2/ESM3, BioCLIP 2, AlphaEarth Foundations</a:t>
            </a:r>
            <a:endParaRPr/>
          </a:p>
          <a:p>
            <a:pPr indent="-325755" lvl="0" marL="457200" rtl="0" algn="l">
              <a:spcBef>
                <a:spcPts val="200"/>
              </a:spcBef>
              <a:spcAft>
                <a:spcPts val="0"/>
              </a:spcAft>
              <a:buSzPct val="100000"/>
              <a:buChar char="●"/>
            </a:pPr>
            <a:r>
              <a:rPr b="1" lang="en"/>
              <a:t>Time series and weather:</a:t>
            </a:r>
            <a:r>
              <a:rPr lang="en"/>
              <a:t> Chronos, Aurora</a:t>
            </a:r>
            <a:endParaRPr/>
          </a:p>
          <a:p>
            <a:pPr indent="-325755" lvl="0" marL="457200" rtl="0" algn="l">
              <a:spcBef>
                <a:spcPts val="200"/>
              </a:spcBef>
              <a:spcAft>
                <a:spcPts val="0"/>
              </a:spcAft>
              <a:buSzPct val="100000"/>
              <a:buChar char="●"/>
            </a:pPr>
            <a:r>
              <a:rPr b="1" lang="en"/>
              <a:t>Robotics:</a:t>
            </a:r>
            <a:r>
              <a:rPr lang="en"/>
              <a:t> RT-2, π0</a:t>
            </a:r>
            <a:endParaRPr/>
          </a:p>
          <a:p>
            <a:pPr indent="0" lvl="0" marL="0" rtl="0" algn="l">
              <a:spcBef>
                <a:spcPts val="200"/>
              </a:spcBef>
              <a:spcAft>
                <a:spcPts val="0"/>
              </a:spcAft>
              <a:buNone/>
            </a:pPr>
            <a:r>
              <a:t/>
            </a:r>
            <a:endParaRPr/>
          </a:p>
          <a:p>
            <a:pPr indent="0" lvl="0" marL="0" rtl="0" algn="l">
              <a:spcBef>
                <a:spcPts val="0"/>
              </a:spcBef>
              <a:spcAft>
                <a:spcPts val="0"/>
              </a:spcAft>
              <a:buNone/>
            </a:pPr>
            <a:r>
              <a:rPr lang="en"/>
              <a:t>Foundation models are large (many parameters), trained with large datasets, and capable of general tasks—not special-purpose like Machine Learning (ML).</a:t>
            </a:r>
            <a:endParaRPr/>
          </a:p>
          <a:p>
            <a:pPr indent="0" lvl="0" marL="0" rtl="0" algn="l">
              <a:spcBef>
                <a:spcPts val="0"/>
              </a:spcBef>
              <a:spcAft>
                <a:spcPts val="0"/>
              </a:spcAft>
              <a:buNone/>
            </a:pPr>
            <a:r>
              <a:t/>
            </a:r>
            <a:endParaRPr sz="1212"/>
          </a:p>
          <a:p>
            <a:pPr indent="0" lvl="0" marL="0" rtl="0" algn="l">
              <a:spcBef>
                <a:spcPts val="0"/>
              </a:spcBef>
              <a:spcAft>
                <a:spcPts val="0"/>
              </a:spcAft>
              <a:buNone/>
            </a:pPr>
            <a:r>
              <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AI?</a:t>
            </a:r>
            <a:endParaRPr/>
          </a:p>
        </p:txBody>
      </p:sp>
      <p:sp>
        <p:nvSpPr>
          <p:cNvPr id="286" name="Google Shape;286;p40"/>
          <p:cNvSpPr txBox="1"/>
          <p:nvPr>
            <p:ph idx="1" type="body"/>
          </p:nvPr>
        </p:nvSpPr>
        <p:spPr>
          <a:xfrm>
            <a:off x="311700" y="1152475"/>
            <a:ext cx="8520600" cy="3990900"/>
          </a:xfrm>
          <a:prstGeom prst="rect">
            <a:avLst/>
          </a:prstGeom>
        </p:spPr>
        <p:txBody>
          <a:bodyPr anchorCtr="0" anchor="t" bIns="91425" lIns="91425" spcFirstLastPara="1" rIns="91425" wrap="square" tIns="91425">
            <a:normAutofit fontScale="85000" lnSpcReduction="20000"/>
          </a:bodyPr>
          <a:lstStyle/>
          <a:p>
            <a:pPr indent="0" lvl="0" marL="0" rtl="0" algn="l">
              <a:spcBef>
                <a:spcPts val="0"/>
              </a:spcBef>
              <a:spcAft>
                <a:spcPts val="0"/>
              </a:spcAft>
              <a:buNone/>
            </a:pPr>
            <a:r>
              <a:rPr lang="en"/>
              <a:t>Over the past 70 years, "Artificial Intelligence" has meant many different things.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Today, we usually mean </a:t>
            </a:r>
            <a:r>
              <a:rPr b="1" lang="en"/>
              <a:t>foundation models</a:t>
            </a:r>
            <a:r>
              <a:rPr b="1" lang="en"/>
              <a:t>:</a:t>
            </a:r>
            <a:br>
              <a:rPr b="1" lang="en"/>
            </a:br>
            <a:endParaRPr sz="388"/>
          </a:p>
          <a:p>
            <a:pPr indent="-325755" lvl="0" marL="457200" rtl="0" algn="l">
              <a:spcBef>
                <a:spcPts val="0"/>
              </a:spcBef>
              <a:spcAft>
                <a:spcPts val="0"/>
              </a:spcAft>
              <a:buSzPct val="100000"/>
              <a:buChar char="●"/>
            </a:pPr>
            <a:r>
              <a:rPr b="1" lang="en"/>
              <a:t>Large Language Models (LLMs):</a:t>
            </a:r>
            <a:r>
              <a:rPr lang="en"/>
              <a:t> ChatGPT, Claude, Llama</a:t>
            </a:r>
            <a:endParaRPr/>
          </a:p>
          <a:p>
            <a:pPr indent="-325755" lvl="0" marL="457200" rtl="0" algn="l">
              <a:spcBef>
                <a:spcPts val="200"/>
              </a:spcBef>
              <a:spcAft>
                <a:spcPts val="0"/>
              </a:spcAft>
              <a:buSzPct val="100000"/>
              <a:buChar char="●"/>
            </a:pPr>
            <a:r>
              <a:rPr b="1" lang="en"/>
              <a:t>Image/video generation:</a:t>
            </a:r>
            <a:r>
              <a:rPr lang="en"/>
              <a:t> Stable Diffusion, Sora</a:t>
            </a:r>
            <a:endParaRPr/>
          </a:p>
          <a:p>
            <a:pPr indent="-325755" lvl="0" marL="457200" rtl="0" algn="l">
              <a:spcBef>
                <a:spcPts val="200"/>
              </a:spcBef>
              <a:spcAft>
                <a:spcPts val="0"/>
              </a:spcAft>
              <a:buSzPct val="100000"/>
              <a:buChar char="●"/>
            </a:pPr>
            <a:r>
              <a:rPr b="1" lang="en"/>
              <a:t>Multimodal:</a:t>
            </a:r>
            <a:r>
              <a:rPr lang="en"/>
              <a:t> Gemini, GPT-4o</a:t>
            </a:r>
            <a:endParaRPr/>
          </a:p>
          <a:p>
            <a:pPr indent="-325755" lvl="0" marL="457200" rtl="0" algn="l">
              <a:spcBef>
                <a:spcPts val="200"/>
              </a:spcBef>
              <a:spcAft>
                <a:spcPts val="0"/>
              </a:spcAft>
              <a:buSzPct val="100000"/>
              <a:buChar char="●"/>
            </a:pPr>
            <a:r>
              <a:rPr b="1" lang="en"/>
              <a:t>Vision (non-generative):</a:t>
            </a:r>
            <a:r>
              <a:rPr lang="en"/>
              <a:t> CLIP, DINOv2, SAM</a:t>
            </a:r>
            <a:endParaRPr/>
          </a:p>
          <a:p>
            <a:pPr indent="-325755" lvl="0" marL="457200" rtl="0" algn="l">
              <a:spcBef>
                <a:spcPts val="200"/>
              </a:spcBef>
              <a:spcAft>
                <a:spcPts val="0"/>
              </a:spcAft>
              <a:buSzPct val="100000"/>
              <a:buChar char="●"/>
            </a:pPr>
            <a:r>
              <a:rPr b="1" lang="en"/>
              <a:t>Speech:</a:t>
            </a:r>
            <a:r>
              <a:rPr lang="en"/>
              <a:t> Whisper</a:t>
            </a:r>
            <a:endParaRPr/>
          </a:p>
          <a:p>
            <a:pPr indent="-325755" lvl="0" marL="457200" rtl="0" algn="l">
              <a:spcBef>
                <a:spcPts val="200"/>
              </a:spcBef>
              <a:spcAft>
                <a:spcPts val="0"/>
              </a:spcAft>
              <a:buSzPct val="100000"/>
              <a:buChar char="●"/>
            </a:pPr>
            <a:r>
              <a:rPr b="1" lang="en"/>
              <a:t>Biology and science:</a:t>
            </a:r>
            <a:r>
              <a:rPr lang="en"/>
              <a:t> ESM-2/ESM3, BioCLIP 2, AlphaEarth Foundations</a:t>
            </a:r>
            <a:endParaRPr/>
          </a:p>
          <a:p>
            <a:pPr indent="-325755" lvl="0" marL="457200" rtl="0" algn="l">
              <a:spcBef>
                <a:spcPts val="200"/>
              </a:spcBef>
              <a:spcAft>
                <a:spcPts val="0"/>
              </a:spcAft>
              <a:buSzPct val="100000"/>
              <a:buChar char="●"/>
            </a:pPr>
            <a:r>
              <a:rPr b="1" lang="en"/>
              <a:t>Time series and weather:</a:t>
            </a:r>
            <a:r>
              <a:rPr lang="en"/>
              <a:t> Chronos, Aurora</a:t>
            </a:r>
            <a:endParaRPr/>
          </a:p>
          <a:p>
            <a:pPr indent="-325755" lvl="0" marL="457200" rtl="0" algn="l">
              <a:spcBef>
                <a:spcPts val="200"/>
              </a:spcBef>
              <a:spcAft>
                <a:spcPts val="0"/>
              </a:spcAft>
              <a:buSzPct val="100000"/>
              <a:buChar char="●"/>
            </a:pPr>
            <a:r>
              <a:rPr b="1" lang="en"/>
              <a:t>Robotics:</a:t>
            </a:r>
            <a:r>
              <a:rPr lang="en"/>
              <a:t> RT-2, π0</a:t>
            </a:r>
            <a:endParaRPr/>
          </a:p>
          <a:p>
            <a:pPr indent="0" lvl="0" marL="0" rtl="0" algn="l">
              <a:spcBef>
                <a:spcPts val="200"/>
              </a:spcBef>
              <a:spcAft>
                <a:spcPts val="0"/>
              </a:spcAft>
              <a:buNone/>
            </a:pPr>
            <a:r>
              <a:t/>
            </a:r>
            <a:endParaRPr/>
          </a:p>
          <a:p>
            <a:pPr indent="0" lvl="0" marL="0" rtl="0" algn="l">
              <a:spcBef>
                <a:spcPts val="0"/>
              </a:spcBef>
              <a:spcAft>
                <a:spcPts val="0"/>
              </a:spcAft>
              <a:buNone/>
            </a:pPr>
            <a:r>
              <a:rPr lang="en"/>
              <a:t>Foundation models are large (many parameters), trained with large datasets, and capable of general tasks—not special-purpose like Machine Learning (ML).</a:t>
            </a:r>
            <a:endParaRPr/>
          </a:p>
          <a:p>
            <a:pPr indent="0" lvl="0" marL="0" rtl="0" algn="l">
              <a:spcBef>
                <a:spcPts val="0"/>
              </a:spcBef>
              <a:spcAft>
                <a:spcPts val="0"/>
              </a:spcAft>
              <a:buNone/>
            </a:pPr>
            <a:r>
              <a:t/>
            </a:r>
            <a:endParaRPr sz="1212"/>
          </a:p>
          <a:p>
            <a:pPr indent="0" lvl="0" marL="0" rtl="0" algn="l">
              <a:spcBef>
                <a:spcPts val="0"/>
              </a:spcBef>
              <a:spcAft>
                <a:spcPts val="0"/>
              </a:spcAft>
              <a:buNone/>
            </a:pPr>
            <a:r>
              <a:rPr lang="en"/>
              <a:t>We'll be working with LLMs in these workshops.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0" name="Shape 290"/>
        <p:cNvGrpSpPr/>
        <p:nvPr/>
      </p:nvGrpSpPr>
      <p:grpSpPr>
        <a:xfrm>
          <a:off x="0" y="0"/>
          <a:ext cx="0" cy="0"/>
          <a:chOff x="0" y="0"/>
          <a:chExt cx="0" cy="0"/>
        </a:xfrm>
      </p:grpSpPr>
      <p:sp>
        <p:nvSpPr>
          <p:cNvPr id="291" name="Google Shape;291;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 LLM-based chatbot consists of two parts:</a:t>
            </a:r>
            <a:endParaRPr/>
          </a:p>
        </p:txBody>
      </p:sp>
      <p:sp>
        <p:nvSpPr>
          <p:cNvPr id="292" name="Google Shape;292;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t/>
            </a:r>
            <a:endParaRPr/>
          </a:p>
          <a:p>
            <a:pPr indent="-342900" lvl="0" marL="457200" rtl="0" algn="l">
              <a:spcBef>
                <a:spcPts val="0"/>
              </a:spcBef>
              <a:spcAft>
                <a:spcPts val="0"/>
              </a:spcAft>
              <a:buSzPts val="1800"/>
              <a:buChar char="●"/>
            </a:pPr>
            <a:r>
              <a:rPr lang="en"/>
              <a:t>An</a:t>
            </a:r>
            <a:r>
              <a:rPr lang="en"/>
              <a:t> </a:t>
            </a:r>
            <a:r>
              <a:rPr b="1" lang="en"/>
              <a:t>LLM</a:t>
            </a:r>
            <a:r>
              <a:rPr lang="en"/>
              <a:t>, which is a compressed representation of statistical patterns in a huge set of human-authored words</a:t>
            </a:r>
            <a:endParaRPr/>
          </a:p>
          <a:p>
            <a:pPr indent="0" lvl="0" marL="0" rtl="0" algn="l">
              <a:spcBef>
                <a:spcPts val="0"/>
              </a:spcBef>
              <a:spcAft>
                <a:spcPts val="0"/>
              </a:spcAft>
              <a:buNone/>
            </a:pPr>
            <a:br>
              <a:rPr lang="en" sz="1400"/>
            </a:br>
            <a:br>
              <a:rPr lang="en"/>
            </a:br>
            <a:endParaRPr sz="1400"/>
          </a:p>
          <a:p>
            <a:pPr indent="-342900" lvl="0" marL="457200" rtl="0" algn="l">
              <a:spcBef>
                <a:spcPts val="0"/>
              </a:spcBef>
              <a:spcAft>
                <a:spcPts val="0"/>
              </a:spcAft>
              <a:buSzPts val="1800"/>
              <a:buChar char="●"/>
            </a:pPr>
            <a:r>
              <a:rPr lang="en"/>
              <a:t>A </a:t>
            </a:r>
            <a:r>
              <a:rPr b="1" lang="en"/>
              <a:t>transcript</a:t>
            </a:r>
            <a:r>
              <a:rPr lang="en"/>
              <a:t> of the conversation so far</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6" name="Shape 296"/>
        <p:cNvGrpSpPr/>
        <p:nvPr/>
      </p:nvGrpSpPr>
      <p:grpSpPr>
        <a:xfrm>
          <a:off x="0" y="0"/>
          <a:ext cx="0" cy="0"/>
          <a:chOff x="0" y="0"/>
          <a:chExt cx="0" cy="0"/>
        </a:xfrm>
      </p:grpSpPr>
      <p:sp>
        <p:nvSpPr>
          <p:cNvPr id="297" name="Google Shape;297;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 LLM-based chatbot consists of two parts:</a:t>
            </a:r>
            <a:endParaRPr/>
          </a:p>
        </p:txBody>
      </p:sp>
      <p:sp>
        <p:nvSpPr>
          <p:cNvPr id="298" name="Google Shape;298;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t/>
            </a:r>
            <a:endParaRPr/>
          </a:p>
          <a:p>
            <a:pPr indent="-342900" lvl="0" marL="457200" rtl="0" algn="l">
              <a:spcBef>
                <a:spcPts val="0"/>
              </a:spcBef>
              <a:spcAft>
                <a:spcPts val="0"/>
              </a:spcAft>
              <a:buSzPts val="1800"/>
              <a:buChar char="●"/>
            </a:pPr>
            <a:r>
              <a:rPr lang="en"/>
              <a:t>An </a:t>
            </a:r>
            <a:r>
              <a:rPr b="1" lang="en"/>
              <a:t>LLM</a:t>
            </a:r>
            <a:r>
              <a:rPr lang="en"/>
              <a:t>, which is a compressed representation of statistical patterns in a huge set of human-authored words</a:t>
            </a:r>
            <a:endParaRPr/>
          </a:p>
          <a:p>
            <a:pPr indent="-317500" lvl="1" marL="914400" rtl="0" algn="l">
              <a:spcBef>
                <a:spcPts val="0"/>
              </a:spcBef>
              <a:spcAft>
                <a:spcPts val="0"/>
              </a:spcAft>
              <a:buSzPts val="1400"/>
              <a:buChar char="○"/>
            </a:pPr>
            <a:r>
              <a:rPr lang="en"/>
              <a:t>"Lossy compression": the original words can't be reconstructed, only statistical patterns</a:t>
            </a:r>
            <a:endParaRPr/>
          </a:p>
          <a:p>
            <a:pPr indent="0" lvl="0" marL="914400" rtl="0" algn="l">
              <a:spcBef>
                <a:spcPts val="0"/>
              </a:spcBef>
              <a:spcAft>
                <a:spcPts val="0"/>
              </a:spcAft>
              <a:buNone/>
            </a:pPr>
            <a:r>
              <a:t/>
            </a:r>
            <a:endParaRPr sz="1400"/>
          </a:p>
          <a:p>
            <a:pPr indent="0" lvl="0" marL="0" rtl="0" algn="l">
              <a:spcBef>
                <a:spcPts val="0"/>
              </a:spcBef>
              <a:spcAft>
                <a:spcPts val="0"/>
              </a:spcAft>
              <a:buNone/>
            </a:pPr>
            <a:r>
              <a:t/>
            </a:r>
            <a:endParaRPr/>
          </a:p>
          <a:p>
            <a:pPr indent="-342900" lvl="0" marL="457200" rtl="0" algn="l">
              <a:spcBef>
                <a:spcPts val="0"/>
              </a:spcBef>
              <a:spcAft>
                <a:spcPts val="0"/>
              </a:spcAft>
              <a:buSzPts val="1800"/>
              <a:buChar char="●"/>
            </a:pPr>
            <a:r>
              <a:rPr lang="en"/>
              <a:t>A </a:t>
            </a:r>
            <a:r>
              <a:rPr b="1" lang="en"/>
              <a:t>transcript</a:t>
            </a:r>
            <a:r>
              <a:rPr lang="en"/>
              <a:t> of the conversation so far</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 LLM-based chatbot consists of two parts:</a:t>
            </a:r>
            <a:endParaRPr/>
          </a:p>
        </p:txBody>
      </p:sp>
      <p:sp>
        <p:nvSpPr>
          <p:cNvPr id="304" name="Google Shape;304;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t/>
            </a:r>
            <a:endParaRPr/>
          </a:p>
          <a:p>
            <a:pPr indent="-342900" lvl="0" marL="457200" rtl="0" algn="l">
              <a:spcBef>
                <a:spcPts val="0"/>
              </a:spcBef>
              <a:spcAft>
                <a:spcPts val="0"/>
              </a:spcAft>
              <a:buSzPts val="1800"/>
              <a:buChar char="●"/>
            </a:pPr>
            <a:r>
              <a:rPr lang="en"/>
              <a:t>An </a:t>
            </a:r>
            <a:r>
              <a:rPr b="1" lang="en"/>
              <a:t>LLM</a:t>
            </a:r>
            <a:r>
              <a:rPr lang="en"/>
              <a:t>, which is a compressed representation of statistical patterns in a huge set of human-authored words</a:t>
            </a:r>
            <a:endParaRPr/>
          </a:p>
          <a:p>
            <a:pPr indent="-317500" lvl="1" marL="914400" rtl="0" algn="l">
              <a:spcBef>
                <a:spcPts val="0"/>
              </a:spcBef>
              <a:spcAft>
                <a:spcPts val="0"/>
              </a:spcAft>
              <a:buSzPts val="1400"/>
              <a:buChar char="○"/>
            </a:pPr>
            <a:r>
              <a:rPr lang="en"/>
              <a:t>"Lossy compression": the original words can't be reconstructed, only statistical patterns</a:t>
            </a:r>
            <a:endParaRPr/>
          </a:p>
          <a:p>
            <a:pPr indent="-317500" lvl="1" marL="914400" rtl="0" algn="l">
              <a:spcBef>
                <a:spcPts val="0"/>
              </a:spcBef>
              <a:spcAft>
                <a:spcPts val="0"/>
              </a:spcAft>
              <a:buSzPts val="1400"/>
              <a:buChar char="○"/>
            </a:pPr>
            <a:r>
              <a:rPr lang="en"/>
              <a:t>The LLM is a </a:t>
            </a:r>
            <a:r>
              <a:rPr i="1" lang="en"/>
              <a:t>constant</a:t>
            </a:r>
            <a:r>
              <a:rPr lang="en"/>
              <a:t> through the conversation, unchanged by what is said</a:t>
            </a:r>
            <a:endParaRPr/>
          </a:p>
          <a:p>
            <a:pPr indent="0" lvl="0" marL="0" rtl="0" algn="l">
              <a:spcBef>
                <a:spcPts val="0"/>
              </a:spcBef>
              <a:spcAft>
                <a:spcPts val="0"/>
              </a:spcAft>
              <a:buNone/>
            </a:pPr>
            <a:r>
              <a:t/>
            </a:r>
            <a:endParaRPr/>
          </a:p>
          <a:p>
            <a:pPr indent="-342900" lvl="0" marL="457200" rtl="0" algn="l">
              <a:spcBef>
                <a:spcPts val="0"/>
              </a:spcBef>
              <a:spcAft>
                <a:spcPts val="0"/>
              </a:spcAft>
              <a:buSzPts val="1800"/>
              <a:buChar char="●"/>
            </a:pPr>
            <a:r>
              <a:rPr lang="en"/>
              <a:t>A </a:t>
            </a:r>
            <a:r>
              <a:rPr b="1" lang="en"/>
              <a:t>transcript</a:t>
            </a:r>
            <a:r>
              <a:rPr lang="en"/>
              <a:t> of the conversation so far</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8" name="Shape 308"/>
        <p:cNvGrpSpPr/>
        <p:nvPr/>
      </p:nvGrpSpPr>
      <p:grpSpPr>
        <a:xfrm>
          <a:off x="0" y="0"/>
          <a:ext cx="0" cy="0"/>
          <a:chOff x="0" y="0"/>
          <a:chExt cx="0" cy="0"/>
        </a:xfrm>
      </p:grpSpPr>
      <p:sp>
        <p:nvSpPr>
          <p:cNvPr id="309" name="Google Shape;309;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First, what is "lossy compression"?</a:t>
            </a:r>
            <a:endParaRPr/>
          </a:p>
        </p:txBody>
      </p:sp>
      <p:pic>
        <p:nvPicPr>
          <p:cNvPr id="310" name="Google Shape;310;p44" title="lossy-compression.png"/>
          <p:cNvPicPr preferRelativeResize="0"/>
          <p:nvPr/>
        </p:nvPicPr>
        <p:blipFill>
          <a:blip r:embed="rId3">
            <a:alphaModFix/>
          </a:blip>
          <a:stretch>
            <a:fillRect/>
          </a:stretch>
        </p:blipFill>
        <p:spPr>
          <a:xfrm>
            <a:off x="1962936" y="1140275"/>
            <a:ext cx="5218126" cy="3478751"/>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45"/>
          <p:cNvSpPr txBox="1"/>
          <p:nvPr>
            <p:ph type="title"/>
          </p:nvPr>
        </p:nvSpPr>
        <p:spPr>
          <a:xfrm>
            <a:off x="311700" y="445025"/>
            <a:ext cx="3867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Example: JPEG</a:t>
            </a:r>
            <a:endParaRPr/>
          </a:p>
        </p:txBody>
      </p:sp>
      <p:sp>
        <p:nvSpPr>
          <p:cNvPr id="316" name="Google Shape;316;p45"/>
          <p:cNvSpPr txBox="1"/>
          <p:nvPr>
            <p:ph idx="1" type="body"/>
          </p:nvPr>
        </p:nvSpPr>
        <p:spPr>
          <a:xfrm>
            <a:off x="311700" y="1152475"/>
            <a:ext cx="38679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JPEG files are smaller than PNG because they don't save every pixel.</a:t>
            </a:r>
            <a:endParaRPr/>
          </a:p>
          <a:p>
            <a:pPr indent="0" lvl="0" marL="0" rtl="0" algn="l">
              <a:spcBef>
                <a:spcPts val="1000"/>
              </a:spcBef>
              <a:spcAft>
                <a:spcPts val="0"/>
              </a:spcAft>
              <a:buNone/>
            </a:pPr>
            <a:br>
              <a:rPr lang="en"/>
            </a:br>
            <a:endParaRPr/>
          </a:p>
          <a:p>
            <a:pPr indent="0" lvl="0" marL="0" rtl="0" algn="l">
              <a:spcBef>
                <a:spcPts val="1000"/>
              </a:spcBef>
              <a:spcAft>
                <a:spcPts val="1000"/>
              </a:spcAft>
              <a:buNone/>
            </a:pPr>
            <a:br>
              <a:rPr lang="en"/>
            </a:br>
            <a:br>
              <a:rPr lang="en"/>
            </a:br>
            <a:br>
              <a:rPr lang="en"/>
            </a:br>
            <a:br>
              <a:rPr lang="en"/>
            </a:br>
            <a:endParaRPr/>
          </a:p>
        </p:txBody>
      </p:sp>
      <p:pic>
        <p:nvPicPr>
          <p:cNvPr id="317" name="Google Shape;317;p45" title="bad-jpeg.jpg"/>
          <p:cNvPicPr preferRelativeResize="0"/>
          <p:nvPr/>
        </p:nvPicPr>
        <p:blipFill>
          <a:blip r:embed="rId3">
            <a:alphaModFix/>
          </a:blip>
          <a:stretch>
            <a:fillRect/>
          </a:stretch>
        </p:blipFill>
        <p:spPr>
          <a:xfrm>
            <a:off x="4179550" y="445025"/>
            <a:ext cx="4652750" cy="2481475"/>
          </a:xfrm>
          <a:prstGeom prst="rect">
            <a:avLst/>
          </a:prstGeom>
          <a:noFill/>
          <a:ln>
            <a:noFill/>
          </a:ln>
        </p:spPr>
      </p:pic>
      <p:pic>
        <p:nvPicPr>
          <p:cNvPr id="318" name="Google Shape;318;p45" title="lossy.png"/>
          <p:cNvPicPr preferRelativeResize="0"/>
          <p:nvPr/>
        </p:nvPicPr>
        <p:blipFill>
          <a:blip r:embed="rId4">
            <a:alphaModFix/>
          </a:blip>
          <a:stretch>
            <a:fillRect/>
          </a:stretch>
        </p:blipFill>
        <p:spPr>
          <a:xfrm>
            <a:off x="6564875" y="3132975"/>
            <a:ext cx="2267375" cy="1849121"/>
          </a:xfrm>
          <a:prstGeom prst="rect">
            <a:avLst/>
          </a:prstGeom>
          <a:noFill/>
          <a:ln cap="flat" cmpd="sng" w="22000">
            <a:solidFill>
              <a:srgbClr val="E06666"/>
            </a:solidFill>
            <a:prstDash val="solid"/>
            <a:round/>
            <a:headEnd len="sm" w="sm" type="none"/>
            <a:tailEnd len="sm" w="sm" type="none"/>
          </a:ln>
        </p:spPr>
      </p:pic>
      <p:pic>
        <p:nvPicPr>
          <p:cNvPr id="319" name="Google Shape;319;p45" title="lossless.png"/>
          <p:cNvPicPr preferRelativeResize="0"/>
          <p:nvPr/>
        </p:nvPicPr>
        <p:blipFill>
          <a:blip r:embed="rId5">
            <a:alphaModFix/>
          </a:blip>
          <a:stretch>
            <a:fillRect/>
          </a:stretch>
        </p:blipFill>
        <p:spPr>
          <a:xfrm>
            <a:off x="4179550" y="3132975"/>
            <a:ext cx="2267375" cy="1849121"/>
          </a:xfrm>
          <a:prstGeom prst="rect">
            <a:avLst/>
          </a:prstGeom>
          <a:noFill/>
          <a:ln cap="flat" cmpd="sng" w="22000">
            <a:solidFill>
              <a:srgbClr val="E06666"/>
            </a:solidFill>
            <a:prstDash val="solid"/>
            <a:round/>
            <a:headEnd len="sm" w="sm" type="none"/>
            <a:tailEnd len="sm" w="sm" type="none"/>
          </a:ln>
        </p:spPr>
      </p:pic>
      <p:sp>
        <p:nvSpPr>
          <p:cNvPr id="320" name="Google Shape;320;p45"/>
          <p:cNvSpPr/>
          <p:nvPr/>
        </p:nvSpPr>
        <p:spPr>
          <a:xfrm>
            <a:off x="5407225" y="1932125"/>
            <a:ext cx="664200" cy="530100"/>
          </a:xfrm>
          <a:prstGeom prst="rect">
            <a:avLst/>
          </a:prstGeom>
          <a:noFill/>
          <a:ln cap="flat" cmpd="sng" w="28575">
            <a:solidFill>
              <a:srgbClr val="E0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21" name="Google Shape;321;p45"/>
          <p:cNvSpPr txBox="1"/>
          <p:nvPr/>
        </p:nvSpPr>
        <p:spPr>
          <a:xfrm>
            <a:off x="4179550" y="445025"/>
            <a:ext cx="28983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000" u="sng">
                <a:solidFill>
                  <a:schemeClr val="lt1"/>
                </a:solidFill>
                <a:hlinkClick r:id="rId6">
                  <a:extLst>
                    <a:ext uri="{A12FA001-AC4F-418D-AE19-62706E023703}">
                      <ahyp:hlinkClr val="tx"/>
                    </a:ext>
                  </a:extLst>
                </a:hlinkClick>
              </a:rPr>
              <a:t>"Point of View" by David Revoy − CC-BY 4.0</a:t>
            </a:r>
            <a:endParaRPr b="1" sz="1000">
              <a:solidFill>
                <a:schemeClr val="lt1"/>
              </a:solidFill>
            </a:endParaRPr>
          </a:p>
        </p:txBody>
      </p:sp>
      <p:sp>
        <p:nvSpPr>
          <p:cNvPr id="322" name="Google Shape;322;p45"/>
          <p:cNvSpPr txBox="1"/>
          <p:nvPr/>
        </p:nvSpPr>
        <p:spPr>
          <a:xfrm>
            <a:off x="4179550" y="4568875"/>
            <a:ext cx="2301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solidFill>
                  <a:schemeClr val="lt1"/>
                </a:solidFill>
              </a:rPr>
              <a:t>Lossless compression</a:t>
            </a:r>
            <a:endParaRPr b="1">
              <a:solidFill>
                <a:schemeClr val="lt1"/>
              </a:solidFill>
            </a:endParaRPr>
          </a:p>
        </p:txBody>
      </p:sp>
      <p:sp>
        <p:nvSpPr>
          <p:cNvPr id="323" name="Google Shape;323;p45"/>
          <p:cNvSpPr txBox="1"/>
          <p:nvPr/>
        </p:nvSpPr>
        <p:spPr>
          <a:xfrm>
            <a:off x="6548062" y="4568875"/>
            <a:ext cx="2301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solidFill>
                  <a:schemeClr val="lt1"/>
                </a:solidFill>
              </a:rPr>
              <a:t>Lossy compression</a:t>
            </a:r>
            <a:endParaRPr b="1">
              <a:solidFill>
                <a:schemeClr val="lt1"/>
              </a:solidFill>
            </a:endParaRPr>
          </a:p>
        </p:txBody>
      </p:sp>
      <p:sp>
        <p:nvSpPr>
          <p:cNvPr id="324" name="Google Shape;324;p45"/>
          <p:cNvSpPr txBox="1"/>
          <p:nvPr/>
        </p:nvSpPr>
        <p:spPr>
          <a:xfrm>
            <a:off x="311700" y="4645975"/>
            <a:ext cx="26424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900">
                <a:solidFill>
                  <a:srgbClr val="999999"/>
                </a:solidFill>
              </a:rPr>
              <a:t>(Thanks for the analogy, Ted Chiang!)</a:t>
            </a:r>
            <a:endParaRPr sz="900">
              <a:solidFill>
                <a:srgbClr val="999999"/>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6"/>
          <p:cNvSpPr txBox="1"/>
          <p:nvPr>
            <p:ph type="title"/>
          </p:nvPr>
        </p:nvSpPr>
        <p:spPr>
          <a:xfrm>
            <a:off x="311700" y="445025"/>
            <a:ext cx="3867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Example: JPEG</a:t>
            </a:r>
            <a:endParaRPr/>
          </a:p>
        </p:txBody>
      </p:sp>
      <p:sp>
        <p:nvSpPr>
          <p:cNvPr id="330" name="Google Shape;330;p46"/>
          <p:cNvSpPr txBox="1"/>
          <p:nvPr>
            <p:ph idx="1" type="body"/>
          </p:nvPr>
        </p:nvSpPr>
        <p:spPr>
          <a:xfrm>
            <a:off x="311700" y="1152475"/>
            <a:ext cx="38679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JPEG files are smaller than PNG because they don't save every pixel.</a:t>
            </a:r>
            <a:endParaRPr/>
          </a:p>
          <a:p>
            <a:pPr indent="0" lvl="0" marL="0" rtl="0" algn="l">
              <a:spcBef>
                <a:spcPts val="1000"/>
              </a:spcBef>
              <a:spcAft>
                <a:spcPts val="0"/>
              </a:spcAft>
              <a:buNone/>
            </a:pPr>
            <a:r>
              <a:rPr lang="en"/>
              <a:t>They contain statistical distributions of regions of pixels.</a:t>
            </a:r>
            <a:endParaRPr/>
          </a:p>
          <a:p>
            <a:pPr indent="0" lvl="0" marL="0" rtl="0" algn="l">
              <a:spcBef>
                <a:spcPts val="1000"/>
              </a:spcBef>
              <a:spcAft>
                <a:spcPts val="1000"/>
              </a:spcAft>
              <a:buNone/>
            </a:pPr>
            <a:br>
              <a:rPr lang="en"/>
            </a:br>
            <a:br>
              <a:rPr lang="en"/>
            </a:br>
            <a:br>
              <a:rPr lang="en"/>
            </a:br>
            <a:endParaRPr/>
          </a:p>
        </p:txBody>
      </p:sp>
      <p:pic>
        <p:nvPicPr>
          <p:cNvPr id="331" name="Google Shape;331;p46" title="bad-jpeg.jpg"/>
          <p:cNvPicPr preferRelativeResize="0"/>
          <p:nvPr/>
        </p:nvPicPr>
        <p:blipFill>
          <a:blip r:embed="rId3">
            <a:alphaModFix/>
          </a:blip>
          <a:stretch>
            <a:fillRect/>
          </a:stretch>
        </p:blipFill>
        <p:spPr>
          <a:xfrm>
            <a:off x="4179550" y="445025"/>
            <a:ext cx="4652750" cy="2481475"/>
          </a:xfrm>
          <a:prstGeom prst="rect">
            <a:avLst/>
          </a:prstGeom>
          <a:noFill/>
          <a:ln>
            <a:noFill/>
          </a:ln>
        </p:spPr>
      </p:pic>
      <p:pic>
        <p:nvPicPr>
          <p:cNvPr id="332" name="Google Shape;332;p46" title="lossy.png"/>
          <p:cNvPicPr preferRelativeResize="0"/>
          <p:nvPr/>
        </p:nvPicPr>
        <p:blipFill>
          <a:blip r:embed="rId4">
            <a:alphaModFix/>
          </a:blip>
          <a:stretch>
            <a:fillRect/>
          </a:stretch>
        </p:blipFill>
        <p:spPr>
          <a:xfrm>
            <a:off x="6564875" y="3132975"/>
            <a:ext cx="2267375" cy="1849121"/>
          </a:xfrm>
          <a:prstGeom prst="rect">
            <a:avLst/>
          </a:prstGeom>
          <a:noFill/>
          <a:ln cap="flat" cmpd="sng" w="22000">
            <a:solidFill>
              <a:srgbClr val="E06666"/>
            </a:solidFill>
            <a:prstDash val="solid"/>
            <a:round/>
            <a:headEnd len="sm" w="sm" type="none"/>
            <a:tailEnd len="sm" w="sm" type="none"/>
          </a:ln>
        </p:spPr>
      </p:pic>
      <p:pic>
        <p:nvPicPr>
          <p:cNvPr id="333" name="Google Shape;333;p46" title="lossless.png"/>
          <p:cNvPicPr preferRelativeResize="0"/>
          <p:nvPr/>
        </p:nvPicPr>
        <p:blipFill>
          <a:blip r:embed="rId5">
            <a:alphaModFix/>
          </a:blip>
          <a:stretch>
            <a:fillRect/>
          </a:stretch>
        </p:blipFill>
        <p:spPr>
          <a:xfrm>
            <a:off x="4179550" y="3132975"/>
            <a:ext cx="2267375" cy="1849121"/>
          </a:xfrm>
          <a:prstGeom prst="rect">
            <a:avLst/>
          </a:prstGeom>
          <a:noFill/>
          <a:ln cap="flat" cmpd="sng" w="22000">
            <a:solidFill>
              <a:srgbClr val="E06666"/>
            </a:solidFill>
            <a:prstDash val="solid"/>
            <a:round/>
            <a:headEnd len="sm" w="sm" type="none"/>
            <a:tailEnd len="sm" w="sm" type="none"/>
          </a:ln>
        </p:spPr>
      </p:pic>
      <p:sp>
        <p:nvSpPr>
          <p:cNvPr id="334" name="Google Shape;334;p46"/>
          <p:cNvSpPr/>
          <p:nvPr/>
        </p:nvSpPr>
        <p:spPr>
          <a:xfrm>
            <a:off x="5407225" y="1932125"/>
            <a:ext cx="664200" cy="530100"/>
          </a:xfrm>
          <a:prstGeom prst="rect">
            <a:avLst/>
          </a:prstGeom>
          <a:noFill/>
          <a:ln cap="flat" cmpd="sng" w="28575">
            <a:solidFill>
              <a:srgbClr val="E0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35" name="Google Shape;335;p46"/>
          <p:cNvSpPr txBox="1"/>
          <p:nvPr/>
        </p:nvSpPr>
        <p:spPr>
          <a:xfrm>
            <a:off x="4179550" y="445025"/>
            <a:ext cx="28983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000" u="sng">
                <a:solidFill>
                  <a:schemeClr val="lt1"/>
                </a:solidFill>
                <a:hlinkClick r:id="rId6">
                  <a:extLst>
                    <a:ext uri="{A12FA001-AC4F-418D-AE19-62706E023703}">
                      <ahyp:hlinkClr val="tx"/>
                    </a:ext>
                  </a:extLst>
                </a:hlinkClick>
              </a:rPr>
              <a:t>"Point of View" by David Revoy − CC-BY 4.0</a:t>
            </a:r>
            <a:endParaRPr b="1" sz="1000">
              <a:solidFill>
                <a:schemeClr val="lt1"/>
              </a:solidFill>
            </a:endParaRPr>
          </a:p>
        </p:txBody>
      </p:sp>
      <p:sp>
        <p:nvSpPr>
          <p:cNvPr id="336" name="Google Shape;336;p46"/>
          <p:cNvSpPr txBox="1"/>
          <p:nvPr/>
        </p:nvSpPr>
        <p:spPr>
          <a:xfrm>
            <a:off x="4179550" y="4568875"/>
            <a:ext cx="2301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solidFill>
                  <a:schemeClr val="lt1"/>
                </a:solidFill>
              </a:rPr>
              <a:t>Lossless compression</a:t>
            </a:r>
            <a:endParaRPr b="1">
              <a:solidFill>
                <a:schemeClr val="lt1"/>
              </a:solidFill>
            </a:endParaRPr>
          </a:p>
        </p:txBody>
      </p:sp>
      <p:sp>
        <p:nvSpPr>
          <p:cNvPr id="337" name="Google Shape;337;p46"/>
          <p:cNvSpPr txBox="1"/>
          <p:nvPr/>
        </p:nvSpPr>
        <p:spPr>
          <a:xfrm>
            <a:off x="6548062" y="4568875"/>
            <a:ext cx="2301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solidFill>
                  <a:schemeClr val="lt1"/>
                </a:solidFill>
              </a:rPr>
              <a:t>Lossy compression</a:t>
            </a:r>
            <a:endParaRPr b="1">
              <a:solidFill>
                <a:schemeClr val="lt1"/>
              </a:solidFill>
            </a:endParaRPr>
          </a:p>
        </p:txBody>
      </p:sp>
      <p:sp>
        <p:nvSpPr>
          <p:cNvPr id="338" name="Google Shape;338;p46"/>
          <p:cNvSpPr txBox="1"/>
          <p:nvPr/>
        </p:nvSpPr>
        <p:spPr>
          <a:xfrm>
            <a:off x="311700" y="4645975"/>
            <a:ext cx="26424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900">
                <a:solidFill>
                  <a:srgbClr val="999999"/>
                </a:solidFill>
              </a:rPr>
              <a:t>(Thanks for the analogy, Ted Chiang!)</a:t>
            </a:r>
            <a:endParaRPr sz="900">
              <a:solidFill>
                <a:srgbClr val="999999"/>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47"/>
          <p:cNvSpPr txBox="1"/>
          <p:nvPr>
            <p:ph type="title"/>
          </p:nvPr>
        </p:nvSpPr>
        <p:spPr>
          <a:xfrm>
            <a:off x="311700" y="445025"/>
            <a:ext cx="3867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Example: JPEG</a:t>
            </a:r>
            <a:endParaRPr/>
          </a:p>
        </p:txBody>
      </p:sp>
      <p:sp>
        <p:nvSpPr>
          <p:cNvPr id="344" name="Google Shape;344;p47"/>
          <p:cNvSpPr txBox="1"/>
          <p:nvPr>
            <p:ph idx="1" type="body"/>
          </p:nvPr>
        </p:nvSpPr>
        <p:spPr>
          <a:xfrm>
            <a:off x="311700" y="1152475"/>
            <a:ext cx="38679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JPEG files are smaller than PNG because they don't save every pixel.</a:t>
            </a:r>
            <a:endParaRPr/>
          </a:p>
          <a:p>
            <a:pPr indent="0" lvl="0" marL="0" rtl="0" algn="l">
              <a:spcBef>
                <a:spcPts val="1000"/>
              </a:spcBef>
              <a:spcAft>
                <a:spcPts val="0"/>
              </a:spcAft>
              <a:buNone/>
            </a:pPr>
            <a:r>
              <a:rPr lang="en"/>
              <a:t>They contain statistical distributions of regions of pixels.</a:t>
            </a:r>
            <a:endParaRPr/>
          </a:p>
          <a:p>
            <a:pPr indent="0" lvl="0" marL="0" rtl="0" algn="l">
              <a:spcBef>
                <a:spcPts val="1000"/>
              </a:spcBef>
              <a:spcAft>
                <a:spcPts val="1000"/>
              </a:spcAft>
              <a:buNone/>
            </a:pPr>
            <a:r>
              <a:rPr lang="en"/>
              <a:t>When reconstructed, the large-scale image features look right, but fine details have wave-like artifacts, especially around edges.</a:t>
            </a:r>
            <a:endParaRPr/>
          </a:p>
        </p:txBody>
      </p:sp>
      <p:pic>
        <p:nvPicPr>
          <p:cNvPr id="345" name="Google Shape;345;p47" title="bad-jpeg.jpg"/>
          <p:cNvPicPr preferRelativeResize="0"/>
          <p:nvPr/>
        </p:nvPicPr>
        <p:blipFill>
          <a:blip r:embed="rId3">
            <a:alphaModFix/>
          </a:blip>
          <a:stretch>
            <a:fillRect/>
          </a:stretch>
        </p:blipFill>
        <p:spPr>
          <a:xfrm>
            <a:off x="4179550" y="445025"/>
            <a:ext cx="4652750" cy="2481475"/>
          </a:xfrm>
          <a:prstGeom prst="rect">
            <a:avLst/>
          </a:prstGeom>
          <a:noFill/>
          <a:ln>
            <a:noFill/>
          </a:ln>
        </p:spPr>
      </p:pic>
      <p:pic>
        <p:nvPicPr>
          <p:cNvPr id="346" name="Google Shape;346;p47" title="lossy.png"/>
          <p:cNvPicPr preferRelativeResize="0"/>
          <p:nvPr/>
        </p:nvPicPr>
        <p:blipFill>
          <a:blip r:embed="rId4">
            <a:alphaModFix/>
          </a:blip>
          <a:stretch>
            <a:fillRect/>
          </a:stretch>
        </p:blipFill>
        <p:spPr>
          <a:xfrm>
            <a:off x="6564875" y="3132975"/>
            <a:ext cx="2267375" cy="1849121"/>
          </a:xfrm>
          <a:prstGeom prst="rect">
            <a:avLst/>
          </a:prstGeom>
          <a:noFill/>
          <a:ln cap="flat" cmpd="sng" w="22000">
            <a:solidFill>
              <a:srgbClr val="E06666"/>
            </a:solidFill>
            <a:prstDash val="solid"/>
            <a:round/>
            <a:headEnd len="sm" w="sm" type="none"/>
            <a:tailEnd len="sm" w="sm" type="none"/>
          </a:ln>
        </p:spPr>
      </p:pic>
      <p:pic>
        <p:nvPicPr>
          <p:cNvPr id="347" name="Google Shape;347;p47" title="lossless.png"/>
          <p:cNvPicPr preferRelativeResize="0"/>
          <p:nvPr/>
        </p:nvPicPr>
        <p:blipFill>
          <a:blip r:embed="rId5">
            <a:alphaModFix/>
          </a:blip>
          <a:stretch>
            <a:fillRect/>
          </a:stretch>
        </p:blipFill>
        <p:spPr>
          <a:xfrm>
            <a:off x="4179550" y="3132975"/>
            <a:ext cx="2267375" cy="1849121"/>
          </a:xfrm>
          <a:prstGeom prst="rect">
            <a:avLst/>
          </a:prstGeom>
          <a:noFill/>
          <a:ln cap="flat" cmpd="sng" w="22000">
            <a:solidFill>
              <a:srgbClr val="E06666"/>
            </a:solidFill>
            <a:prstDash val="solid"/>
            <a:round/>
            <a:headEnd len="sm" w="sm" type="none"/>
            <a:tailEnd len="sm" w="sm" type="none"/>
          </a:ln>
        </p:spPr>
      </p:pic>
      <p:sp>
        <p:nvSpPr>
          <p:cNvPr id="348" name="Google Shape;348;p47"/>
          <p:cNvSpPr/>
          <p:nvPr/>
        </p:nvSpPr>
        <p:spPr>
          <a:xfrm>
            <a:off x="5407225" y="1932125"/>
            <a:ext cx="664200" cy="530100"/>
          </a:xfrm>
          <a:prstGeom prst="rect">
            <a:avLst/>
          </a:prstGeom>
          <a:noFill/>
          <a:ln cap="flat" cmpd="sng" w="28575">
            <a:solidFill>
              <a:srgbClr val="E0666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49" name="Google Shape;349;p47"/>
          <p:cNvSpPr txBox="1"/>
          <p:nvPr/>
        </p:nvSpPr>
        <p:spPr>
          <a:xfrm>
            <a:off x="4179550" y="445025"/>
            <a:ext cx="28983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000" u="sng">
                <a:solidFill>
                  <a:schemeClr val="lt1"/>
                </a:solidFill>
                <a:hlinkClick r:id="rId6">
                  <a:extLst>
                    <a:ext uri="{A12FA001-AC4F-418D-AE19-62706E023703}">
                      <ahyp:hlinkClr val="tx"/>
                    </a:ext>
                  </a:extLst>
                </a:hlinkClick>
              </a:rPr>
              <a:t>"Point of View" by David Revoy − CC-BY 4.0</a:t>
            </a:r>
            <a:endParaRPr b="1" sz="1000">
              <a:solidFill>
                <a:schemeClr val="lt1"/>
              </a:solidFill>
            </a:endParaRPr>
          </a:p>
        </p:txBody>
      </p:sp>
      <p:sp>
        <p:nvSpPr>
          <p:cNvPr id="350" name="Google Shape;350;p47"/>
          <p:cNvSpPr txBox="1"/>
          <p:nvPr/>
        </p:nvSpPr>
        <p:spPr>
          <a:xfrm>
            <a:off x="4179550" y="4568875"/>
            <a:ext cx="2301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solidFill>
                  <a:schemeClr val="lt1"/>
                </a:solidFill>
              </a:rPr>
              <a:t>Lossless compression</a:t>
            </a:r>
            <a:endParaRPr b="1">
              <a:solidFill>
                <a:schemeClr val="lt1"/>
              </a:solidFill>
            </a:endParaRPr>
          </a:p>
        </p:txBody>
      </p:sp>
      <p:sp>
        <p:nvSpPr>
          <p:cNvPr id="351" name="Google Shape;351;p47"/>
          <p:cNvSpPr txBox="1"/>
          <p:nvPr/>
        </p:nvSpPr>
        <p:spPr>
          <a:xfrm>
            <a:off x="6548062" y="4568875"/>
            <a:ext cx="2301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solidFill>
                  <a:schemeClr val="lt1"/>
                </a:solidFill>
              </a:rPr>
              <a:t>Lossy compression</a:t>
            </a:r>
            <a:endParaRPr b="1">
              <a:solidFill>
                <a:schemeClr val="lt1"/>
              </a:solidFill>
            </a:endParaRPr>
          </a:p>
        </p:txBody>
      </p:sp>
      <p:sp>
        <p:nvSpPr>
          <p:cNvPr id="352" name="Google Shape;352;p47"/>
          <p:cNvSpPr txBox="1"/>
          <p:nvPr/>
        </p:nvSpPr>
        <p:spPr>
          <a:xfrm>
            <a:off x="311700" y="4645975"/>
            <a:ext cx="26424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900">
                <a:solidFill>
                  <a:srgbClr val="999999"/>
                </a:solidFill>
              </a:rPr>
              <a:t>(Thanks for the analogy, Ted Chiang!)</a:t>
            </a:r>
            <a:endParaRPr sz="900">
              <a:solidFill>
                <a:srgbClr val="999999"/>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6" name="Shape 356"/>
        <p:cNvGrpSpPr/>
        <p:nvPr/>
      </p:nvGrpSpPr>
      <p:grpSpPr>
        <a:xfrm>
          <a:off x="0" y="0"/>
          <a:ext cx="0" cy="0"/>
          <a:chOff x="0" y="0"/>
          <a:chExt cx="0" cy="0"/>
        </a:xfrm>
      </p:grpSpPr>
      <p:sp>
        <p:nvSpPr>
          <p:cNvPr id="357" name="Google Shape;357;p4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Lossy compression in an LLM</a:t>
            </a:r>
            <a:endParaRPr/>
          </a:p>
        </p:txBody>
      </p:sp>
      <p:sp>
        <p:nvSpPr>
          <p:cNvPr id="358" name="Google Shape;358;p48"/>
          <p:cNvSpPr txBox="1"/>
          <p:nvPr>
            <p:ph idx="1" type="body"/>
          </p:nvPr>
        </p:nvSpPr>
        <p:spPr>
          <a:xfrm>
            <a:off x="3059125" y="1152475"/>
            <a:ext cx="57732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An LLM is a neural network, which is a sequence of matrices in which one matrix's output is fed into the next matrix as input.</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sz="2900"/>
          </a:p>
          <a:p>
            <a:pPr indent="0" lvl="0" marL="0" rtl="0" algn="l">
              <a:spcBef>
                <a:spcPts val="0"/>
              </a:spcBef>
              <a:spcAft>
                <a:spcPts val="0"/>
              </a:spcAft>
              <a:buNone/>
            </a:pPr>
            <a:r>
              <a:t/>
            </a:r>
            <a:endParaRPr/>
          </a:p>
          <a:p>
            <a:pPr indent="0" lvl="0" marL="0" rtl="0" algn="l">
              <a:spcBef>
                <a:spcPts val="0"/>
              </a:spcBef>
              <a:spcAft>
                <a:spcPts val="0"/>
              </a:spcAft>
              <a:buNone/>
            </a:pPr>
            <a:r>
              <a:rPr lang="en"/>
              <a:t>The numbers the matrix are called parameters, and they collectively describe a statistical distribution.</a:t>
            </a:r>
            <a:endParaRPr/>
          </a:p>
          <a:p>
            <a:pPr indent="0" lvl="0" marL="0" rtl="0" algn="l">
              <a:spcBef>
                <a:spcPts val="1000"/>
              </a:spcBef>
              <a:spcAft>
                <a:spcPts val="1000"/>
              </a:spcAft>
              <a:buNone/>
            </a:pPr>
            <a:br>
              <a:rPr lang="en"/>
            </a:br>
            <a:br>
              <a:rPr lang="en"/>
            </a:br>
            <a:endParaRPr/>
          </a:p>
        </p:txBody>
      </p:sp>
      <p:pic>
        <p:nvPicPr>
          <p:cNvPr id="359" name="Google Shape;359;p48" title="training.png"/>
          <p:cNvPicPr preferRelativeResize="0"/>
          <p:nvPr/>
        </p:nvPicPr>
        <p:blipFill>
          <a:blip r:embed="rId3">
            <a:alphaModFix/>
          </a:blip>
          <a:stretch>
            <a:fillRect/>
          </a:stretch>
        </p:blipFill>
        <p:spPr>
          <a:xfrm>
            <a:off x="311700" y="1152475"/>
            <a:ext cx="2660675" cy="3991023"/>
          </a:xfrm>
          <a:prstGeom prst="rect">
            <a:avLst/>
          </a:prstGeom>
          <a:noFill/>
          <a:ln>
            <a:noFill/>
          </a:ln>
        </p:spPr>
      </p:pic>
      <p:pic>
        <p:nvPicPr>
          <p:cNvPr id="360" name="Google Shape;360;p48" title="matrix.png"/>
          <p:cNvPicPr preferRelativeResize="0"/>
          <p:nvPr/>
        </p:nvPicPr>
        <p:blipFill rotWithShape="1">
          <a:blip r:embed="rId4">
            <a:alphaModFix/>
          </a:blip>
          <a:srcRect b="20394" l="0" r="0" t="21171"/>
          <a:stretch/>
        </p:blipFill>
        <p:spPr>
          <a:xfrm>
            <a:off x="5111338" y="2270189"/>
            <a:ext cx="1668774" cy="975176"/>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4" name="Shape 364"/>
        <p:cNvGrpSpPr/>
        <p:nvPr/>
      </p:nvGrpSpPr>
      <p:grpSpPr>
        <a:xfrm>
          <a:off x="0" y="0"/>
          <a:ext cx="0" cy="0"/>
          <a:chOff x="0" y="0"/>
          <a:chExt cx="0" cy="0"/>
        </a:xfrm>
      </p:grpSpPr>
      <p:sp>
        <p:nvSpPr>
          <p:cNvPr id="365" name="Google Shape;365;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Lossy compression in an LLM</a:t>
            </a:r>
            <a:endParaRPr/>
          </a:p>
        </p:txBody>
      </p:sp>
      <p:sp>
        <p:nvSpPr>
          <p:cNvPr id="366" name="Google Shape;366;p49"/>
          <p:cNvSpPr txBox="1"/>
          <p:nvPr>
            <p:ph idx="1" type="body"/>
          </p:nvPr>
        </p:nvSpPr>
        <p:spPr>
          <a:xfrm>
            <a:off x="3059125" y="1152475"/>
            <a:ext cx="57732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An LLM is a neural network, which is a sequence of matrices in which one matrix's output is fed into the next matrix as input.</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sz="2900"/>
          </a:p>
          <a:p>
            <a:pPr indent="0" lvl="0" marL="0" rtl="0" algn="l">
              <a:spcBef>
                <a:spcPts val="0"/>
              </a:spcBef>
              <a:spcAft>
                <a:spcPts val="0"/>
              </a:spcAft>
              <a:buNone/>
            </a:pPr>
            <a:r>
              <a:t/>
            </a:r>
            <a:endParaRPr/>
          </a:p>
          <a:p>
            <a:pPr indent="0" lvl="0" marL="0" rtl="0" algn="l">
              <a:spcBef>
                <a:spcPts val="0"/>
              </a:spcBef>
              <a:spcAft>
                <a:spcPts val="0"/>
              </a:spcAft>
              <a:buNone/>
            </a:pPr>
            <a:r>
              <a:rPr lang="en"/>
              <a:t>The numbers the matrix are called parameters, and they collectively describe a statistical distribution.</a:t>
            </a:r>
            <a:endParaRPr/>
          </a:p>
          <a:p>
            <a:pPr indent="0" lvl="0" marL="0" rtl="0" algn="l">
              <a:spcBef>
                <a:spcPts val="1000"/>
              </a:spcBef>
              <a:spcAft>
                <a:spcPts val="1000"/>
              </a:spcAft>
              <a:buNone/>
            </a:pPr>
            <a:r>
              <a:rPr lang="en"/>
              <a:t>The model is trained to reproduce a huge set of words, </a:t>
            </a:r>
            <a:r>
              <a:rPr i="1" lang="en" u="sng"/>
              <a:t>more than it can actually store</a:t>
            </a:r>
            <a:r>
              <a:rPr lang="en"/>
              <a:t>. The LLM cannot memorize all the words, only common patterns.</a:t>
            </a:r>
            <a:endParaRPr/>
          </a:p>
        </p:txBody>
      </p:sp>
      <p:pic>
        <p:nvPicPr>
          <p:cNvPr id="367" name="Google Shape;367;p49" title="training.png"/>
          <p:cNvPicPr preferRelativeResize="0"/>
          <p:nvPr/>
        </p:nvPicPr>
        <p:blipFill>
          <a:blip r:embed="rId3">
            <a:alphaModFix/>
          </a:blip>
          <a:stretch>
            <a:fillRect/>
          </a:stretch>
        </p:blipFill>
        <p:spPr>
          <a:xfrm>
            <a:off x="311700" y="1152475"/>
            <a:ext cx="2660675" cy="3991023"/>
          </a:xfrm>
          <a:prstGeom prst="rect">
            <a:avLst/>
          </a:prstGeom>
          <a:noFill/>
          <a:ln>
            <a:noFill/>
          </a:ln>
        </p:spPr>
      </p:pic>
      <p:pic>
        <p:nvPicPr>
          <p:cNvPr id="368" name="Google Shape;368;p49" title="matrix.png"/>
          <p:cNvPicPr preferRelativeResize="0"/>
          <p:nvPr/>
        </p:nvPicPr>
        <p:blipFill rotWithShape="1">
          <a:blip r:embed="rId4">
            <a:alphaModFix/>
          </a:blip>
          <a:srcRect b="20394" l="0" r="0" t="21171"/>
          <a:stretch/>
        </p:blipFill>
        <p:spPr>
          <a:xfrm>
            <a:off x="5111338" y="2270189"/>
            <a:ext cx="1668774" cy="975176"/>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2" name="Shape 372"/>
        <p:cNvGrpSpPr/>
        <p:nvPr/>
      </p:nvGrpSpPr>
      <p:grpSpPr>
        <a:xfrm>
          <a:off x="0" y="0"/>
          <a:ext cx="0" cy="0"/>
          <a:chOff x="0" y="0"/>
          <a:chExt cx="0" cy="0"/>
        </a:xfrm>
      </p:grpSpPr>
      <p:sp>
        <p:nvSpPr>
          <p:cNvPr id="373" name="Google Shape;373;p50"/>
          <p:cNvSpPr txBox="1"/>
          <p:nvPr>
            <p:ph idx="1" type="body"/>
          </p:nvPr>
        </p:nvSpPr>
        <p:spPr>
          <a:xfrm>
            <a:off x="311700" y="1152475"/>
            <a:ext cx="8520600" cy="39909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t/>
            </a:r>
            <a:endParaRPr sz="2500"/>
          </a:p>
          <a:p>
            <a:pPr indent="0" lvl="0" marL="0" rtl="0" algn="ctr">
              <a:spcBef>
                <a:spcPts val="0"/>
              </a:spcBef>
              <a:spcAft>
                <a:spcPts val="0"/>
              </a:spcAft>
              <a:buNone/>
            </a:pPr>
            <a:r>
              <a:t/>
            </a:r>
            <a:endParaRPr sz="2500"/>
          </a:p>
          <a:p>
            <a:pPr indent="0" lvl="0" marL="0" rtl="0" algn="ctr">
              <a:spcBef>
                <a:spcPts val="0"/>
              </a:spcBef>
              <a:spcAft>
                <a:spcPts val="0"/>
              </a:spcAft>
              <a:buNone/>
            </a:pPr>
            <a:r>
              <a:rPr lang="en" sz="2500"/>
              <a:t>Instead of containing the things people have written,</a:t>
            </a:r>
            <a:br>
              <a:rPr lang="en" sz="2500"/>
            </a:br>
            <a:r>
              <a:rPr lang="en" sz="2500"/>
              <a:t>an LLM captures the sorts of things people write.</a:t>
            </a:r>
            <a:endParaRPr sz="2000"/>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Yes, it is "just autocomplete"</a:t>
            </a:r>
            <a:endParaRPr/>
          </a:p>
        </p:txBody>
      </p:sp>
      <p:sp>
        <p:nvSpPr>
          <p:cNvPr id="379" name="Google Shape;379;p51"/>
          <p:cNvSpPr txBox="1"/>
          <p:nvPr>
            <p:ph idx="1" type="body"/>
          </p:nvPr>
        </p:nvSpPr>
        <p:spPr>
          <a:xfrm>
            <a:off x="5016000" y="1751724"/>
            <a:ext cx="3816300" cy="2883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Given a sequence of words and a statistical distribution (the LLM), one can predict which word is likely to be next in the sequence.</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br>
              <a:rPr lang="en"/>
            </a:br>
            <a:endParaRPr/>
          </a:p>
        </p:txBody>
      </p:sp>
      <p:pic>
        <p:nvPicPr>
          <p:cNvPr id="380" name="Google Shape;380;p51" title="inference.png"/>
          <p:cNvPicPr preferRelativeResize="0"/>
          <p:nvPr/>
        </p:nvPicPr>
        <p:blipFill rotWithShape="1">
          <a:blip r:embed="rId3">
            <a:alphaModFix/>
          </a:blip>
          <a:srcRect b="51148" l="0" r="0" t="2852"/>
          <a:stretch/>
        </p:blipFill>
        <p:spPr>
          <a:xfrm>
            <a:off x="311700" y="1152475"/>
            <a:ext cx="4628549" cy="2129075"/>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4" name="Shape 384"/>
        <p:cNvGrpSpPr/>
        <p:nvPr/>
      </p:nvGrpSpPr>
      <p:grpSpPr>
        <a:xfrm>
          <a:off x="0" y="0"/>
          <a:ext cx="0" cy="0"/>
          <a:chOff x="0" y="0"/>
          <a:chExt cx="0" cy="0"/>
        </a:xfrm>
      </p:grpSpPr>
      <p:sp>
        <p:nvSpPr>
          <p:cNvPr id="385" name="Google Shape;385;p5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Yes, it is "just autocomplete"</a:t>
            </a:r>
            <a:endParaRPr/>
          </a:p>
        </p:txBody>
      </p:sp>
      <p:sp>
        <p:nvSpPr>
          <p:cNvPr id="386" name="Google Shape;386;p52"/>
          <p:cNvSpPr txBox="1"/>
          <p:nvPr>
            <p:ph idx="1" type="body"/>
          </p:nvPr>
        </p:nvSpPr>
        <p:spPr>
          <a:xfrm>
            <a:off x="5016000" y="1751724"/>
            <a:ext cx="3816300" cy="2883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Given a sequence of words and a statistical distribution (the LLM), one can predict which word is likely to be next in the sequence.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And then repeat this for every word.</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That's why chat output fills the screen </a:t>
            </a:r>
            <a:r>
              <a:rPr i="1" lang="en"/>
              <a:t>gradually</a:t>
            </a:r>
            <a:r>
              <a:rPr lang="en"/>
              <a:t>.</a:t>
            </a:r>
            <a:endParaRPr/>
          </a:p>
        </p:txBody>
      </p:sp>
      <p:pic>
        <p:nvPicPr>
          <p:cNvPr id="387" name="Google Shape;387;p52" title="inference.png"/>
          <p:cNvPicPr preferRelativeResize="0"/>
          <p:nvPr/>
        </p:nvPicPr>
        <p:blipFill rotWithShape="1">
          <a:blip r:embed="rId3">
            <a:alphaModFix/>
          </a:blip>
          <a:srcRect b="10917" l="0" r="0" t="2854"/>
          <a:stretch/>
        </p:blipFill>
        <p:spPr>
          <a:xfrm>
            <a:off x="311700" y="1152475"/>
            <a:ext cx="4628547" cy="39910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1" name="Shape 391"/>
        <p:cNvGrpSpPr/>
        <p:nvPr/>
      </p:nvGrpSpPr>
      <p:grpSpPr>
        <a:xfrm>
          <a:off x="0" y="0"/>
          <a:ext cx="0" cy="0"/>
          <a:chOff x="0" y="0"/>
          <a:chExt cx="0" cy="0"/>
        </a:xfrm>
      </p:grpSpPr>
      <p:sp>
        <p:nvSpPr>
          <p:cNvPr id="392" name="Google Shape;392;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That's also why an LLM can't backtrack</a:t>
            </a:r>
            <a:endParaRPr/>
          </a:p>
        </p:txBody>
      </p:sp>
      <p:sp>
        <p:nvSpPr>
          <p:cNvPr id="393" name="Google Shape;393;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Example from a Claude coding session:</a:t>
            </a:r>
            <a:endParaRPr/>
          </a:p>
          <a:p>
            <a:pPr indent="0" lvl="0" marL="0" rtl="0" algn="l">
              <a:spcBef>
                <a:spcPts val="0"/>
              </a:spcBef>
              <a:spcAft>
                <a:spcPts val="0"/>
              </a:spcAft>
              <a:buNone/>
            </a:pPr>
            <a:r>
              <a:t/>
            </a:r>
            <a:endParaRPr/>
          </a:p>
          <a:p>
            <a:pPr indent="0" lvl="0" marL="457200" rtl="0" algn="l">
              <a:spcBef>
                <a:spcPts val="0"/>
              </a:spcBef>
              <a:spcAft>
                <a:spcPts val="0"/>
              </a:spcAft>
              <a:buNone/>
            </a:pPr>
            <a:r>
              <a:rPr lang="en">
                <a:solidFill>
                  <a:srgbClr val="999999"/>
                </a:solidFill>
              </a:rPr>
              <a:t>Non-ASCII is escaped in the files (</a:t>
            </a:r>
            <a:r>
              <a:rPr lang="en">
                <a:solidFill>
                  <a:srgbClr val="999999"/>
                </a:solidFill>
                <a:latin typeface="Roboto Mono"/>
                <a:ea typeface="Roboto Mono"/>
                <a:cs typeface="Roboto Mono"/>
                <a:sym typeface="Roboto Mono"/>
              </a:rPr>
              <a:t>Lott\u0113</a:t>
            </a:r>
            <a:r>
              <a:rPr lang="en">
                <a:solidFill>
                  <a:srgbClr val="999999"/>
                </a:solidFill>
              </a:rPr>
              <a:t>, </a:t>
            </a:r>
            <a:r>
              <a:rPr lang="en">
                <a:solidFill>
                  <a:srgbClr val="999999"/>
                </a:solidFill>
                <a:latin typeface="Roboto Mono"/>
                <a:ea typeface="Roboto Mono"/>
                <a:cs typeface="Roboto Mono"/>
                <a:sym typeface="Roboto Mono"/>
              </a:rPr>
              <a:t>\u201c</a:t>
            </a:r>
            <a:r>
              <a:rPr lang="en">
                <a:solidFill>
                  <a:srgbClr val="999999"/>
                </a:solidFill>
              </a:rPr>
              <a:t>) even though I pass </a:t>
            </a:r>
            <a:r>
              <a:rPr lang="en">
                <a:solidFill>
                  <a:srgbClr val="999999"/>
                </a:solidFill>
                <a:latin typeface="Roboto Mono"/>
                <a:ea typeface="Roboto Mono"/>
                <a:cs typeface="Roboto Mono"/>
                <a:sym typeface="Roboto Mono"/>
              </a:rPr>
              <a:t>ensure_ascii=False</a:t>
            </a:r>
            <a:r>
              <a:rPr lang="en">
                <a:solidFill>
                  <a:srgbClr val="999999"/>
                </a:solidFill>
              </a:rPr>
              <a:t>. That's </a:t>
            </a:r>
            <a:r>
              <a:rPr lang="en">
                <a:solidFill>
                  <a:srgbClr val="999999"/>
                </a:solidFill>
                <a:latin typeface="Roboto Mono"/>
                <a:ea typeface="Roboto Mono"/>
                <a:cs typeface="Roboto Mono"/>
                <a:sym typeface="Roboto Mono"/>
              </a:rPr>
              <a:t>json.dumps</a:t>
            </a:r>
            <a:r>
              <a:rPr lang="en">
                <a:solidFill>
                  <a:srgbClr val="999999"/>
                </a:solidFill>
              </a:rPr>
              <a:t> escaping only what it must — those particular chars came through as escapes </a:t>
            </a:r>
            <a:r>
              <a:rPr lang="en">
                <a:solidFill>
                  <a:schemeClr val="accent1"/>
                </a:solidFill>
              </a:rPr>
              <a:t>because... actually no:</a:t>
            </a:r>
            <a:r>
              <a:rPr lang="en">
                <a:solidFill>
                  <a:srgbClr val="999999"/>
                </a:solidFill>
              </a:rPr>
              <a:t> </a:t>
            </a:r>
            <a:r>
              <a:rPr lang="en">
                <a:solidFill>
                  <a:srgbClr val="999999"/>
                </a:solidFill>
                <a:latin typeface="Roboto Mono"/>
                <a:ea typeface="Roboto Mono"/>
                <a:cs typeface="Roboto Mono"/>
                <a:sym typeface="Roboto Mono"/>
              </a:rPr>
              <a:t>ensure_ascii=False</a:t>
            </a:r>
            <a:r>
              <a:rPr lang="en">
                <a:solidFill>
                  <a:srgbClr val="999999"/>
                </a:solidFill>
              </a:rPr>
              <a:t> does emit them literally, and the pretty-print above shows escapes because </a:t>
            </a:r>
            <a:r>
              <a:rPr lang="en">
                <a:solidFill>
                  <a:srgbClr val="999999"/>
                </a:solidFill>
                <a:latin typeface="Roboto Mono"/>
                <a:ea typeface="Roboto Mono"/>
                <a:cs typeface="Roboto Mono"/>
                <a:sym typeface="Roboto Mono"/>
              </a:rPr>
              <a:t>json.tool</a:t>
            </a:r>
            <a:r>
              <a:rPr lang="en">
                <a:solidFill>
                  <a:srgbClr val="999999"/>
                </a:solidFill>
              </a:rPr>
              <a:t> re-encodes with ASCII defaults. The files themselves hold the literal characters — the </a:t>
            </a:r>
            <a:r>
              <a:rPr lang="en">
                <a:solidFill>
                  <a:srgbClr val="999999"/>
                </a:solidFill>
                <a:latin typeface="Roboto Mono"/>
                <a:ea typeface="Roboto Mono"/>
                <a:cs typeface="Roboto Mono"/>
                <a:sym typeface="Roboto Mono"/>
              </a:rPr>
              <a:t>T&amp;T’s</a:t>
            </a:r>
            <a:r>
              <a:rPr lang="en">
                <a:solidFill>
                  <a:srgbClr val="999999"/>
                </a:solidFill>
              </a:rPr>
              <a:t> title in </a:t>
            </a:r>
            <a:r>
              <a:rPr lang="en">
                <a:solidFill>
                  <a:srgbClr val="999999"/>
                </a:solidFill>
                <a:latin typeface="Roboto Mono"/>
                <a:ea typeface="Roboto Mono"/>
                <a:cs typeface="Roboto Mono"/>
                <a:sym typeface="Roboto Mono"/>
              </a:rPr>
              <a:t>Schmidt Ocean Institute.jsonl</a:t>
            </a:r>
            <a:r>
              <a:rPr lang="en">
                <a:solidFill>
                  <a:srgbClr val="999999"/>
                </a:solidFill>
              </a:rPr>
              <a:t> confirms it. Either way, both forms are valid JSON and decode identically.</a:t>
            </a:r>
            <a:endParaRPr>
              <a:solidFill>
                <a:srgbClr val="999999"/>
              </a:solidFill>
            </a:endParaRPr>
          </a:p>
        </p:txBody>
      </p:sp>
      <p:sp>
        <p:nvSpPr>
          <p:cNvPr id="394" name="Google Shape;394;p53"/>
          <p:cNvSpPr/>
          <p:nvPr/>
        </p:nvSpPr>
        <p:spPr>
          <a:xfrm>
            <a:off x="5143500" y="2225050"/>
            <a:ext cx="3492900" cy="874500"/>
          </a:xfrm>
          <a:prstGeom prst="ellipse">
            <a:avLst/>
          </a:prstGeom>
          <a:noFill/>
          <a:ln cap="flat" cmpd="sng" w="19050">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8" name="Shape 398"/>
        <p:cNvGrpSpPr/>
        <p:nvPr/>
      </p:nvGrpSpPr>
      <p:grpSpPr>
        <a:xfrm>
          <a:off x="0" y="0"/>
          <a:ext cx="0" cy="0"/>
          <a:chOff x="0" y="0"/>
          <a:chExt cx="0" cy="0"/>
        </a:xfrm>
      </p:grpSpPr>
      <p:sp>
        <p:nvSpPr>
          <p:cNvPr id="399" name="Google Shape;399;p5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Reinforcement learning: autocomplete </a:t>
            </a:r>
            <a:r>
              <a:rPr lang="en"/>
              <a:t>→ conversation</a:t>
            </a:r>
            <a:endParaRPr/>
          </a:p>
        </p:txBody>
      </p:sp>
      <p:sp>
        <p:nvSpPr>
          <p:cNvPr id="400" name="Google Shape;400;p54"/>
          <p:cNvSpPr txBox="1"/>
          <p:nvPr>
            <p:ph idx="1" type="body"/>
          </p:nvPr>
        </p:nvSpPr>
        <p:spPr>
          <a:xfrm>
            <a:off x="311700" y="1152475"/>
            <a:ext cx="8520600" cy="39909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a:t>Next step: humans (and standardized tests) score the LLM output based on how well it answers questions, and the LLM is tuned to get higher scores.</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ctr">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r>
              <a:t/>
            </a:r>
            <a:endParaRPr/>
          </a:p>
          <a:p>
            <a:pPr indent="0" lvl="0" marL="0" rtl="0" algn="l">
              <a:spcBef>
                <a:spcPts val="1200"/>
              </a:spcBef>
              <a:spcAft>
                <a:spcPts val="0"/>
              </a:spcAft>
              <a:buNone/>
            </a:pPr>
            <a:br>
              <a:rPr lang="en"/>
            </a:br>
            <a:endParaRPr/>
          </a:p>
          <a:p>
            <a:pPr indent="0" lvl="0" marL="0" rtl="0" algn="l">
              <a:spcBef>
                <a:spcPts val="1200"/>
              </a:spcBef>
              <a:spcAft>
                <a:spcPts val="120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4" name="Shape 404"/>
        <p:cNvGrpSpPr/>
        <p:nvPr/>
      </p:nvGrpSpPr>
      <p:grpSpPr>
        <a:xfrm>
          <a:off x="0" y="0"/>
          <a:ext cx="0" cy="0"/>
          <a:chOff x="0" y="0"/>
          <a:chExt cx="0" cy="0"/>
        </a:xfrm>
      </p:grpSpPr>
      <p:sp>
        <p:nvSpPr>
          <p:cNvPr id="405" name="Google Shape;405;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Reinforcement learning: autocomplete → conversation</a:t>
            </a:r>
            <a:endParaRPr/>
          </a:p>
        </p:txBody>
      </p:sp>
      <p:sp>
        <p:nvSpPr>
          <p:cNvPr id="406" name="Google Shape;406;p55"/>
          <p:cNvSpPr txBox="1"/>
          <p:nvPr>
            <p:ph idx="1" type="body"/>
          </p:nvPr>
        </p:nvSpPr>
        <p:spPr>
          <a:xfrm>
            <a:off x="311700" y="1152475"/>
            <a:ext cx="8520600" cy="39909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a:t>Next step: humans (and standardized tests) score the LLM output based on how well it answers questions, and the LLM is tuned to get higher scores.</a:t>
            </a:r>
            <a:endParaRPr/>
          </a:p>
          <a:p>
            <a:pPr indent="0" lvl="0" marL="0" rtl="0" algn="l">
              <a:spcBef>
                <a:spcPts val="1200"/>
              </a:spcBef>
              <a:spcAft>
                <a:spcPts val="0"/>
              </a:spcAft>
              <a:buNone/>
            </a:pPr>
            <a:r>
              <a:t/>
            </a:r>
            <a:endParaRPr/>
          </a:p>
          <a:p>
            <a:pPr indent="0" lvl="0" marL="0" rtl="0" algn="l">
              <a:spcBef>
                <a:spcPts val="1200"/>
              </a:spcBef>
              <a:spcAft>
                <a:spcPts val="0"/>
              </a:spcAft>
              <a:buNone/>
            </a:pPr>
            <a:r>
              <a:rPr lang="en"/>
              <a:t>A "raw" LLM, trained only to reproduce text, might think a question like</a:t>
            </a:r>
            <a:endParaRPr/>
          </a:p>
          <a:p>
            <a:pPr indent="0" lvl="0" marL="0" rtl="0" algn="ctr">
              <a:spcBef>
                <a:spcPts val="1200"/>
              </a:spcBef>
              <a:spcAft>
                <a:spcPts val="0"/>
              </a:spcAft>
              <a:buNone/>
            </a:pPr>
            <a:r>
              <a:rPr lang="en"/>
              <a:t>"What is a frog?"</a:t>
            </a:r>
            <a:endParaRPr/>
          </a:p>
          <a:p>
            <a:pPr indent="0" lvl="0" marL="0" rtl="0" algn="l">
              <a:spcBef>
                <a:spcPts val="1200"/>
              </a:spcBef>
              <a:spcAft>
                <a:spcPts val="0"/>
              </a:spcAft>
              <a:buNone/>
            </a:pPr>
            <a:r>
              <a:rPr lang="en"/>
              <a:t>should be followed by other questions, like "What is a bird? What is a snake?"</a:t>
            </a:r>
            <a:endParaRPr/>
          </a:p>
          <a:p>
            <a:pPr indent="0" lvl="0" marL="0" rtl="0" algn="l">
              <a:spcBef>
                <a:spcPts val="1200"/>
              </a:spcBef>
              <a:spcAft>
                <a:spcPts val="0"/>
              </a:spcAft>
              <a:buNone/>
            </a:pPr>
            <a:r>
              <a:t/>
            </a:r>
            <a:endParaRPr/>
          </a:p>
          <a:p>
            <a:pPr indent="0" lvl="0" marL="0" rtl="0" algn="l">
              <a:spcBef>
                <a:spcPts val="1200"/>
              </a:spcBef>
              <a:spcAft>
                <a:spcPts val="0"/>
              </a:spcAft>
              <a:buNone/>
            </a:pPr>
            <a:br>
              <a:rPr lang="en"/>
            </a:br>
            <a:endParaRPr/>
          </a:p>
          <a:p>
            <a:pPr indent="0" lvl="0" marL="0" rtl="0" algn="l">
              <a:spcBef>
                <a:spcPts val="1200"/>
              </a:spcBef>
              <a:spcAft>
                <a:spcPts val="1200"/>
              </a:spcAft>
              <a:buNone/>
            </a:pPr>
            <a:r>
              <a:t/>
            </a:r>
            <a:endParaRPr/>
          </a:p>
        </p:txBody>
      </p:sp>
      <p:cxnSp>
        <p:nvCxnSpPr>
          <p:cNvPr id="407" name="Google Shape;407;p55"/>
          <p:cNvCxnSpPr/>
          <p:nvPr/>
        </p:nvCxnSpPr>
        <p:spPr>
          <a:xfrm>
            <a:off x="2818350" y="2074825"/>
            <a:ext cx="3507300" cy="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1" name="Shape 411"/>
        <p:cNvGrpSpPr/>
        <p:nvPr/>
      </p:nvGrpSpPr>
      <p:grpSpPr>
        <a:xfrm>
          <a:off x="0" y="0"/>
          <a:ext cx="0" cy="0"/>
          <a:chOff x="0" y="0"/>
          <a:chExt cx="0" cy="0"/>
        </a:xfrm>
      </p:grpSpPr>
      <p:sp>
        <p:nvSpPr>
          <p:cNvPr id="412" name="Google Shape;412;p5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Reinforcement learning: autocomplete → conversation</a:t>
            </a:r>
            <a:endParaRPr/>
          </a:p>
        </p:txBody>
      </p:sp>
      <p:sp>
        <p:nvSpPr>
          <p:cNvPr id="413" name="Google Shape;413;p56"/>
          <p:cNvSpPr txBox="1"/>
          <p:nvPr>
            <p:ph idx="1" type="body"/>
          </p:nvPr>
        </p:nvSpPr>
        <p:spPr>
          <a:xfrm>
            <a:off x="311700" y="1152475"/>
            <a:ext cx="8520600" cy="39909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a:t>Next step: humans (and standardized tests) score the LLM output based on how well it answers questions, and the LLM is tuned to get higher scores.</a:t>
            </a:r>
            <a:endParaRPr/>
          </a:p>
          <a:p>
            <a:pPr indent="0" lvl="0" marL="0" rtl="0" algn="l">
              <a:spcBef>
                <a:spcPts val="1200"/>
              </a:spcBef>
              <a:spcAft>
                <a:spcPts val="0"/>
              </a:spcAft>
              <a:buNone/>
            </a:pPr>
            <a:r>
              <a:t/>
            </a:r>
            <a:endParaRPr/>
          </a:p>
          <a:p>
            <a:pPr indent="0" lvl="0" marL="0" rtl="0" algn="l">
              <a:spcBef>
                <a:spcPts val="1200"/>
              </a:spcBef>
              <a:spcAft>
                <a:spcPts val="0"/>
              </a:spcAft>
              <a:buNone/>
            </a:pPr>
            <a:r>
              <a:rPr lang="en"/>
              <a:t>A "raw" LLM, trained only to reproduce text, might think a question like</a:t>
            </a:r>
            <a:endParaRPr/>
          </a:p>
          <a:p>
            <a:pPr indent="0" lvl="0" marL="0" rtl="0" algn="ctr">
              <a:spcBef>
                <a:spcPts val="1200"/>
              </a:spcBef>
              <a:spcAft>
                <a:spcPts val="0"/>
              </a:spcAft>
              <a:buNone/>
            </a:pPr>
            <a:r>
              <a:rPr lang="en"/>
              <a:t>"What is a frog?"</a:t>
            </a:r>
            <a:endParaRPr/>
          </a:p>
          <a:p>
            <a:pPr indent="0" lvl="0" marL="0" rtl="0" algn="l">
              <a:spcBef>
                <a:spcPts val="1200"/>
              </a:spcBef>
              <a:spcAft>
                <a:spcPts val="0"/>
              </a:spcAft>
              <a:buNone/>
            </a:pPr>
            <a:r>
              <a:rPr lang="en"/>
              <a:t>should be followed by other questions, like "What is a bird? What is a snake?"</a:t>
            </a:r>
            <a:endParaRPr/>
          </a:p>
          <a:p>
            <a:pPr indent="0" lvl="0" marL="0" rtl="0" algn="l">
              <a:spcBef>
                <a:spcPts val="1200"/>
              </a:spcBef>
              <a:spcAft>
                <a:spcPts val="0"/>
              </a:spcAft>
              <a:buNone/>
            </a:pPr>
            <a:r>
              <a:t/>
            </a:r>
            <a:endParaRPr/>
          </a:p>
          <a:p>
            <a:pPr indent="0" lvl="0" marL="0" rtl="0" algn="l">
              <a:spcBef>
                <a:spcPts val="1200"/>
              </a:spcBef>
              <a:spcAft>
                <a:spcPts val="0"/>
              </a:spcAft>
              <a:buNone/>
            </a:pPr>
            <a:r>
              <a:rPr lang="en"/>
              <a:t>After this second stage of training, it autocompletes </a:t>
            </a:r>
            <a:r>
              <a:rPr b="1" lang="en"/>
              <a:t>transcripts</a:t>
            </a:r>
            <a:r>
              <a:rPr lang="en"/>
              <a:t>, sequences of stage directions between two characters named "user" and "bot".</a:t>
            </a:r>
            <a:endParaRPr/>
          </a:p>
          <a:p>
            <a:pPr indent="0" lvl="0" marL="0" rtl="0" algn="l">
              <a:spcBef>
                <a:spcPts val="1200"/>
              </a:spcBef>
              <a:spcAft>
                <a:spcPts val="1200"/>
              </a:spcAft>
              <a:buNone/>
            </a:pPr>
            <a:r>
              <a:t/>
            </a:r>
            <a:endParaRPr/>
          </a:p>
        </p:txBody>
      </p:sp>
      <p:cxnSp>
        <p:nvCxnSpPr>
          <p:cNvPr id="414" name="Google Shape;414;p56"/>
          <p:cNvCxnSpPr/>
          <p:nvPr/>
        </p:nvCxnSpPr>
        <p:spPr>
          <a:xfrm>
            <a:off x="2818350" y="3705050"/>
            <a:ext cx="3507300" cy="0"/>
          </a:xfrm>
          <a:prstGeom prst="straightConnector1">
            <a:avLst/>
          </a:prstGeom>
          <a:noFill/>
          <a:ln cap="flat" cmpd="sng" w="9525">
            <a:solidFill>
              <a:schemeClr val="dk2"/>
            </a:solidFill>
            <a:prstDash val="solid"/>
            <a:round/>
            <a:headEnd len="med" w="med" type="none"/>
            <a:tailEnd len="med" w="med" type="none"/>
          </a:ln>
        </p:spPr>
      </p:cxnSp>
      <p:cxnSp>
        <p:nvCxnSpPr>
          <p:cNvPr id="415" name="Google Shape;415;p56"/>
          <p:cNvCxnSpPr/>
          <p:nvPr/>
        </p:nvCxnSpPr>
        <p:spPr>
          <a:xfrm>
            <a:off x="2818350" y="2074825"/>
            <a:ext cx="3507300" cy="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9" name="Shape 419"/>
        <p:cNvGrpSpPr/>
        <p:nvPr/>
      </p:nvGrpSpPr>
      <p:grpSpPr>
        <a:xfrm>
          <a:off x="0" y="0"/>
          <a:ext cx="0" cy="0"/>
          <a:chOff x="0" y="0"/>
          <a:chExt cx="0" cy="0"/>
        </a:xfrm>
      </p:grpSpPr>
      <p:sp>
        <p:nvSpPr>
          <p:cNvPr id="420" name="Google Shape;420;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Basic chatbot = LLM + transcript</a:t>
            </a:r>
            <a:endParaRPr/>
          </a:p>
        </p:txBody>
      </p:sp>
      <p:sp>
        <p:nvSpPr>
          <p:cNvPr id="421" name="Google Shape;421;p57"/>
          <p:cNvSpPr txBox="1"/>
          <p:nvPr>
            <p:ph idx="1" type="body"/>
          </p:nvPr>
        </p:nvSpPr>
        <p:spPr>
          <a:xfrm>
            <a:off x="311700" y="1152475"/>
            <a:ext cx="29811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 user sends a whole transcript of messages to the LLM, which runs on some computer.</a:t>
            </a:r>
            <a:endParaRPr/>
          </a:p>
          <a:p>
            <a:pPr indent="0" lvl="0" marL="0" rtl="0" algn="l">
              <a:spcBef>
                <a:spcPts val="1200"/>
              </a:spcBef>
              <a:spcAft>
                <a:spcPts val="0"/>
              </a:spcAft>
              <a:buNone/>
            </a:pPr>
            <a:br>
              <a:rPr lang="en"/>
            </a:br>
            <a:br>
              <a:rPr lang="en"/>
            </a:br>
            <a:br>
              <a:rPr lang="en"/>
            </a:br>
            <a:endParaRPr/>
          </a:p>
          <a:p>
            <a:pPr indent="0" lvl="0" marL="0" rtl="0" algn="l">
              <a:spcBef>
                <a:spcPts val="1200"/>
              </a:spcBef>
              <a:spcAft>
                <a:spcPts val="1200"/>
              </a:spcAft>
              <a:buNone/>
            </a:pPr>
            <a:br>
              <a:rPr lang="en"/>
            </a:br>
            <a:br>
              <a:rPr lang="en"/>
            </a:br>
            <a:endParaRPr/>
          </a:p>
        </p:txBody>
      </p:sp>
      <p:pic>
        <p:nvPicPr>
          <p:cNvPr id="422" name="Google Shape;422;p57" title="operation.png"/>
          <p:cNvPicPr preferRelativeResize="0"/>
          <p:nvPr/>
        </p:nvPicPr>
        <p:blipFill>
          <a:blip r:embed="rId3">
            <a:alphaModFix/>
          </a:blip>
          <a:stretch>
            <a:fillRect/>
          </a:stretch>
        </p:blipFill>
        <p:spPr>
          <a:xfrm>
            <a:off x="3292800" y="1232558"/>
            <a:ext cx="5539500" cy="3692992"/>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6" name="Shape 426"/>
        <p:cNvGrpSpPr/>
        <p:nvPr/>
      </p:nvGrpSpPr>
      <p:grpSpPr>
        <a:xfrm>
          <a:off x="0" y="0"/>
          <a:ext cx="0" cy="0"/>
          <a:chOff x="0" y="0"/>
          <a:chExt cx="0" cy="0"/>
        </a:xfrm>
      </p:grpSpPr>
      <p:sp>
        <p:nvSpPr>
          <p:cNvPr id="427" name="Google Shape;427;p5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Basic chatbot = LLM + transcript</a:t>
            </a:r>
            <a:endParaRPr/>
          </a:p>
        </p:txBody>
      </p:sp>
      <p:sp>
        <p:nvSpPr>
          <p:cNvPr id="428" name="Google Shape;428;p58"/>
          <p:cNvSpPr txBox="1"/>
          <p:nvPr>
            <p:ph idx="1" type="body"/>
          </p:nvPr>
        </p:nvSpPr>
        <p:spPr>
          <a:xfrm>
            <a:off x="311700" y="1152475"/>
            <a:ext cx="29811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 user sends a whole transcript of messages to the LLM, which runs on some computer.</a:t>
            </a:r>
            <a:endParaRPr/>
          </a:p>
          <a:p>
            <a:pPr indent="0" lvl="0" marL="0" rtl="0" algn="l">
              <a:spcBef>
                <a:spcPts val="1200"/>
              </a:spcBef>
              <a:spcAft>
                <a:spcPts val="0"/>
              </a:spcAft>
              <a:buNone/>
            </a:pPr>
            <a:r>
              <a:rPr lang="en"/>
              <a:t>The whole transcript is needed because there is no "bot" entity with memory of the conversation.</a:t>
            </a:r>
            <a:endParaRPr/>
          </a:p>
          <a:p>
            <a:pPr indent="0" lvl="0" marL="0" rtl="0" algn="l">
              <a:spcBef>
                <a:spcPts val="1200"/>
              </a:spcBef>
              <a:spcAft>
                <a:spcPts val="1200"/>
              </a:spcAft>
              <a:buNone/>
            </a:pPr>
            <a:br>
              <a:rPr lang="en"/>
            </a:br>
            <a:br>
              <a:rPr lang="en"/>
            </a:br>
            <a:endParaRPr/>
          </a:p>
        </p:txBody>
      </p:sp>
      <p:pic>
        <p:nvPicPr>
          <p:cNvPr id="429" name="Google Shape;429;p58" title="operation.png"/>
          <p:cNvPicPr preferRelativeResize="0"/>
          <p:nvPr/>
        </p:nvPicPr>
        <p:blipFill>
          <a:blip r:embed="rId3">
            <a:alphaModFix/>
          </a:blip>
          <a:stretch>
            <a:fillRect/>
          </a:stretch>
        </p:blipFill>
        <p:spPr>
          <a:xfrm>
            <a:off x="3292800" y="1232558"/>
            <a:ext cx="5539500" cy="369299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3" name="Shape 433"/>
        <p:cNvGrpSpPr/>
        <p:nvPr/>
      </p:nvGrpSpPr>
      <p:grpSpPr>
        <a:xfrm>
          <a:off x="0" y="0"/>
          <a:ext cx="0" cy="0"/>
          <a:chOff x="0" y="0"/>
          <a:chExt cx="0" cy="0"/>
        </a:xfrm>
      </p:grpSpPr>
      <p:sp>
        <p:nvSpPr>
          <p:cNvPr id="434" name="Google Shape;434;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Basic chatbot = LLM + transcript</a:t>
            </a:r>
            <a:endParaRPr/>
          </a:p>
        </p:txBody>
      </p:sp>
      <p:sp>
        <p:nvSpPr>
          <p:cNvPr id="435" name="Google Shape;435;p59"/>
          <p:cNvSpPr txBox="1"/>
          <p:nvPr>
            <p:ph idx="1" type="body"/>
          </p:nvPr>
        </p:nvSpPr>
        <p:spPr>
          <a:xfrm>
            <a:off x="311700" y="1152475"/>
            <a:ext cx="29811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 user sends a whole transcript of messages to the LLM, which runs on some computer.</a:t>
            </a:r>
            <a:endParaRPr/>
          </a:p>
          <a:p>
            <a:pPr indent="0" lvl="0" marL="0" rtl="0" algn="l">
              <a:spcBef>
                <a:spcPts val="1200"/>
              </a:spcBef>
              <a:spcAft>
                <a:spcPts val="0"/>
              </a:spcAft>
              <a:buNone/>
            </a:pPr>
            <a:r>
              <a:rPr lang="en"/>
              <a:t>The whole transcript is needed because there is no "bot" entity with memory of the conversation.</a:t>
            </a:r>
            <a:endParaRPr/>
          </a:p>
          <a:p>
            <a:pPr indent="0" lvl="0" marL="0" rtl="0" algn="l">
              <a:spcBef>
                <a:spcPts val="1200"/>
              </a:spcBef>
              <a:spcAft>
                <a:spcPts val="1200"/>
              </a:spcAft>
              <a:buNone/>
            </a:pPr>
            <a:r>
              <a:rPr lang="en"/>
              <a:t>An answer may even be generated on </a:t>
            </a:r>
            <a:r>
              <a:rPr i="1" lang="en"/>
              <a:t>some other computer</a:t>
            </a:r>
            <a:r>
              <a:rPr lang="en"/>
              <a:t>.</a:t>
            </a:r>
            <a:endParaRPr/>
          </a:p>
        </p:txBody>
      </p:sp>
      <p:pic>
        <p:nvPicPr>
          <p:cNvPr id="436" name="Google Shape;436;p59" title="operation.png"/>
          <p:cNvPicPr preferRelativeResize="0"/>
          <p:nvPr/>
        </p:nvPicPr>
        <p:blipFill>
          <a:blip r:embed="rId3">
            <a:alphaModFix/>
          </a:blip>
          <a:stretch>
            <a:fillRect/>
          </a:stretch>
        </p:blipFill>
        <p:spPr>
          <a:xfrm>
            <a:off x="3292800" y="1232558"/>
            <a:ext cx="5539500" cy="3692992"/>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0" name="Shape 440"/>
        <p:cNvGrpSpPr/>
        <p:nvPr/>
      </p:nvGrpSpPr>
      <p:grpSpPr>
        <a:xfrm>
          <a:off x="0" y="0"/>
          <a:ext cx="0" cy="0"/>
          <a:chOff x="0" y="0"/>
          <a:chExt cx="0" cy="0"/>
        </a:xfrm>
      </p:grpSpPr>
      <p:sp>
        <p:nvSpPr>
          <p:cNvPr id="441" name="Google Shape;441;p6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Autocomplete, but not "just" autocomplete</a:t>
            </a:r>
            <a:endParaRPr/>
          </a:p>
        </p:txBody>
      </p:sp>
      <p:sp>
        <p:nvSpPr>
          <p:cNvPr id="442" name="Google Shape;442;p60"/>
          <p:cNvSpPr txBox="1"/>
          <p:nvPr>
            <p:ph idx="1" type="body"/>
          </p:nvPr>
        </p:nvSpPr>
        <p:spPr>
          <a:xfrm>
            <a:off x="311700" y="1152475"/>
            <a:ext cx="8520600" cy="3990900"/>
          </a:xfrm>
          <a:prstGeom prst="rect">
            <a:avLst/>
          </a:prstGeom>
        </p:spPr>
        <p:txBody>
          <a:bodyPr anchorCtr="0" anchor="t" bIns="91425" lIns="91425" spcFirstLastPara="1" rIns="91425" wrap="square" tIns="91425">
            <a:normAutofit fontScale="77500"/>
          </a:bodyPr>
          <a:lstStyle/>
          <a:p>
            <a:pPr indent="0" lvl="0" marL="0" rtl="0" algn="ctr">
              <a:spcBef>
                <a:spcPts val="0"/>
              </a:spcBef>
              <a:spcAft>
                <a:spcPts val="0"/>
              </a:spcAft>
              <a:buNone/>
            </a:pPr>
            <a:r>
              <a:t/>
            </a:r>
            <a:endParaRPr sz="1503"/>
          </a:p>
          <a:p>
            <a:pPr indent="0" lvl="0" marL="0" rtl="0" algn="ctr">
              <a:spcBef>
                <a:spcPts val="1200"/>
              </a:spcBef>
              <a:spcAft>
                <a:spcPts val="0"/>
              </a:spcAft>
              <a:buNone/>
            </a:pPr>
            <a:r>
              <a:rPr lang="en" sz="2500"/>
              <a:t>The giant dataset of words captures more than just ways of saying things.</a:t>
            </a:r>
            <a:endParaRPr sz="2500"/>
          </a:p>
          <a:p>
            <a:pPr indent="0" lvl="0" marL="0" rtl="0" algn="ctr">
              <a:spcBef>
                <a:spcPts val="1200"/>
              </a:spcBef>
              <a:spcAft>
                <a:spcPts val="0"/>
              </a:spcAft>
              <a:buNone/>
            </a:pPr>
            <a:r>
              <a:t/>
            </a:r>
            <a:endParaRPr sz="1503"/>
          </a:p>
          <a:p>
            <a:pPr indent="0" lvl="0" marL="0" rtl="0" algn="ctr">
              <a:spcBef>
                <a:spcPts val="1200"/>
              </a:spcBef>
              <a:spcAft>
                <a:spcPts val="0"/>
              </a:spcAft>
              <a:buNone/>
            </a:pPr>
            <a:br>
              <a:rPr lang="en" sz="2500"/>
            </a:br>
            <a:endParaRPr sz="2500"/>
          </a:p>
          <a:p>
            <a:pPr indent="0" lvl="0" marL="0" rtl="0" algn="ctr">
              <a:spcBef>
                <a:spcPts val="1200"/>
              </a:spcBef>
              <a:spcAft>
                <a:spcPts val="0"/>
              </a:spcAft>
              <a:buNone/>
            </a:pPr>
            <a:r>
              <a:t/>
            </a:r>
            <a:endParaRPr sz="1503"/>
          </a:p>
          <a:p>
            <a:pPr indent="0" lvl="0" marL="0" rtl="0" algn="ctr">
              <a:spcBef>
                <a:spcPts val="1200"/>
              </a:spcBef>
              <a:spcAft>
                <a:spcPts val="0"/>
              </a:spcAft>
              <a:buNone/>
            </a:pPr>
            <a:br>
              <a:rPr lang="en" sz="2500"/>
            </a:br>
            <a:br>
              <a:rPr lang="en" sz="2500"/>
            </a:br>
            <a:endParaRPr sz="2500"/>
          </a:p>
          <a:p>
            <a:pPr indent="0" lvl="0" marL="0" rtl="0" algn="ctr">
              <a:spcBef>
                <a:spcPts val="1200"/>
              </a:spcBef>
              <a:spcAft>
                <a:spcPts val="1200"/>
              </a:spcAft>
              <a:buNone/>
            </a:pPr>
            <a:r>
              <a:t/>
            </a:r>
            <a:endParaRPr sz="1521"/>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6" name="Shape 446"/>
        <p:cNvGrpSpPr/>
        <p:nvPr/>
      </p:nvGrpSpPr>
      <p:grpSpPr>
        <a:xfrm>
          <a:off x="0" y="0"/>
          <a:ext cx="0" cy="0"/>
          <a:chOff x="0" y="0"/>
          <a:chExt cx="0" cy="0"/>
        </a:xfrm>
      </p:grpSpPr>
      <p:sp>
        <p:nvSpPr>
          <p:cNvPr id="447" name="Google Shape;44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Autocomplete, but not "just" autocomplete</a:t>
            </a:r>
            <a:endParaRPr/>
          </a:p>
        </p:txBody>
      </p:sp>
      <p:sp>
        <p:nvSpPr>
          <p:cNvPr id="448" name="Google Shape;448;p61"/>
          <p:cNvSpPr txBox="1"/>
          <p:nvPr>
            <p:ph idx="1" type="body"/>
          </p:nvPr>
        </p:nvSpPr>
        <p:spPr>
          <a:xfrm>
            <a:off x="311700" y="1152475"/>
            <a:ext cx="8520600" cy="3990900"/>
          </a:xfrm>
          <a:prstGeom prst="rect">
            <a:avLst/>
          </a:prstGeom>
        </p:spPr>
        <p:txBody>
          <a:bodyPr anchorCtr="0" anchor="t" bIns="91425" lIns="91425" spcFirstLastPara="1" rIns="91425" wrap="square" tIns="91425">
            <a:normAutofit fontScale="77500"/>
          </a:bodyPr>
          <a:lstStyle/>
          <a:p>
            <a:pPr indent="0" lvl="0" marL="0" rtl="0" algn="ctr">
              <a:spcBef>
                <a:spcPts val="0"/>
              </a:spcBef>
              <a:spcAft>
                <a:spcPts val="0"/>
              </a:spcAft>
              <a:buNone/>
            </a:pPr>
            <a:r>
              <a:t/>
            </a:r>
            <a:endParaRPr sz="1503"/>
          </a:p>
          <a:p>
            <a:pPr indent="0" lvl="0" marL="0" rtl="0" algn="ctr">
              <a:spcBef>
                <a:spcPts val="1200"/>
              </a:spcBef>
              <a:spcAft>
                <a:spcPts val="0"/>
              </a:spcAft>
              <a:buNone/>
            </a:pPr>
            <a:r>
              <a:rPr lang="en" sz="2500"/>
              <a:t>The giant dataset of words captures more than just ways of saying things.</a:t>
            </a:r>
            <a:endParaRPr sz="2500"/>
          </a:p>
          <a:p>
            <a:pPr indent="0" lvl="0" marL="0" rtl="0" algn="ctr">
              <a:spcBef>
                <a:spcPts val="1200"/>
              </a:spcBef>
              <a:spcAft>
                <a:spcPts val="0"/>
              </a:spcAft>
              <a:buNone/>
            </a:pPr>
            <a:r>
              <a:t/>
            </a:r>
            <a:endParaRPr sz="1503"/>
          </a:p>
          <a:p>
            <a:pPr indent="0" lvl="0" marL="0" rtl="0" algn="ctr">
              <a:spcBef>
                <a:spcPts val="1200"/>
              </a:spcBef>
              <a:spcAft>
                <a:spcPts val="0"/>
              </a:spcAft>
              <a:buNone/>
            </a:pPr>
            <a:r>
              <a:rPr lang="en" sz="2500"/>
              <a:t>Facts, logic, and human-style thought are encoded in those patterns, to (what I think is) a surprising degree.</a:t>
            </a:r>
            <a:endParaRPr sz="2500"/>
          </a:p>
          <a:p>
            <a:pPr indent="0" lvl="0" marL="0" rtl="0" algn="ctr">
              <a:spcBef>
                <a:spcPts val="1200"/>
              </a:spcBef>
              <a:spcAft>
                <a:spcPts val="0"/>
              </a:spcAft>
              <a:buNone/>
            </a:pPr>
            <a:r>
              <a:t/>
            </a:r>
            <a:endParaRPr sz="1503"/>
          </a:p>
          <a:p>
            <a:pPr indent="0" lvl="0" marL="0" rtl="0" algn="ctr">
              <a:spcBef>
                <a:spcPts val="1200"/>
              </a:spcBef>
              <a:spcAft>
                <a:spcPts val="0"/>
              </a:spcAft>
              <a:buNone/>
            </a:pPr>
            <a:br>
              <a:rPr lang="en" sz="2500"/>
            </a:br>
            <a:br>
              <a:rPr lang="en" sz="2500"/>
            </a:br>
            <a:endParaRPr sz="2500"/>
          </a:p>
          <a:p>
            <a:pPr indent="0" lvl="0" marL="0" rtl="0" algn="ctr">
              <a:spcBef>
                <a:spcPts val="1200"/>
              </a:spcBef>
              <a:spcAft>
                <a:spcPts val="1200"/>
              </a:spcAft>
              <a:buNone/>
            </a:pPr>
            <a:r>
              <a:t/>
            </a:r>
            <a:endParaRPr sz="1521"/>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2" name="Shape 452"/>
        <p:cNvGrpSpPr/>
        <p:nvPr/>
      </p:nvGrpSpPr>
      <p:grpSpPr>
        <a:xfrm>
          <a:off x="0" y="0"/>
          <a:ext cx="0" cy="0"/>
          <a:chOff x="0" y="0"/>
          <a:chExt cx="0" cy="0"/>
        </a:xfrm>
      </p:grpSpPr>
      <p:sp>
        <p:nvSpPr>
          <p:cNvPr id="453" name="Google Shape;453;p6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Autocomplete, but not "just" autocomplete</a:t>
            </a:r>
            <a:endParaRPr/>
          </a:p>
        </p:txBody>
      </p:sp>
      <p:sp>
        <p:nvSpPr>
          <p:cNvPr id="454" name="Google Shape;454;p62"/>
          <p:cNvSpPr txBox="1"/>
          <p:nvPr>
            <p:ph idx="1" type="body"/>
          </p:nvPr>
        </p:nvSpPr>
        <p:spPr>
          <a:xfrm>
            <a:off x="311700" y="1152475"/>
            <a:ext cx="8520600" cy="3990900"/>
          </a:xfrm>
          <a:prstGeom prst="rect">
            <a:avLst/>
          </a:prstGeom>
        </p:spPr>
        <p:txBody>
          <a:bodyPr anchorCtr="0" anchor="t" bIns="91425" lIns="91425" spcFirstLastPara="1" rIns="91425" wrap="square" tIns="91425">
            <a:normAutofit fontScale="77500"/>
          </a:bodyPr>
          <a:lstStyle/>
          <a:p>
            <a:pPr indent="0" lvl="0" marL="0" rtl="0" algn="ctr">
              <a:spcBef>
                <a:spcPts val="0"/>
              </a:spcBef>
              <a:spcAft>
                <a:spcPts val="0"/>
              </a:spcAft>
              <a:buNone/>
            </a:pPr>
            <a:r>
              <a:t/>
            </a:r>
            <a:endParaRPr sz="1503"/>
          </a:p>
          <a:p>
            <a:pPr indent="0" lvl="0" marL="0" rtl="0" algn="ctr">
              <a:spcBef>
                <a:spcPts val="1200"/>
              </a:spcBef>
              <a:spcAft>
                <a:spcPts val="0"/>
              </a:spcAft>
              <a:buNone/>
            </a:pPr>
            <a:r>
              <a:rPr lang="en" sz="2500"/>
              <a:t>The giant dataset of words captures more than just ways of saying things.</a:t>
            </a:r>
            <a:endParaRPr sz="2500"/>
          </a:p>
          <a:p>
            <a:pPr indent="0" lvl="0" marL="0" rtl="0" algn="ctr">
              <a:spcBef>
                <a:spcPts val="1200"/>
              </a:spcBef>
              <a:spcAft>
                <a:spcPts val="0"/>
              </a:spcAft>
              <a:buNone/>
            </a:pPr>
            <a:r>
              <a:t/>
            </a:r>
            <a:endParaRPr sz="1503"/>
          </a:p>
          <a:p>
            <a:pPr indent="0" lvl="0" marL="0" rtl="0" algn="ctr">
              <a:spcBef>
                <a:spcPts val="1200"/>
              </a:spcBef>
              <a:spcAft>
                <a:spcPts val="0"/>
              </a:spcAft>
              <a:buNone/>
            </a:pPr>
            <a:r>
              <a:rPr lang="en" sz="2500"/>
              <a:t>Facts, logic, and human-style thought are encoded in those patterns, to (what I think is) a surprising degree.</a:t>
            </a:r>
            <a:endParaRPr sz="2500"/>
          </a:p>
          <a:p>
            <a:pPr indent="0" lvl="0" marL="0" rtl="0" algn="ctr">
              <a:spcBef>
                <a:spcPts val="1200"/>
              </a:spcBef>
              <a:spcAft>
                <a:spcPts val="0"/>
              </a:spcAft>
              <a:buNone/>
            </a:pPr>
            <a:r>
              <a:t/>
            </a:r>
            <a:endParaRPr sz="1503"/>
          </a:p>
          <a:p>
            <a:pPr indent="0" lvl="0" marL="0" rtl="0" algn="ctr">
              <a:spcBef>
                <a:spcPts val="1200"/>
              </a:spcBef>
              <a:spcAft>
                <a:spcPts val="0"/>
              </a:spcAft>
              <a:buNone/>
            </a:pPr>
            <a:r>
              <a:rPr lang="en" sz="2500"/>
              <a:t>If any component of this is "magical," it's the </a:t>
            </a:r>
            <a:r>
              <a:rPr i="1" lang="en" sz="2500"/>
              <a:t>words,</a:t>
            </a:r>
            <a:r>
              <a:rPr lang="en" sz="2500"/>
              <a:t> authored by millions of people. The neural network/transformer architecture enables scaling to such large datasets, but it's the training data that does the work.</a:t>
            </a:r>
            <a:endParaRPr sz="2500"/>
          </a:p>
          <a:p>
            <a:pPr indent="0" lvl="0" marL="0" rtl="0" algn="ctr">
              <a:spcBef>
                <a:spcPts val="1200"/>
              </a:spcBef>
              <a:spcAft>
                <a:spcPts val="1200"/>
              </a:spcAft>
              <a:buNone/>
            </a:pPr>
            <a:r>
              <a:t/>
            </a:r>
            <a:endParaRPr sz="1521"/>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Lossy compression: the primary source of hallucinations</a:t>
            </a:r>
            <a:endParaRPr/>
          </a:p>
        </p:txBody>
      </p:sp>
      <p:sp>
        <p:nvSpPr>
          <p:cNvPr id="460" name="Google Shape;460;p63"/>
          <p:cNvSpPr txBox="1"/>
          <p:nvPr>
            <p:ph idx="1" type="body"/>
          </p:nvPr>
        </p:nvSpPr>
        <p:spPr>
          <a:xfrm>
            <a:off x="311700" y="1152475"/>
            <a:ext cx="23103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b="1" lang="en"/>
              <a:t>In Charles Dickens's A Tale of Two Cities, what exact words follow "It was the best of times"? Check your answer.</a:t>
            </a:r>
            <a:endParaRPr b="1"/>
          </a:p>
          <a:p>
            <a:pPr indent="0" lvl="0" marL="0" rtl="0" algn="l">
              <a:spcBef>
                <a:spcPts val="1200"/>
              </a:spcBef>
              <a:spcAft>
                <a:spcPts val="1200"/>
              </a:spcAft>
              <a:buNone/>
            </a:pPr>
            <a:r>
              <a:rPr lang="en" sz="1250"/>
              <a:t>→it was the worst of times.</a:t>
            </a:r>
            <a:br>
              <a:rPr lang="en" sz="1250"/>
            </a:br>
            <a:r>
              <a:rPr lang="en" sz="1250"/>
              <a:t>→it was the worst of times.</a:t>
            </a:r>
            <a:br>
              <a:rPr lang="en" sz="1250"/>
            </a:br>
            <a:r>
              <a:rPr lang="en" sz="1250"/>
              <a:t>→it was the worst of times.</a:t>
            </a:r>
            <a:br>
              <a:rPr lang="en" sz="1250"/>
            </a:br>
            <a:r>
              <a:rPr lang="en" sz="1250"/>
              <a:t>→it was the worst of times.</a:t>
            </a:r>
            <a:br>
              <a:rPr lang="en" sz="1250"/>
            </a:br>
            <a:r>
              <a:rPr lang="en" sz="1250"/>
              <a:t>→it was the worst of times.</a:t>
            </a:r>
            <a:br>
              <a:rPr lang="en" sz="1250"/>
            </a:br>
            <a:r>
              <a:rPr lang="en" sz="1250"/>
              <a:t>→it was the worst of times.</a:t>
            </a:r>
            <a:br>
              <a:rPr lang="en" sz="1250"/>
            </a:br>
            <a:r>
              <a:rPr lang="en" sz="1250"/>
              <a:t>→it was the worst of times.</a:t>
            </a:r>
            <a:br>
              <a:rPr lang="en" sz="1250"/>
            </a:br>
            <a:r>
              <a:rPr lang="en" sz="1250"/>
              <a:t>→it was the worst of times.</a:t>
            </a:r>
            <a:br>
              <a:rPr lang="en" sz="1250"/>
            </a:br>
            <a:r>
              <a:rPr lang="en" sz="1250"/>
              <a:t>→it was the worst of times.</a:t>
            </a:r>
            <a:br>
              <a:rPr lang="en" sz="1250"/>
            </a:br>
            <a:r>
              <a:rPr lang="en" sz="1250"/>
              <a:t>→it was the worst of times.</a:t>
            </a:r>
            <a:endParaRPr sz="1250"/>
          </a:p>
        </p:txBody>
      </p:sp>
      <p:sp>
        <p:nvSpPr>
          <p:cNvPr id="461" name="Google Shape;461;p63"/>
          <p:cNvSpPr txBox="1"/>
          <p:nvPr/>
        </p:nvSpPr>
        <p:spPr>
          <a:xfrm>
            <a:off x="4708925" y="73475"/>
            <a:ext cx="4375200" cy="3078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solidFill>
                  <a:schemeClr val="dk2"/>
                </a:solidFill>
              </a:rPr>
              <a:t>Experiment performed on OpenAI gpt-5.4, temperature=1, no web search, and no reasoning.</a:t>
            </a:r>
            <a:endParaRPr sz="800">
              <a:solidFill>
                <a:schemeClr val="dk2"/>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sp>
        <p:nvSpPr>
          <p:cNvPr id="466" name="Google Shape;466;p6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Lossy compression: the primary source of hallucinations</a:t>
            </a:r>
            <a:endParaRPr/>
          </a:p>
        </p:txBody>
      </p:sp>
      <p:sp>
        <p:nvSpPr>
          <p:cNvPr id="467" name="Google Shape;467;p64"/>
          <p:cNvSpPr txBox="1"/>
          <p:nvPr>
            <p:ph idx="1" type="body"/>
          </p:nvPr>
        </p:nvSpPr>
        <p:spPr>
          <a:xfrm>
            <a:off x="311700" y="1152475"/>
            <a:ext cx="23103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b="1" lang="en"/>
              <a:t>In Charles Dickens's A Tale of Two Cities, what exact words follow "It was the best of times"? Check your answer.</a:t>
            </a:r>
            <a:endParaRPr b="1"/>
          </a:p>
          <a:p>
            <a:pPr indent="0" lvl="0" marL="0" rtl="0" algn="l">
              <a:spcBef>
                <a:spcPts val="1200"/>
              </a:spcBef>
              <a:spcAft>
                <a:spcPts val="1200"/>
              </a:spcAft>
              <a:buNone/>
            </a:pPr>
            <a:r>
              <a:rPr lang="en" sz="1250"/>
              <a:t>→it was the worst of times.</a:t>
            </a:r>
            <a:br>
              <a:rPr lang="en" sz="1250"/>
            </a:br>
            <a:r>
              <a:rPr lang="en" sz="1250"/>
              <a:t>→it was the worst of times.</a:t>
            </a:r>
            <a:br>
              <a:rPr lang="en" sz="1250"/>
            </a:br>
            <a:r>
              <a:rPr lang="en" sz="1250"/>
              <a:t>→it was the worst of times.</a:t>
            </a:r>
            <a:br>
              <a:rPr lang="en" sz="1250"/>
            </a:br>
            <a:r>
              <a:rPr lang="en" sz="1250"/>
              <a:t>→it was the worst of times.</a:t>
            </a:r>
            <a:br>
              <a:rPr lang="en" sz="1250"/>
            </a:br>
            <a:r>
              <a:rPr lang="en" sz="1250"/>
              <a:t>→it was the worst of times.</a:t>
            </a:r>
            <a:br>
              <a:rPr lang="en" sz="1250"/>
            </a:br>
            <a:r>
              <a:rPr lang="en" sz="1250"/>
              <a:t>→it was the worst of times.</a:t>
            </a:r>
            <a:br>
              <a:rPr lang="en" sz="1250"/>
            </a:br>
            <a:r>
              <a:rPr lang="en" sz="1250"/>
              <a:t>→it was the worst of times.</a:t>
            </a:r>
            <a:br>
              <a:rPr lang="en" sz="1250"/>
            </a:br>
            <a:r>
              <a:rPr lang="en" sz="1250"/>
              <a:t>→it was the worst of times.</a:t>
            </a:r>
            <a:br>
              <a:rPr lang="en" sz="1250"/>
            </a:br>
            <a:r>
              <a:rPr lang="en" sz="1250"/>
              <a:t>→it was the worst of times.</a:t>
            </a:r>
            <a:br>
              <a:rPr lang="en" sz="1250"/>
            </a:br>
            <a:r>
              <a:rPr lang="en" sz="1250"/>
              <a:t>→it was the worst of times.</a:t>
            </a:r>
            <a:endParaRPr sz="1250"/>
          </a:p>
        </p:txBody>
      </p:sp>
      <p:sp>
        <p:nvSpPr>
          <p:cNvPr id="468" name="Google Shape;468;p64"/>
          <p:cNvSpPr txBox="1"/>
          <p:nvPr>
            <p:ph idx="2" type="body"/>
          </p:nvPr>
        </p:nvSpPr>
        <p:spPr>
          <a:xfrm>
            <a:off x="2622000" y="1152475"/>
            <a:ext cx="6210300" cy="3990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b="1" lang="en" sz="1500"/>
              <a:t>In Charles Dickens's A Tale of Two Cities, what exact words follow "His judges sat upon the Bench in feathered hats"? Check your answer.</a:t>
            </a:r>
            <a:endParaRPr b="1" sz="1500"/>
          </a:p>
          <a:p>
            <a:pPr indent="0" lvl="0" marL="0" rtl="0" algn="l">
              <a:spcBef>
                <a:spcPts val="1200"/>
              </a:spcBef>
              <a:spcAft>
                <a:spcPts val="1200"/>
              </a:spcAft>
              <a:buNone/>
            </a:pPr>
            <a:r>
              <a:rPr lang="en" sz="1250"/>
              <a:t>→</a:t>
            </a:r>
            <a:r>
              <a:rPr lang="en"/>
              <a:t>and looked at Monsieur the Marquis as if they thought him too much above the common herd to be tried by such canaille.</a:t>
            </a:r>
            <a:br>
              <a:rPr lang="en"/>
            </a:br>
            <a:r>
              <a:rPr lang="en" sz="1250"/>
              <a:t>→</a:t>
            </a:r>
            <a:r>
              <a:rPr lang="en"/>
              <a:t>and gold-laced coats.</a:t>
            </a:r>
            <a:br>
              <a:rPr lang="en"/>
            </a:br>
            <a:r>
              <a:rPr lang="en" sz="1250"/>
              <a:t>→</a:t>
            </a:r>
            <a:r>
              <a:rPr lang="en"/>
              <a:t>but the whole Court was sufficiently covered, as to appearance, with black cloth and horse-hair, as to display an unnatural blotting out of day.</a:t>
            </a:r>
            <a:br>
              <a:rPr lang="en"/>
            </a:br>
            <a:r>
              <a:rPr lang="en" sz="1250"/>
              <a:t>→</a:t>
            </a:r>
            <a:r>
              <a:rPr lang="en"/>
              <a:t>but not in furs, to mock the afflicted man.</a:t>
            </a:r>
            <a:br>
              <a:rPr lang="en"/>
            </a:br>
            <a:r>
              <a:rPr lang="en" sz="1250"/>
              <a:t>→</a:t>
            </a:r>
            <a:r>
              <a:rPr lang="en"/>
              <a:t>but the roughest men at the Bar had no more emotion than if they had been so many rats.</a:t>
            </a:r>
            <a:br>
              <a:rPr lang="en"/>
            </a:br>
            <a:r>
              <a:rPr lang="en" sz="1250"/>
              <a:t>→</a:t>
            </a:r>
            <a:r>
              <a:rPr lang="en"/>
              <a:t>but the red glare of the furnace shone upon them, stern and inexorable, as if they had all been so many fallen angels.</a:t>
            </a:r>
            <a:br>
              <a:rPr lang="en"/>
            </a:br>
            <a:r>
              <a:rPr lang="en" sz="1250"/>
              <a:t>→</a:t>
            </a:r>
            <a:r>
              <a:rPr lang="en"/>
              <a:t>and gold-laced coats.</a:t>
            </a:r>
            <a:br>
              <a:rPr lang="en"/>
            </a:br>
            <a:r>
              <a:rPr lang="en" sz="1250"/>
              <a:t>→</a:t>
            </a:r>
            <a:r>
              <a:rPr lang="en"/>
              <a:t>and were all in jewels but the axe was sharp, and the block was black.</a:t>
            </a:r>
            <a:br>
              <a:rPr lang="en"/>
            </a:br>
            <a:r>
              <a:rPr lang="en" sz="1250"/>
              <a:t>→</a:t>
            </a:r>
            <a:r>
              <a:rPr lang="en"/>
              <a:t>and hanging robes.</a:t>
            </a:r>
            <a:br>
              <a:rPr lang="en"/>
            </a:br>
            <a:r>
              <a:rPr lang="en" sz="1250"/>
              <a:t>→</a:t>
            </a:r>
            <a:r>
              <a:rPr lang="en"/>
              <a:t>and hoods; when a prisoner was tried, they had such an air of being all packed up somewhere for safe keeping, that one could have fancied they were all in several bags, and might at any time be brought out and squeezed dry.</a:t>
            </a:r>
            <a:endParaRPr/>
          </a:p>
        </p:txBody>
      </p:sp>
      <p:sp>
        <p:nvSpPr>
          <p:cNvPr id="469" name="Google Shape;469;p64"/>
          <p:cNvSpPr txBox="1"/>
          <p:nvPr/>
        </p:nvSpPr>
        <p:spPr>
          <a:xfrm>
            <a:off x="4708925" y="73475"/>
            <a:ext cx="4375200" cy="3078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solidFill>
                  <a:schemeClr val="dk2"/>
                </a:solidFill>
              </a:rPr>
              <a:t>Experiment performed on OpenAI gpt-5.4, temperature=1, no web search, and no reasoning.</a:t>
            </a:r>
            <a:endParaRPr sz="800">
              <a:solidFill>
                <a:schemeClr val="dk2"/>
              </a:solidFill>
            </a:endParaRPr>
          </a:p>
        </p:txBody>
      </p:sp>
      <p:sp>
        <p:nvSpPr>
          <p:cNvPr id="470" name="Google Shape;470;p64"/>
          <p:cNvSpPr txBox="1"/>
          <p:nvPr/>
        </p:nvSpPr>
        <p:spPr>
          <a:xfrm>
            <a:off x="6701225" y="914075"/>
            <a:ext cx="2382900" cy="3078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solidFill>
                  <a:schemeClr val="dk2"/>
                </a:solidFill>
              </a:rPr>
              <a:t>A random line from Book the Third, Chapter VI.</a:t>
            </a:r>
            <a:endParaRPr sz="800">
              <a:solidFill>
                <a:schemeClr val="dk2"/>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4" name="Shape 474"/>
        <p:cNvGrpSpPr/>
        <p:nvPr/>
      </p:nvGrpSpPr>
      <p:grpSpPr>
        <a:xfrm>
          <a:off x="0" y="0"/>
          <a:ext cx="0" cy="0"/>
          <a:chOff x="0" y="0"/>
          <a:chExt cx="0" cy="0"/>
        </a:xfrm>
      </p:grpSpPr>
      <p:sp>
        <p:nvSpPr>
          <p:cNvPr id="475" name="Google Shape;475;p65"/>
          <p:cNvSpPr txBox="1"/>
          <p:nvPr>
            <p:ph idx="2" type="body"/>
          </p:nvPr>
        </p:nvSpPr>
        <p:spPr>
          <a:xfrm>
            <a:off x="311700" y="1152475"/>
            <a:ext cx="85206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t>In Charles Dickens's A Tale of Two Cities, what exact words follow "His judges sat upon the Bench in feathered hats"? Check your answer.</a:t>
            </a:r>
            <a:endParaRPr b="1"/>
          </a:p>
          <a:p>
            <a:pPr indent="0" lvl="0" marL="0" rtl="0" algn="l">
              <a:spcBef>
                <a:spcPts val="1200"/>
              </a:spcBef>
              <a:spcAft>
                <a:spcPts val="0"/>
              </a:spcAft>
              <a:buNone/>
            </a:pPr>
            <a:r>
              <a:rPr lang="en" sz="1250"/>
              <a:t>→but the rough red cap and tricoloured cockade was the head-dress otherwise prevailing.</a:t>
            </a:r>
            <a:br>
              <a:rPr lang="en" sz="1250"/>
            </a:br>
            <a:r>
              <a:rPr lang="en" sz="1250"/>
              <a:t>→but the rough red cap and tricoloured cockade was the head-dress otherwise prevailing.</a:t>
            </a:r>
            <a:br>
              <a:rPr lang="en" sz="1250"/>
            </a:br>
            <a:r>
              <a:rPr lang="en" sz="1250"/>
              <a:t>→but the rough red cap and tricoloured cockade was the head-dress otherwise prevailing.</a:t>
            </a:r>
            <a:br>
              <a:rPr lang="en" sz="1250"/>
            </a:br>
            <a:r>
              <a:rPr lang="en" sz="1250"/>
              <a:t>→but the rough red cap and tricoloured cockade was the head-dress otherwise prevailing.</a:t>
            </a:r>
            <a:br>
              <a:rPr lang="en" sz="1250"/>
            </a:br>
            <a:r>
              <a:rPr lang="en" sz="1250"/>
              <a:t>→but the rough red cap and tricoloured cockade was the head-dress otherwise prevailing.</a:t>
            </a:r>
            <a:br>
              <a:rPr lang="en" sz="1250"/>
            </a:br>
            <a:r>
              <a:rPr lang="en" sz="1250"/>
              <a:t>→but the rough red cap and tricoloured cockade was the head-dress otherwise prevailing.</a:t>
            </a:r>
            <a:br>
              <a:rPr lang="en" sz="1250"/>
            </a:br>
            <a:r>
              <a:rPr lang="en" sz="1250"/>
              <a:t>→but the rough red cap and tricoloured cockade was the head-dress otherwise prevailing.</a:t>
            </a:r>
            <a:br>
              <a:rPr lang="en" sz="1250"/>
            </a:br>
            <a:r>
              <a:rPr lang="en" sz="1250"/>
              <a:t>→but the rough red cap and tricoloured cockade was the head-dress otherwise prevailing.</a:t>
            </a:r>
            <a:br>
              <a:rPr lang="en" sz="1250"/>
            </a:br>
            <a:r>
              <a:rPr lang="en" sz="1250"/>
              <a:t>→but the rough red cap and tricoloured cockade was the head-dress otherwise prevailing.</a:t>
            </a:r>
            <a:br>
              <a:rPr lang="en" sz="1250"/>
            </a:br>
            <a:r>
              <a:rPr lang="en" sz="1250"/>
              <a:t>→but the rough red cap and tricoloured cockade was the head-dress otherwise prevailing.</a:t>
            </a:r>
            <a:endParaRPr sz="1250"/>
          </a:p>
          <a:p>
            <a:pPr indent="0" lvl="0" marL="0" rtl="0" algn="l">
              <a:spcBef>
                <a:spcPts val="1200"/>
              </a:spcBef>
              <a:spcAft>
                <a:spcPts val="0"/>
              </a:spcAft>
              <a:buNone/>
            </a:pPr>
            <a:r>
              <a:rPr b="1" lang="en"/>
              <a:t>Now it's correct every time.</a:t>
            </a:r>
            <a:endParaRPr b="1"/>
          </a:p>
          <a:p>
            <a:pPr indent="0" lvl="0" marL="0" rtl="0" algn="l">
              <a:spcBef>
                <a:spcPts val="1200"/>
              </a:spcBef>
              <a:spcAft>
                <a:spcPts val="1200"/>
              </a:spcAft>
              <a:buNone/>
            </a:pPr>
            <a:r>
              <a:t/>
            </a:r>
            <a:endParaRPr b="1">
              <a:solidFill>
                <a:schemeClr val="accent1"/>
              </a:solidFill>
            </a:endParaRPr>
          </a:p>
        </p:txBody>
      </p:sp>
      <p:sp>
        <p:nvSpPr>
          <p:cNvPr id="476" name="Google Shape;476;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Now suppose we allow it to search the web…</a:t>
            </a:r>
            <a:endParaRPr/>
          </a:p>
        </p:txBody>
      </p:sp>
      <p:sp>
        <p:nvSpPr>
          <p:cNvPr id="477" name="Google Shape;477;p65"/>
          <p:cNvSpPr txBox="1"/>
          <p:nvPr/>
        </p:nvSpPr>
        <p:spPr>
          <a:xfrm>
            <a:off x="4326100" y="73475"/>
            <a:ext cx="4758000" cy="3078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solidFill>
                  <a:schemeClr val="dk2"/>
                </a:solidFill>
              </a:rPr>
              <a:t>Experiment performed on OpenAI gpt-5.4, temperature=1, WITH web search, and no reasoning.</a:t>
            </a:r>
            <a:endParaRPr sz="800">
              <a:solidFill>
                <a:schemeClr val="dk2"/>
              </a:solidFil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1" name="Shape 481"/>
        <p:cNvGrpSpPr/>
        <p:nvPr/>
      </p:nvGrpSpPr>
      <p:grpSpPr>
        <a:xfrm>
          <a:off x="0" y="0"/>
          <a:ext cx="0" cy="0"/>
          <a:chOff x="0" y="0"/>
          <a:chExt cx="0" cy="0"/>
        </a:xfrm>
      </p:grpSpPr>
      <p:sp>
        <p:nvSpPr>
          <p:cNvPr id="482" name="Google Shape;482;p66"/>
          <p:cNvSpPr txBox="1"/>
          <p:nvPr>
            <p:ph idx="2" type="body"/>
          </p:nvPr>
        </p:nvSpPr>
        <p:spPr>
          <a:xfrm>
            <a:off x="311700" y="1152475"/>
            <a:ext cx="85206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t>In Charles Dickens's A Tale of Two Cities, what exact words follow "His judges sat upon the Bench in feathered hats"? Check your answer.</a:t>
            </a:r>
            <a:endParaRPr b="1"/>
          </a:p>
          <a:p>
            <a:pPr indent="0" lvl="0" marL="0" rtl="0" algn="l">
              <a:spcBef>
                <a:spcPts val="1200"/>
              </a:spcBef>
              <a:spcAft>
                <a:spcPts val="0"/>
              </a:spcAft>
              <a:buNone/>
            </a:pPr>
            <a:r>
              <a:rPr lang="en" sz="1250"/>
              <a:t>→but the rough red cap and tricoloured cockade was the head-dress otherwise prevailing.</a:t>
            </a:r>
            <a:br>
              <a:rPr lang="en" sz="1250"/>
            </a:br>
            <a:r>
              <a:rPr lang="en" sz="1250"/>
              <a:t>→but the rough red cap and tricoloured cockade was the head-dress otherwise prevailing.</a:t>
            </a:r>
            <a:br>
              <a:rPr lang="en" sz="1250"/>
            </a:br>
            <a:r>
              <a:rPr lang="en" sz="1250"/>
              <a:t>→but the rough red cap and tricoloured cockade was the head-dress otherwise prevailing.</a:t>
            </a:r>
            <a:br>
              <a:rPr lang="en" sz="1250"/>
            </a:br>
            <a:r>
              <a:rPr lang="en" sz="1250"/>
              <a:t>→but the rough red cap and tricoloured cockade was the head-dress otherwise prevailing.</a:t>
            </a:r>
            <a:br>
              <a:rPr lang="en" sz="1250"/>
            </a:br>
            <a:r>
              <a:rPr lang="en" sz="1250"/>
              <a:t>→but the rough red cap and tricoloured cockade was the head-dress otherwise prevailing.</a:t>
            </a:r>
            <a:br>
              <a:rPr lang="en" sz="1250"/>
            </a:br>
            <a:r>
              <a:rPr lang="en" sz="1250"/>
              <a:t>→but the rough red cap and tricoloured cockade was the head-dress otherwise prevailing.</a:t>
            </a:r>
            <a:br>
              <a:rPr lang="en" sz="1250"/>
            </a:br>
            <a:r>
              <a:rPr lang="en" sz="1250"/>
              <a:t>→but the rough red cap and tricoloured cockade was the head-dress otherwise prevailing.</a:t>
            </a:r>
            <a:br>
              <a:rPr lang="en" sz="1250"/>
            </a:br>
            <a:r>
              <a:rPr lang="en" sz="1250"/>
              <a:t>→but the rough red cap and tricoloured cockade was the head-dress otherwise prevailing.</a:t>
            </a:r>
            <a:br>
              <a:rPr lang="en" sz="1250"/>
            </a:br>
            <a:r>
              <a:rPr lang="en" sz="1250"/>
              <a:t>→but the rough red cap and tricoloured cockade was the head-dress otherwise prevailing.</a:t>
            </a:r>
            <a:br>
              <a:rPr lang="en" sz="1250"/>
            </a:br>
            <a:r>
              <a:rPr lang="en" sz="1250"/>
              <a:t>→but the rough red cap and tricoloured cockade was the head-dress otherwise prevailing.</a:t>
            </a:r>
            <a:endParaRPr sz="1250"/>
          </a:p>
          <a:p>
            <a:pPr indent="0" lvl="0" marL="0" rtl="0" algn="l">
              <a:spcBef>
                <a:spcPts val="1200"/>
              </a:spcBef>
              <a:spcAft>
                <a:spcPts val="0"/>
              </a:spcAft>
              <a:buNone/>
            </a:pPr>
            <a:r>
              <a:rPr b="1" lang="en"/>
              <a:t>Now it's correct every time.</a:t>
            </a:r>
            <a:endParaRPr b="1"/>
          </a:p>
          <a:p>
            <a:pPr indent="0" lvl="0" marL="0" rtl="0" algn="l">
              <a:spcBef>
                <a:spcPts val="1200"/>
              </a:spcBef>
              <a:spcAft>
                <a:spcPts val="1200"/>
              </a:spcAft>
              <a:buNone/>
            </a:pPr>
            <a:r>
              <a:rPr b="1" lang="en">
                <a:solidFill>
                  <a:schemeClr val="accent1"/>
                </a:solidFill>
              </a:rPr>
              <a:t>Having fetched the </a:t>
            </a:r>
            <a:r>
              <a:rPr b="1" i="1" lang="en">
                <a:solidFill>
                  <a:schemeClr val="accent1"/>
                </a:solidFill>
              </a:rPr>
              <a:t>uncompressed</a:t>
            </a:r>
            <a:r>
              <a:rPr b="1" lang="en">
                <a:solidFill>
                  <a:schemeClr val="accent1"/>
                </a:solidFill>
              </a:rPr>
              <a:t> data from the web, it only needs to find the quote and repeat it.</a:t>
            </a:r>
            <a:endParaRPr b="1">
              <a:solidFill>
                <a:schemeClr val="accent1"/>
              </a:solidFill>
            </a:endParaRPr>
          </a:p>
        </p:txBody>
      </p:sp>
      <p:sp>
        <p:nvSpPr>
          <p:cNvPr id="483" name="Google Shape;483;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Now suppose we allow it to search the web…</a:t>
            </a:r>
            <a:endParaRPr/>
          </a:p>
        </p:txBody>
      </p:sp>
      <p:sp>
        <p:nvSpPr>
          <p:cNvPr id="484" name="Google Shape;484;p66"/>
          <p:cNvSpPr txBox="1"/>
          <p:nvPr/>
        </p:nvSpPr>
        <p:spPr>
          <a:xfrm>
            <a:off x="4326100" y="73475"/>
            <a:ext cx="4758000" cy="3078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800">
                <a:solidFill>
                  <a:schemeClr val="dk2"/>
                </a:solidFill>
              </a:rPr>
              <a:t>Experiment performed on OpenAI gpt-5.4, temperature=1, WITH web search, and no reasoning.</a:t>
            </a:r>
            <a:endParaRPr sz="800">
              <a:solidFill>
                <a:schemeClr val="dk2"/>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8" name="Shape 488"/>
        <p:cNvGrpSpPr/>
        <p:nvPr/>
      </p:nvGrpSpPr>
      <p:grpSpPr>
        <a:xfrm>
          <a:off x="0" y="0"/>
          <a:ext cx="0" cy="0"/>
          <a:chOff x="0" y="0"/>
          <a:chExt cx="0" cy="0"/>
        </a:xfrm>
      </p:grpSpPr>
      <p:sp>
        <p:nvSpPr>
          <p:cNvPr id="489" name="Google Shape;489;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Modern chatbot = LLM + transcript + tools</a:t>
            </a:r>
            <a:endParaRPr/>
          </a:p>
        </p:txBody>
      </p:sp>
      <p:pic>
        <p:nvPicPr>
          <p:cNvPr id="490" name="Google Shape;490;p67" title="web-search.png"/>
          <p:cNvPicPr preferRelativeResize="0"/>
          <p:nvPr/>
        </p:nvPicPr>
        <p:blipFill>
          <a:blip r:embed="rId3">
            <a:alphaModFix/>
          </a:blip>
          <a:stretch>
            <a:fillRect/>
          </a:stretch>
        </p:blipFill>
        <p:spPr>
          <a:xfrm>
            <a:off x="1664213" y="1152475"/>
            <a:ext cx="5815576" cy="3877051"/>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4" name="Shape 494"/>
        <p:cNvGrpSpPr/>
        <p:nvPr/>
      </p:nvGrpSpPr>
      <p:grpSpPr>
        <a:xfrm>
          <a:off x="0" y="0"/>
          <a:ext cx="0" cy="0"/>
          <a:chOff x="0" y="0"/>
          <a:chExt cx="0" cy="0"/>
        </a:xfrm>
      </p:grpSpPr>
      <p:sp>
        <p:nvSpPr>
          <p:cNvPr id="495" name="Google Shape;495;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Moderner chatbot = LLM + transcript + tools + reasoning</a:t>
            </a:r>
            <a:endParaRPr/>
          </a:p>
        </p:txBody>
      </p:sp>
      <p:sp>
        <p:nvSpPr>
          <p:cNvPr id="496" name="Google Shape;496;p6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1000"/>
              </a:spcBef>
              <a:spcAft>
                <a:spcPts val="0"/>
              </a:spcAft>
              <a:buNone/>
            </a:pPr>
            <a:r>
              <a:rPr lang="en" sz="1600"/>
              <a:t>A complex problem is more likely to be solved correctly if it's a summary of a long transcript with the problem broken down into steps. Intermediate transcripts are not shown to the user.</a:t>
            </a:r>
            <a:endParaRPr sz="1600"/>
          </a:p>
          <a:p>
            <a:pPr indent="0" lvl="0" marL="0" rtl="0" algn="l">
              <a:spcBef>
                <a:spcPts val="1200"/>
              </a:spcBef>
              <a:spcAft>
                <a:spcPts val="1200"/>
              </a:spcAft>
              <a:buNone/>
            </a:pPr>
            <a:r>
              <a:t/>
            </a:r>
            <a:endParaRPr sz="1600"/>
          </a:p>
        </p:txBody>
      </p:sp>
      <p:pic>
        <p:nvPicPr>
          <p:cNvPr id="497" name="Google Shape;497;p68" title="reasoning.png"/>
          <p:cNvPicPr preferRelativeResize="0"/>
          <p:nvPr/>
        </p:nvPicPr>
        <p:blipFill>
          <a:blip r:embed="rId3">
            <a:alphaModFix/>
          </a:blip>
          <a:stretch>
            <a:fillRect/>
          </a:stretch>
        </p:blipFill>
        <p:spPr>
          <a:xfrm>
            <a:off x="1664225" y="2284415"/>
            <a:ext cx="5815576" cy="2809331"/>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1" name="Shape 501"/>
        <p:cNvGrpSpPr/>
        <p:nvPr/>
      </p:nvGrpSpPr>
      <p:grpSpPr>
        <a:xfrm>
          <a:off x="0" y="0"/>
          <a:ext cx="0" cy="0"/>
          <a:chOff x="0" y="0"/>
          <a:chExt cx="0" cy="0"/>
        </a:xfrm>
      </p:grpSpPr>
      <p:sp>
        <p:nvSpPr>
          <p:cNvPr id="502" name="Google Shape;502;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Moderner chatbot = LLM + transcript + tools + reasoning</a:t>
            </a:r>
            <a:endParaRPr/>
          </a:p>
        </p:txBody>
      </p:sp>
      <p:sp>
        <p:nvSpPr>
          <p:cNvPr id="503" name="Google Shape;503;p6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1000"/>
              </a:spcBef>
              <a:spcAft>
                <a:spcPts val="0"/>
              </a:spcAft>
              <a:buNone/>
            </a:pPr>
            <a:r>
              <a:rPr lang="en" sz="1600"/>
              <a:t>A complex problem is more likely to be solved correctly if it's a summary of a long transcript with the problem broken down into steps. Intermediate transcripts are not shown to the user.</a:t>
            </a:r>
            <a:endParaRPr sz="1600"/>
          </a:p>
          <a:p>
            <a:pPr indent="0" lvl="0" marL="0" rtl="0" algn="l">
              <a:spcBef>
                <a:spcPts val="1200"/>
              </a:spcBef>
              <a:spcAft>
                <a:spcPts val="1200"/>
              </a:spcAft>
              <a:buNone/>
            </a:pPr>
            <a:r>
              <a:rPr lang="en" sz="1600"/>
              <a:t>This solves the "can't backtrack" problem: it can replace a mistake in successive drafts.</a:t>
            </a:r>
            <a:endParaRPr sz="1600"/>
          </a:p>
        </p:txBody>
      </p:sp>
      <p:pic>
        <p:nvPicPr>
          <p:cNvPr id="504" name="Google Shape;504;p69" title="reasoning.png"/>
          <p:cNvPicPr preferRelativeResize="0"/>
          <p:nvPr/>
        </p:nvPicPr>
        <p:blipFill>
          <a:blip r:embed="rId3">
            <a:alphaModFix/>
          </a:blip>
          <a:stretch>
            <a:fillRect/>
          </a:stretch>
        </p:blipFill>
        <p:spPr>
          <a:xfrm>
            <a:off x="1664225" y="2284415"/>
            <a:ext cx="5815576" cy="2809331"/>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8" name="Shape 508"/>
        <p:cNvGrpSpPr/>
        <p:nvPr/>
      </p:nvGrpSpPr>
      <p:grpSpPr>
        <a:xfrm>
          <a:off x="0" y="0"/>
          <a:ext cx="0" cy="0"/>
          <a:chOff x="0" y="0"/>
          <a:chExt cx="0" cy="0"/>
        </a:xfrm>
      </p:grpSpPr>
      <p:sp>
        <p:nvSpPr>
          <p:cNvPr id="509" name="Google Shape;509;p7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Other examples of tools</a:t>
            </a:r>
            <a:endParaRPr/>
          </a:p>
        </p:txBody>
      </p:sp>
      <p:sp>
        <p:nvSpPr>
          <p:cNvPr id="510" name="Google Shape;510;p70"/>
          <p:cNvSpPr txBox="1"/>
          <p:nvPr>
            <p:ph idx="1" type="body"/>
          </p:nvPr>
        </p:nvSpPr>
        <p:spPr>
          <a:xfrm>
            <a:off x="311700" y="1152475"/>
            <a:ext cx="8520600" cy="39909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Calculator:</a:t>
            </a:r>
            <a:r>
              <a:rPr lang="en"/>
              <a:t> the most likely word after "12345 + 9999 =" is not always the right answer, so instead of autocompleting math, chatbots can invoke an external calculator function and use its result.</a:t>
            </a:r>
            <a:endParaRPr/>
          </a:p>
          <a:p>
            <a:pPr indent="-342900" lvl="0" marL="457200" rtl="0" algn="l">
              <a:spcBef>
                <a:spcPts val="1000"/>
              </a:spcBef>
              <a:spcAft>
                <a:spcPts val="0"/>
              </a:spcAft>
              <a:buSzPts val="1800"/>
              <a:buChar char="●"/>
            </a:pPr>
            <a:r>
              <a:rPr b="1" lang="en"/>
              <a:t>Code execution:</a:t>
            </a:r>
            <a:r>
              <a:rPr lang="en"/>
              <a:t> for testing programs before suggesting them to the user.</a:t>
            </a:r>
            <a:endParaRPr/>
          </a:p>
          <a:p>
            <a:pPr indent="-342900" lvl="0" marL="457200" rtl="0" algn="l">
              <a:spcBef>
                <a:spcPts val="1000"/>
              </a:spcBef>
              <a:spcAft>
                <a:spcPts val="0"/>
              </a:spcAft>
              <a:buSzPts val="1800"/>
              <a:buChar char="●"/>
            </a:pPr>
            <a:r>
              <a:rPr b="1" lang="en"/>
              <a:t>Reading documents:</a:t>
            </a:r>
            <a:r>
              <a:rPr lang="en"/>
              <a:t> so the user can ask about their own PDFs or images.</a:t>
            </a:r>
            <a:endParaRPr/>
          </a:p>
          <a:p>
            <a:pPr indent="-342900" lvl="0" marL="457200" rtl="0" algn="l">
              <a:spcBef>
                <a:spcPts val="1000"/>
              </a:spcBef>
              <a:spcAft>
                <a:spcPts val="0"/>
              </a:spcAft>
              <a:buSzPts val="1800"/>
              <a:buChar char="●"/>
            </a:pPr>
            <a:r>
              <a:rPr b="1" lang="en"/>
              <a:t>Memory:</a:t>
            </a:r>
            <a:r>
              <a:rPr lang="en"/>
              <a:t> saving transcripts in a directory accessible to new chats, so that future chats can use information learned in the present one.</a:t>
            </a:r>
            <a:endParaRPr/>
          </a:p>
          <a:p>
            <a:pPr indent="-342900" lvl="0" marL="457200" rtl="0" algn="l">
              <a:spcBef>
                <a:spcPts val="1000"/>
              </a:spcBef>
              <a:spcAft>
                <a:spcPts val="1000"/>
              </a:spcAft>
              <a:buSzPts val="1800"/>
              <a:buChar char="●"/>
            </a:pPr>
            <a:r>
              <a:rPr b="1" lang="en"/>
              <a:t>MCP servers:</a:t>
            </a:r>
            <a:r>
              <a:rPr lang="en"/>
              <a:t> custom tools, developed for specific purposes.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4" name="Shape 514"/>
        <p:cNvGrpSpPr/>
        <p:nvPr/>
      </p:nvGrpSpPr>
      <p:grpSpPr>
        <a:xfrm>
          <a:off x="0" y="0"/>
          <a:ext cx="0" cy="0"/>
          <a:chOff x="0" y="0"/>
          <a:chExt cx="0" cy="0"/>
        </a:xfrm>
      </p:grpSpPr>
      <p:sp>
        <p:nvSpPr>
          <p:cNvPr id="515" name="Google Shape;51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From chatbot to agent</a:t>
            </a:r>
            <a:endParaRPr/>
          </a:p>
        </p:txBody>
      </p:sp>
      <p:sp>
        <p:nvSpPr>
          <p:cNvPr id="516" name="Google Shape;516;p71"/>
          <p:cNvSpPr txBox="1"/>
          <p:nvPr>
            <p:ph idx="1" type="body"/>
          </p:nvPr>
        </p:nvSpPr>
        <p:spPr>
          <a:xfrm>
            <a:off x="311700" y="1152475"/>
            <a:ext cx="85206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Chatbots only append to transcripts. They don't affect anything outside of this box, other than influencing the human user.</a:t>
            </a:r>
            <a:endParaRPr/>
          </a:p>
          <a:p>
            <a:pPr indent="0" lvl="0" marL="0" rtl="0" algn="l">
              <a:spcBef>
                <a:spcPts val="1200"/>
              </a:spcBef>
              <a:spcAft>
                <a:spcPts val="0"/>
              </a:spcAft>
              <a:buNone/>
            </a:pPr>
            <a:br>
              <a:rPr b="1" lang="en"/>
            </a:br>
            <a:br>
              <a:rPr b="1" lang="en"/>
            </a:br>
            <a:br>
              <a:rPr b="1" lang="en"/>
            </a:br>
            <a:br>
              <a:rPr b="1" lang="en"/>
            </a:br>
            <a:endParaRPr/>
          </a:p>
          <a:p>
            <a:pPr indent="0" lvl="0" marL="0" rtl="0" algn="l">
              <a:spcBef>
                <a:spcPts val="1200"/>
              </a:spcBef>
              <a:spcAft>
                <a:spcPts val="1200"/>
              </a:spcAft>
              <a:buNone/>
            </a:pPr>
            <a:br>
              <a:rPr lang="en"/>
            </a:br>
            <a:br>
              <a:rPr lang="en"/>
            </a:b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0" name="Shape 520"/>
        <p:cNvGrpSpPr/>
        <p:nvPr/>
      </p:nvGrpSpPr>
      <p:grpSpPr>
        <a:xfrm>
          <a:off x="0" y="0"/>
          <a:ext cx="0" cy="0"/>
          <a:chOff x="0" y="0"/>
          <a:chExt cx="0" cy="0"/>
        </a:xfrm>
      </p:grpSpPr>
      <p:sp>
        <p:nvSpPr>
          <p:cNvPr id="521" name="Google Shape;521;p7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From chatbot to agent</a:t>
            </a:r>
            <a:endParaRPr/>
          </a:p>
        </p:txBody>
      </p:sp>
      <p:sp>
        <p:nvSpPr>
          <p:cNvPr id="522" name="Google Shape;522;p72"/>
          <p:cNvSpPr txBox="1"/>
          <p:nvPr>
            <p:ph idx="1" type="body"/>
          </p:nvPr>
        </p:nvSpPr>
        <p:spPr>
          <a:xfrm>
            <a:off x="311700" y="1152475"/>
            <a:ext cx="85206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Chatbots only append to transcripts. They don't affect anything outside of this box, other than influencing the human user.</a:t>
            </a:r>
            <a:endParaRPr/>
          </a:p>
          <a:p>
            <a:pPr indent="0" lvl="0" marL="0" rtl="0" algn="l">
              <a:spcBef>
                <a:spcPts val="1200"/>
              </a:spcBef>
              <a:spcAft>
                <a:spcPts val="0"/>
              </a:spcAft>
              <a:buClr>
                <a:schemeClr val="dk1"/>
              </a:buClr>
              <a:buSzPts val="1100"/>
              <a:buFont typeface="Arial"/>
              <a:buNone/>
            </a:pPr>
            <a:r>
              <a:rPr b="1" lang="en"/>
              <a:t>Agents</a:t>
            </a:r>
            <a:r>
              <a:rPr lang="en"/>
              <a:t> cause changes in the</a:t>
            </a:r>
            <a:br>
              <a:rPr lang="en"/>
            </a:br>
            <a:r>
              <a:rPr lang="en"/>
              <a:t>world because they are</a:t>
            </a:r>
            <a:br>
              <a:rPr lang="en"/>
            </a:br>
            <a:r>
              <a:rPr lang="en"/>
              <a:t>programs that run the</a:t>
            </a:r>
            <a:br>
              <a:rPr lang="en"/>
            </a:br>
            <a:r>
              <a:rPr lang="en"/>
              <a:t>transcript output, performing</a:t>
            </a:r>
            <a:br>
              <a:rPr lang="en"/>
            </a:br>
            <a:r>
              <a:rPr lang="en"/>
              <a:t>actions requested by the LLM.</a:t>
            </a:r>
            <a:endParaRPr/>
          </a:p>
          <a:p>
            <a:pPr indent="0" lvl="0" marL="0" rtl="0" algn="l">
              <a:spcBef>
                <a:spcPts val="1200"/>
              </a:spcBef>
              <a:spcAft>
                <a:spcPts val="1200"/>
              </a:spcAft>
              <a:buNone/>
            </a:pPr>
            <a:br>
              <a:rPr lang="en"/>
            </a:br>
            <a:br>
              <a:rPr lang="en"/>
            </a:br>
            <a:endParaRPr/>
          </a:p>
        </p:txBody>
      </p:sp>
      <p:pic>
        <p:nvPicPr>
          <p:cNvPr id="523" name="Google Shape;523;p72" title="agent.png"/>
          <p:cNvPicPr preferRelativeResize="0"/>
          <p:nvPr/>
        </p:nvPicPr>
        <p:blipFill>
          <a:blip r:embed="rId3">
            <a:alphaModFix/>
          </a:blip>
          <a:stretch>
            <a:fillRect/>
          </a:stretch>
        </p:blipFill>
        <p:spPr>
          <a:xfrm>
            <a:off x="3628375" y="1910300"/>
            <a:ext cx="5459700" cy="30710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7" name="Shape 527"/>
        <p:cNvGrpSpPr/>
        <p:nvPr/>
      </p:nvGrpSpPr>
      <p:grpSpPr>
        <a:xfrm>
          <a:off x="0" y="0"/>
          <a:ext cx="0" cy="0"/>
          <a:chOff x="0" y="0"/>
          <a:chExt cx="0" cy="0"/>
        </a:xfrm>
      </p:grpSpPr>
      <p:sp>
        <p:nvSpPr>
          <p:cNvPr id="528" name="Google Shape;528;p7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From chatbot to agent</a:t>
            </a:r>
            <a:endParaRPr/>
          </a:p>
        </p:txBody>
      </p:sp>
      <p:sp>
        <p:nvSpPr>
          <p:cNvPr id="529" name="Google Shape;529;p73"/>
          <p:cNvSpPr txBox="1"/>
          <p:nvPr>
            <p:ph idx="1" type="body"/>
          </p:nvPr>
        </p:nvSpPr>
        <p:spPr>
          <a:xfrm>
            <a:off x="311700" y="1152475"/>
            <a:ext cx="85206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Chatbots only append to transcripts. They don't affect anything outside of this box, other than influencing the human user.</a:t>
            </a:r>
            <a:endParaRPr/>
          </a:p>
          <a:p>
            <a:pPr indent="0" lvl="0" marL="0" rtl="0" algn="l">
              <a:spcBef>
                <a:spcPts val="1200"/>
              </a:spcBef>
              <a:spcAft>
                <a:spcPts val="0"/>
              </a:spcAft>
              <a:buNone/>
            </a:pPr>
            <a:r>
              <a:rPr b="1" lang="en"/>
              <a:t>Agents</a:t>
            </a:r>
            <a:r>
              <a:rPr lang="en"/>
              <a:t> cause changes in the</a:t>
            </a:r>
            <a:br>
              <a:rPr lang="en"/>
            </a:br>
            <a:r>
              <a:rPr lang="en"/>
              <a:t>world because they are</a:t>
            </a:r>
            <a:br>
              <a:rPr lang="en"/>
            </a:br>
            <a:r>
              <a:rPr lang="en"/>
              <a:t>programs that run the</a:t>
            </a:r>
            <a:br>
              <a:rPr lang="en"/>
            </a:br>
            <a:r>
              <a:rPr lang="en"/>
              <a:t>transcript output, performing</a:t>
            </a:r>
            <a:br>
              <a:rPr lang="en"/>
            </a:br>
            <a:r>
              <a:rPr lang="en"/>
              <a:t>actions requested by the LLM.</a:t>
            </a:r>
            <a:endParaRPr/>
          </a:p>
          <a:p>
            <a:pPr indent="0" lvl="0" marL="0" rtl="0" algn="l">
              <a:spcBef>
                <a:spcPts val="1200"/>
              </a:spcBef>
              <a:spcAft>
                <a:spcPts val="1200"/>
              </a:spcAft>
              <a:buNone/>
            </a:pPr>
            <a:r>
              <a:rPr lang="en"/>
              <a:t>The LLM itself still only deals</a:t>
            </a:r>
            <a:br>
              <a:rPr lang="en"/>
            </a:br>
            <a:r>
              <a:rPr lang="en"/>
              <a:t>in text: the conversation and</a:t>
            </a:r>
            <a:br>
              <a:rPr lang="en"/>
            </a:br>
            <a:r>
              <a:rPr lang="en"/>
              <a:t>the tool calls and arguments.</a:t>
            </a:r>
            <a:endParaRPr/>
          </a:p>
        </p:txBody>
      </p:sp>
      <p:pic>
        <p:nvPicPr>
          <p:cNvPr id="530" name="Google Shape;530;p73" title="agent.png"/>
          <p:cNvPicPr preferRelativeResize="0"/>
          <p:nvPr/>
        </p:nvPicPr>
        <p:blipFill>
          <a:blip r:embed="rId3">
            <a:alphaModFix/>
          </a:blip>
          <a:stretch>
            <a:fillRect/>
          </a:stretch>
        </p:blipFill>
        <p:spPr>
          <a:xfrm>
            <a:off x="3628375" y="1910300"/>
            <a:ext cx="5459700" cy="3071075"/>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4" name="Shape 534"/>
        <p:cNvGrpSpPr/>
        <p:nvPr/>
      </p:nvGrpSpPr>
      <p:grpSpPr>
        <a:xfrm>
          <a:off x="0" y="0"/>
          <a:ext cx="0" cy="0"/>
          <a:chOff x="0" y="0"/>
          <a:chExt cx="0" cy="0"/>
        </a:xfrm>
      </p:grpSpPr>
      <p:sp>
        <p:nvSpPr>
          <p:cNvPr id="535" name="Google Shape;535;p7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AI and technology using AI</a:t>
            </a:r>
            <a:endParaRPr/>
          </a:p>
        </p:txBody>
      </p:sp>
      <p:sp>
        <p:nvSpPr>
          <p:cNvPr id="536" name="Google Shape;536;p74"/>
          <p:cNvSpPr txBox="1"/>
          <p:nvPr>
            <p:ph idx="1" type="body"/>
          </p:nvPr>
        </p:nvSpPr>
        <p:spPr>
          <a:xfrm>
            <a:off x="311700" y="1152475"/>
            <a:ext cx="85206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In the past four years since ChatGPT was widely released (November 2022), there have been two strands of development:</a:t>
            </a:r>
            <a:endParaRPr/>
          </a:p>
          <a:p>
            <a:pPr indent="0" lvl="0" marL="457200" rtl="0" algn="l">
              <a:spcBef>
                <a:spcPts val="1200"/>
              </a:spcBef>
              <a:spcAft>
                <a:spcPts val="0"/>
              </a:spcAft>
              <a:buNone/>
            </a:pPr>
            <a:br>
              <a:rPr lang="en"/>
            </a:br>
            <a:endParaRPr/>
          </a:p>
          <a:p>
            <a:pPr indent="0" lvl="0" marL="914400" rtl="0" algn="l">
              <a:spcBef>
                <a:spcPts val="1200"/>
              </a:spcBef>
              <a:spcAft>
                <a:spcPts val="0"/>
              </a:spcAft>
              <a:buNone/>
            </a:pPr>
            <a:r>
              <a:t/>
            </a:r>
            <a:endParaRPr/>
          </a:p>
          <a:p>
            <a:pPr indent="0" lvl="0" marL="0" rtl="0" algn="l">
              <a:spcBef>
                <a:spcPts val="1200"/>
              </a:spcBef>
              <a:spcAft>
                <a:spcPts val="1200"/>
              </a:spcAft>
              <a:buNone/>
            </a:pPr>
            <a:br>
              <a:rPr lang="en" sz="1200"/>
            </a:br>
            <a:br>
              <a:rPr lang="en"/>
            </a:br>
            <a:br>
              <a:rPr lang="en"/>
            </a:b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0" name="Shape 540"/>
        <p:cNvGrpSpPr/>
        <p:nvPr/>
      </p:nvGrpSpPr>
      <p:grpSpPr>
        <a:xfrm>
          <a:off x="0" y="0"/>
          <a:ext cx="0" cy="0"/>
          <a:chOff x="0" y="0"/>
          <a:chExt cx="0" cy="0"/>
        </a:xfrm>
      </p:grpSpPr>
      <p:sp>
        <p:nvSpPr>
          <p:cNvPr id="541" name="Google Shape;541;p7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AI and technology using AI</a:t>
            </a:r>
            <a:endParaRPr/>
          </a:p>
        </p:txBody>
      </p:sp>
      <p:sp>
        <p:nvSpPr>
          <p:cNvPr id="542" name="Google Shape;542;p75"/>
          <p:cNvSpPr txBox="1"/>
          <p:nvPr>
            <p:ph idx="1" type="body"/>
          </p:nvPr>
        </p:nvSpPr>
        <p:spPr>
          <a:xfrm>
            <a:off x="311700" y="1152475"/>
            <a:ext cx="85206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In the past four years since ChatGPT was widely released (November 2022), there have been two strands of development:</a:t>
            </a:r>
            <a:endParaRPr/>
          </a:p>
          <a:p>
            <a:pPr indent="-342900" lvl="0" marL="457200" rtl="0" algn="l">
              <a:spcBef>
                <a:spcPts val="1200"/>
              </a:spcBef>
              <a:spcAft>
                <a:spcPts val="0"/>
              </a:spcAft>
              <a:buSzPts val="1800"/>
              <a:buChar char="●"/>
            </a:pPr>
            <a:r>
              <a:rPr lang="en"/>
              <a:t>Making better models (bigger models, better curation of datasets, better alignment with human preferences, multimodal, tuning for the following…)</a:t>
            </a:r>
            <a:br>
              <a:rPr lang="en"/>
            </a:br>
            <a:endParaRPr/>
          </a:p>
          <a:p>
            <a:pPr indent="0" lvl="0" marL="914400" rtl="0" algn="l">
              <a:spcBef>
                <a:spcPts val="1200"/>
              </a:spcBef>
              <a:spcAft>
                <a:spcPts val="0"/>
              </a:spcAft>
              <a:buNone/>
            </a:pPr>
            <a:r>
              <a:t/>
            </a:r>
            <a:endParaRPr/>
          </a:p>
          <a:p>
            <a:pPr indent="0" lvl="0" marL="0" rtl="0" algn="l">
              <a:spcBef>
                <a:spcPts val="1200"/>
              </a:spcBef>
              <a:spcAft>
                <a:spcPts val="1200"/>
              </a:spcAft>
              <a:buNone/>
            </a:pPr>
            <a:br>
              <a:rPr lang="en" sz="1200"/>
            </a:br>
            <a:br>
              <a:rPr lang="en"/>
            </a:br>
            <a:br>
              <a:rPr lang="en"/>
            </a:br>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AI and technology using AI</a:t>
            </a:r>
            <a:endParaRPr/>
          </a:p>
        </p:txBody>
      </p:sp>
      <p:sp>
        <p:nvSpPr>
          <p:cNvPr id="548" name="Google Shape;548;p76"/>
          <p:cNvSpPr txBox="1"/>
          <p:nvPr>
            <p:ph idx="1" type="body"/>
          </p:nvPr>
        </p:nvSpPr>
        <p:spPr>
          <a:xfrm>
            <a:off x="311700" y="1152475"/>
            <a:ext cx="85206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In the past four years since ChatGPT was widely released (November 2022), there have been two strands of development:</a:t>
            </a:r>
            <a:endParaRPr/>
          </a:p>
          <a:p>
            <a:pPr indent="-342900" lvl="0" marL="457200" rtl="0" algn="l">
              <a:spcBef>
                <a:spcPts val="1200"/>
              </a:spcBef>
              <a:spcAft>
                <a:spcPts val="0"/>
              </a:spcAft>
              <a:buSzPts val="1800"/>
              <a:buChar char="●"/>
            </a:pPr>
            <a:r>
              <a:rPr lang="en"/>
              <a:t>Making better models (bigger models, better curation of datasets, better alignment with human preferences, multimodal, tuning for the following…)</a:t>
            </a:r>
            <a:br>
              <a:rPr lang="en"/>
            </a:br>
            <a:endParaRPr/>
          </a:p>
          <a:p>
            <a:pPr indent="-342900" lvl="0" marL="457200" rtl="0" algn="l">
              <a:spcBef>
                <a:spcPts val="0"/>
              </a:spcBef>
              <a:spcAft>
                <a:spcPts val="0"/>
              </a:spcAft>
              <a:buSzPts val="1800"/>
              <a:buChar char="●"/>
            </a:pPr>
            <a:r>
              <a:rPr lang="en"/>
              <a:t>Plugging LLM blocks into conventional code that manipulates transcripts</a:t>
            </a:r>
            <a:endParaRPr/>
          </a:p>
          <a:p>
            <a:pPr indent="-317500" lvl="1" marL="914400" rtl="0" algn="l">
              <a:spcBef>
                <a:spcPts val="0"/>
              </a:spcBef>
              <a:spcAft>
                <a:spcPts val="0"/>
              </a:spcAft>
              <a:buSzPts val="1400"/>
              <a:buChar char="○"/>
            </a:pPr>
            <a:r>
              <a:rPr lang="en"/>
              <a:t>Tools, reasoning, RAG-based search engines, memory systems, statistical workflows, agents</a:t>
            </a:r>
            <a:endParaRPr/>
          </a:p>
          <a:p>
            <a:pPr indent="0" lvl="0" marL="0" rtl="0" algn="l">
              <a:spcBef>
                <a:spcPts val="1200"/>
              </a:spcBef>
              <a:spcAft>
                <a:spcPts val="1200"/>
              </a:spcAft>
              <a:buNone/>
            </a:pPr>
            <a:br>
              <a:rPr lang="en" sz="1200"/>
            </a:br>
            <a:br>
              <a:rPr lang="en"/>
            </a:br>
            <a:br>
              <a:rPr lang="en"/>
            </a:br>
            <a:endParaRPr/>
          </a:p>
        </p:txBody>
      </p:sp>
      <p:pic>
        <p:nvPicPr>
          <p:cNvPr id="549" name="Google Shape;549;p76" title="Block_of_Redstone_JE2_BE2.png"/>
          <p:cNvPicPr preferRelativeResize="0"/>
          <p:nvPr/>
        </p:nvPicPr>
        <p:blipFill>
          <a:blip r:embed="rId3">
            <a:alphaModFix/>
          </a:blip>
          <a:stretch>
            <a:fillRect/>
          </a:stretch>
        </p:blipFill>
        <p:spPr>
          <a:xfrm>
            <a:off x="7293725" y="3618500"/>
            <a:ext cx="1364125" cy="1364125"/>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3" name="Shape 553"/>
        <p:cNvGrpSpPr/>
        <p:nvPr/>
      </p:nvGrpSpPr>
      <p:grpSpPr>
        <a:xfrm>
          <a:off x="0" y="0"/>
          <a:ext cx="0" cy="0"/>
          <a:chOff x="0" y="0"/>
          <a:chExt cx="0" cy="0"/>
        </a:xfrm>
      </p:grpSpPr>
      <p:sp>
        <p:nvSpPr>
          <p:cNvPr id="554" name="Google Shape;554;p7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AI and technology using AI</a:t>
            </a:r>
            <a:endParaRPr/>
          </a:p>
        </p:txBody>
      </p:sp>
      <p:sp>
        <p:nvSpPr>
          <p:cNvPr id="555" name="Google Shape;555;p77"/>
          <p:cNvSpPr txBox="1"/>
          <p:nvPr>
            <p:ph idx="1" type="body"/>
          </p:nvPr>
        </p:nvSpPr>
        <p:spPr>
          <a:xfrm>
            <a:off x="311700" y="1152475"/>
            <a:ext cx="85206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In the past four years since ChatGPT was widely released (November 2022), there have been two strands of development:</a:t>
            </a:r>
            <a:endParaRPr/>
          </a:p>
          <a:p>
            <a:pPr indent="-342900" lvl="0" marL="457200" rtl="0" algn="l">
              <a:spcBef>
                <a:spcPts val="1200"/>
              </a:spcBef>
              <a:spcAft>
                <a:spcPts val="0"/>
              </a:spcAft>
              <a:buSzPts val="1800"/>
              <a:buChar char="●"/>
            </a:pPr>
            <a:r>
              <a:rPr lang="en"/>
              <a:t>Making better models (bigger models, better curation of datasets, better alignment with human preferences, multimodal, tuning for the following…)</a:t>
            </a:r>
            <a:br>
              <a:rPr lang="en"/>
            </a:br>
            <a:endParaRPr/>
          </a:p>
          <a:p>
            <a:pPr indent="-342900" lvl="0" marL="457200" rtl="0" algn="l">
              <a:spcBef>
                <a:spcPts val="0"/>
              </a:spcBef>
              <a:spcAft>
                <a:spcPts val="0"/>
              </a:spcAft>
              <a:buSzPts val="1800"/>
              <a:buChar char="●"/>
            </a:pPr>
            <a:r>
              <a:rPr lang="en"/>
              <a:t>Plugging LLM blocks into conventional code that manipulates transcripts</a:t>
            </a:r>
            <a:endParaRPr/>
          </a:p>
          <a:p>
            <a:pPr indent="-317500" lvl="1" marL="914400" rtl="0" algn="l">
              <a:spcBef>
                <a:spcPts val="0"/>
              </a:spcBef>
              <a:spcAft>
                <a:spcPts val="0"/>
              </a:spcAft>
              <a:buSzPts val="1400"/>
              <a:buChar char="○"/>
            </a:pPr>
            <a:r>
              <a:rPr lang="en"/>
              <a:t>Tools, reasoning, RAG-based search engines, memory systems, statistical workflows, agents</a:t>
            </a:r>
            <a:endParaRPr/>
          </a:p>
          <a:p>
            <a:pPr indent="0" lvl="0" marL="0" rtl="0" algn="l">
              <a:spcBef>
                <a:spcPts val="1200"/>
              </a:spcBef>
              <a:spcAft>
                <a:spcPts val="1200"/>
              </a:spcAft>
              <a:buNone/>
            </a:pPr>
            <a:br>
              <a:rPr lang="en" sz="1200"/>
            </a:br>
            <a:r>
              <a:rPr lang="en"/>
              <a:t>You need to be in an AI lab (e.g. OpenAI, Anthropic, Google) to</a:t>
            </a:r>
            <a:br>
              <a:rPr lang="en"/>
            </a:br>
            <a:r>
              <a:rPr lang="en"/>
              <a:t>improve the LLMs themselves, but there are lots of opportunities</a:t>
            </a:r>
            <a:br>
              <a:rPr lang="en"/>
            </a:br>
            <a:r>
              <a:rPr lang="en"/>
              <a:t>to plug an LLM into a larger system or build systems around LLMs.</a:t>
            </a:r>
            <a:endParaRPr/>
          </a:p>
        </p:txBody>
      </p:sp>
      <p:pic>
        <p:nvPicPr>
          <p:cNvPr id="556" name="Google Shape;556;p77" title="Block_of_Redstone_JE2_BE2.png"/>
          <p:cNvPicPr preferRelativeResize="0"/>
          <p:nvPr/>
        </p:nvPicPr>
        <p:blipFill>
          <a:blip r:embed="rId3">
            <a:alphaModFix/>
          </a:blip>
          <a:stretch>
            <a:fillRect/>
          </a:stretch>
        </p:blipFill>
        <p:spPr>
          <a:xfrm>
            <a:off x="7293725" y="3618500"/>
            <a:ext cx="1364125" cy="1364125"/>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0" name="Shape 560"/>
        <p:cNvGrpSpPr/>
        <p:nvPr/>
      </p:nvGrpSpPr>
      <p:grpSpPr>
        <a:xfrm>
          <a:off x="0" y="0"/>
          <a:ext cx="0" cy="0"/>
          <a:chOff x="0" y="0"/>
          <a:chExt cx="0" cy="0"/>
        </a:xfrm>
      </p:grpSpPr>
      <p:sp>
        <p:nvSpPr>
          <p:cNvPr id="561" name="Google Shape;561;p78"/>
          <p:cNvSpPr txBox="1"/>
          <p:nvPr>
            <p:ph type="title"/>
          </p:nvPr>
        </p:nvSpPr>
        <p:spPr>
          <a:xfrm>
            <a:off x="311700" y="1728125"/>
            <a:ext cx="8520600" cy="16872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3600"/>
              <a:buNone/>
            </a:pPr>
            <a:r>
              <a:rPr lang="en" sz="4000"/>
              <a:t>Terminology</a:t>
            </a:r>
            <a:endParaRPr sz="4000"/>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5" name="Shape 565"/>
        <p:cNvGrpSpPr/>
        <p:nvPr/>
      </p:nvGrpSpPr>
      <p:grpSpPr>
        <a:xfrm>
          <a:off x="0" y="0"/>
          <a:ext cx="0" cy="0"/>
          <a:chOff x="0" y="0"/>
          <a:chExt cx="0" cy="0"/>
        </a:xfrm>
      </p:grpSpPr>
      <p:sp>
        <p:nvSpPr>
          <p:cNvPr id="566" name="Google Shape;566;p7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Token: an LLM's unit of text</a:t>
            </a:r>
            <a:endParaRPr/>
          </a:p>
        </p:txBody>
      </p:sp>
      <p:sp>
        <p:nvSpPr>
          <p:cNvPr id="567" name="Google Shape;567;p79"/>
          <p:cNvSpPr txBox="1"/>
          <p:nvPr>
            <p:ph idx="1" type="body"/>
          </p:nvPr>
        </p:nvSpPr>
        <p:spPr>
          <a:xfrm>
            <a:off x="311700" y="1152475"/>
            <a:ext cx="31413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Neural networks operate on numbers and vectors (arrays of numbers).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Strings of text are converted into arrays of numbers before computing an autocompletion.</a:t>
            </a:r>
            <a:endParaRPr/>
          </a:p>
          <a:p>
            <a:pPr indent="0" lvl="0" marL="0" rtl="0" algn="l">
              <a:spcBef>
                <a:spcPts val="0"/>
              </a:spcBef>
              <a:spcAft>
                <a:spcPts val="0"/>
              </a:spcAft>
              <a:buNone/>
            </a:pPr>
            <a:r>
              <a:t/>
            </a:r>
            <a:endParaRPr/>
          </a:p>
          <a:p>
            <a:pPr indent="0" lvl="0" marL="0" rtl="0" algn="l">
              <a:spcBef>
                <a:spcPts val="0"/>
              </a:spcBef>
              <a:spcAft>
                <a:spcPts val="0"/>
              </a:spcAft>
              <a:buNone/>
            </a:pPr>
            <a:br>
              <a:rPr lang="en"/>
            </a:br>
            <a:br>
              <a:rPr lang="en"/>
            </a:b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b="1">
              <a:solidFill>
                <a:schemeClr val="accent1"/>
              </a:solidFill>
            </a:endParaRPr>
          </a:p>
        </p:txBody>
      </p:sp>
      <p:sp>
        <p:nvSpPr>
          <p:cNvPr id="568" name="Google Shape;568;p79"/>
          <p:cNvSpPr txBox="1"/>
          <p:nvPr>
            <p:ph idx="2" type="body"/>
          </p:nvPr>
        </p:nvSpPr>
        <p:spPr>
          <a:xfrm>
            <a:off x="3507425" y="1152475"/>
            <a:ext cx="5325000" cy="3416400"/>
          </a:xfrm>
          <a:prstGeom prst="rect">
            <a:avLst/>
          </a:prstGeom>
        </p:spPr>
        <p:txBody>
          <a:bodyPr anchorCtr="0" anchor="t" bIns="91425" lIns="91425" spcFirstLastPara="1" rIns="91425" wrap="square" tIns="91425">
            <a:normAutofit fontScale="62500" lnSpcReduction="10000"/>
          </a:bodyPr>
          <a:lstStyle/>
          <a:p>
            <a:pPr indent="0" lvl="0" marL="0" rtl="0" algn="l">
              <a:spcBef>
                <a:spcPts val="0"/>
              </a:spcBef>
              <a:spcAft>
                <a:spcPts val="0"/>
              </a:spcAft>
              <a:buNone/>
            </a:pPr>
            <a:r>
              <a:rPr lang="en">
                <a:latin typeface="Roboto Mono"/>
                <a:ea typeface="Roboto Mono"/>
                <a:cs typeface="Roboto Mono"/>
                <a:sym typeface="Roboto Mono"/>
              </a:rPr>
              <a:t>&gt;&gt;&gt; import tiktoken</a:t>
            </a:r>
            <a:endParaRPr>
              <a:latin typeface="Roboto Mono"/>
              <a:ea typeface="Roboto Mono"/>
              <a:cs typeface="Roboto Mono"/>
              <a:sym typeface="Roboto Mono"/>
            </a:endParaRPr>
          </a:p>
          <a:p>
            <a:pPr indent="0" lvl="0" marL="0" rtl="0" algn="l">
              <a:spcBef>
                <a:spcPts val="0"/>
              </a:spcBef>
              <a:spcAft>
                <a:spcPts val="0"/>
              </a:spcAft>
              <a:buNone/>
            </a:pPr>
            <a:r>
              <a:rPr lang="en">
                <a:latin typeface="Roboto Mono"/>
                <a:ea typeface="Roboto Mono"/>
                <a:cs typeface="Roboto Mono"/>
                <a:sym typeface="Roboto Mono"/>
              </a:rPr>
              <a:t>&gt;&gt;&gt; encoding = tiktoken.encoding_for_model("gpt-5")</a:t>
            </a:r>
            <a:endParaRPr>
              <a:latin typeface="Roboto Mono"/>
              <a:ea typeface="Roboto Mono"/>
              <a:cs typeface="Roboto Mono"/>
              <a:sym typeface="Roboto Mono"/>
            </a:endParaRPr>
          </a:p>
          <a:p>
            <a:pPr indent="0" lvl="0" marL="0" rtl="0" algn="l">
              <a:spcBef>
                <a:spcPts val="0"/>
              </a:spcBef>
              <a:spcAft>
                <a:spcPts val="0"/>
              </a:spcAft>
              <a:buNone/>
            </a:pPr>
            <a:r>
              <a:rPr lang="en">
                <a:latin typeface="Roboto Mono"/>
                <a:ea typeface="Roboto Mono"/>
                <a:cs typeface="Roboto Mono"/>
                <a:sym typeface="Roboto Mono"/>
              </a:rPr>
              <a:t>&gt;&gt;&gt; encoded = encoding.encode("How many 'r's in the word 'strawberry'?")</a:t>
            </a:r>
            <a:endParaRPr>
              <a:latin typeface="Roboto Mono"/>
              <a:ea typeface="Roboto Mono"/>
              <a:cs typeface="Roboto Mono"/>
              <a:sym typeface="Roboto Mono"/>
            </a:endParaRPr>
          </a:p>
          <a:p>
            <a:pPr indent="0" lvl="0" marL="0" rtl="0" algn="l">
              <a:spcBef>
                <a:spcPts val="0"/>
              </a:spcBef>
              <a:spcAft>
                <a:spcPts val="0"/>
              </a:spcAft>
              <a:buNone/>
            </a:pPr>
            <a:r>
              <a:rPr lang="en">
                <a:latin typeface="Roboto Mono"/>
                <a:ea typeface="Roboto Mono"/>
                <a:cs typeface="Roboto Mono"/>
                <a:sym typeface="Roboto Mono"/>
              </a:rPr>
              <a:t>&gt;&gt;&gt; encoded</a:t>
            </a:r>
            <a:endParaRPr>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[5299, 1991, 461, 81, 885, 306, 290, 2195, 461, 302, 1618, 19772, 127222]</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latin typeface="Roboto Mono"/>
                <a:ea typeface="Roboto Mono"/>
                <a:cs typeface="Roboto Mono"/>
                <a:sym typeface="Roboto Mono"/>
              </a:rPr>
              <a:t>&gt;&gt;&gt; encoding.decode(encoded)</a:t>
            </a:r>
            <a:endParaRPr>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"How many 'r's in the word 'strawberry'?"</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latin typeface="Roboto Mono"/>
                <a:ea typeface="Roboto Mono"/>
                <a:cs typeface="Roboto Mono"/>
                <a:sym typeface="Roboto Mono"/>
              </a:rPr>
              <a:t>&gt;&gt;&gt; for token in encoded:</a:t>
            </a:r>
            <a:endParaRPr>
              <a:latin typeface="Roboto Mono"/>
              <a:ea typeface="Roboto Mono"/>
              <a:cs typeface="Roboto Mono"/>
              <a:sym typeface="Roboto Mono"/>
            </a:endParaRPr>
          </a:p>
          <a:p>
            <a:pPr indent="0" lvl="0" marL="0" rtl="0" algn="l">
              <a:spcBef>
                <a:spcPts val="0"/>
              </a:spcBef>
              <a:spcAft>
                <a:spcPts val="0"/>
              </a:spcAft>
              <a:buNone/>
            </a:pPr>
            <a:r>
              <a:rPr lang="en">
                <a:latin typeface="Roboto Mono"/>
                <a:ea typeface="Roboto Mono"/>
                <a:cs typeface="Roboto Mono"/>
                <a:sym typeface="Roboto Mono"/>
              </a:rPr>
              <a:t>...     print(encoding.decode([token]))</a:t>
            </a:r>
            <a:endParaRPr>
              <a:latin typeface="Roboto Mono"/>
              <a:ea typeface="Roboto Mono"/>
              <a:cs typeface="Roboto Mono"/>
              <a:sym typeface="Roboto Mono"/>
            </a:endParaRPr>
          </a:p>
          <a:p>
            <a:pPr indent="0" lvl="0" marL="0" rtl="0" algn="l">
              <a:spcBef>
                <a:spcPts val="0"/>
              </a:spcBef>
              <a:spcAft>
                <a:spcPts val="0"/>
              </a:spcAft>
              <a:buNone/>
            </a:pPr>
            <a:r>
              <a:rPr lang="en">
                <a:latin typeface="Roboto Mono"/>
                <a:ea typeface="Roboto Mono"/>
                <a:cs typeface="Roboto Mono"/>
                <a:sym typeface="Roboto Mono"/>
              </a:rPr>
              <a:t>...     </a:t>
            </a:r>
            <a:endParaRPr>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How</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 many</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 '</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r</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's</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 in</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 the</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 word</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 '</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st</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raw</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berry</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a:t>
            </a:r>
            <a:endParaRPr>
              <a:highlight>
                <a:schemeClr val="lt2"/>
              </a:highlight>
              <a:latin typeface="Roboto Mono"/>
              <a:ea typeface="Roboto Mono"/>
              <a:cs typeface="Roboto Mono"/>
              <a:sym typeface="Roboto Mono"/>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2" name="Shape 572"/>
        <p:cNvGrpSpPr/>
        <p:nvPr/>
      </p:nvGrpSpPr>
      <p:grpSpPr>
        <a:xfrm>
          <a:off x="0" y="0"/>
          <a:ext cx="0" cy="0"/>
          <a:chOff x="0" y="0"/>
          <a:chExt cx="0" cy="0"/>
        </a:xfrm>
      </p:grpSpPr>
      <p:sp>
        <p:nvSpPr>
          <p:cNvPr id="573" name="Google Shape;573;p8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Token: an LLM's unit of text</a:t>
            </a:r>
            <a:endParaRPr/>
          </a:p>
        </p:txBody>
      </p:sp>
      <p:sp>
        <p:nvSpPr>
          <p:cNvPr id="574" name="Google Shape;574;p80"/>
          <p:cNvSpPr txBox="1"/>
          <p:nvPr>
            <p:ph idx="1" type="body"/>
          </p:nvPr>
        </p:nvSpPr>
        <p:spPr>
          <a:xfrm>
            <a:off x="311700" y="1152475"/>
            <a:ext cx="31413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Neural networks operate on numbers and vectors (arrays of numbers).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Strings of text are converted into arrays of numbers before computing an autocompletion.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These numbers are called "tokens" and they sometimes encode single words, sometimes a little less.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On average, 1 token ≈ 0.75 words.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b="1">
              <a:solidFill>
                <a:schemeClr val="accent1"/>
              </a:solidFill>
            </a:endParaRPr>
          </a:p>
        </p:txBody>
      </p:sp>
      <p:sp>
        <p:nvSpPr>
          <p:cNvPr id="575" name="Google Shape;575;p80"/>
          <p:cNvSpPr txBox="1"/>
          <p:nvPr>
            <p:ph idx="2" type="body"/>
          </p:nvPr>
        </p:nvSpPr>
        <p:spPr>
          <a:xfrm>
            <a:off x="3507425" y="1152475"/>
            <a:ext cx="5325000" cy="3416400"/>
          </a:xfrm>
          <a:prstGeom prst="rect">
            <a:avLst/>
          </a:prstGeom>
        </p:spPr>
        <p:txBody>
          <a:bodyPr anchorCtr="0" anchor="t" bIns="91425" lIns="91425" spcFirstLastPara="1" rIns="91425" wrap="square" tIns="91425">
            <a:normAutofit fontScale="62500" lnSpcReduction="10000"/>
          </a:bodyPr>
          <a:lstStyle/>
          <a:p>
            <a:pPr indent="0" lvl="0" marL="0" rtl="0" algn="l">
              <a:spcBef>
                <a:spcPts val="0"/>
              </a:spcBef>
              <a:spcAft>
                <a:spcPts val="0"/>
              </a:spcAft>
              <a:buNone/>
            </a:pPr>
            <a:r>
              <a:rPr lang="en">
                <a:latin typeface="Roboto Mono"/>
                <a:ea typeface="Roboto Mono"/>
                <a:cs typeface="Roboto Mono"/>
                <a:sym typeface="Roboto Mono"/>
              </a:rPr>
              <a:t>&gt;&gt;&gt; import tiktoken</a:t>
            </a:r>
            <a:endParaRPr>
              <a:latin typeface="Roboto Mono"/>
              <a:ea typeface="Roboto Mono"/>
              <a:cs typeface="Roboto Mono"/>
              <a:sym typeface="Roboto Mono"/>
            </a:endParaRPr>
          </a:p>
          <a:p>
            <a:pPr indent="0" lvl="0" marL="0" rtl="0" algn="l">
              <a:spcBef>
                <a:spcPts val="0"/>
              </a:spcBef>
              <a:spcAft>
                <a:spcPts val="0"/>
              </a:spcAft>
              <a:buNone/>
            </a:pPr>
            <a:r>
              <a:rPr lang="en">
                <a:latin typeface="Roboto Mono"/>
                <a:ea typeface="Roboto Mono"/>
                <a:cs typeface="Roboto Mono"/>
                <a:sym typeface="Roboto Mono"/>
              </a:rPr>
              <a:t>&gt;&gt;&gt; encoding = tiktoken.encoding_for_model("gpt-5")</a:t>
            </a:r>
            <a:endParaRPr>
              <a:latin typeface="Roboto Mono"/>
              <a:ea typeface="Roboto Mono"/>
              <a:cs typeface="Roboto Mono"/>
              <a:sym typeface="Roboto Mono"/>
            </a:endParaRPr>
          </a:p>
          <a:p>
            <a:pPr indent="0" lvl="0" marL="0" rtl="0" algn="l">
              <a:spcBef>
                <a:spcPts val="0"/>
              </a:spcBef>
              <a:spcAft>
                <a:spcPts val="0"/>
              </a:spcAft>
              <a:buNone/>
            </a:pPr>
            <a:r>
              <a:rPr lang="en">
                <a:latin typeface="Roboto Mono"/>
                <a:ea typeface="Roboto Mono"/>
                <a:cs typeface="Roboto Mono"/>
                <a:sym typeface="Roboto Mono"/>
              </a:rPr>
              <a:t>&gt;&gt;&gt; encoded = encoding.encode("How many 'r's in the word 'strawberry'?")</a:t>
            </a:r>
            <a:endParaRPr>
              <a:latin typeface="Roboto Mono"/>
              <a:ea typeface="Roboto Mono"/>
              <a:cs typeface="Roboto Mono"/>
              <a:sym typeface="Roboto Mono"/>
            </a:endParaRPr>
          </a:p>
          <a:p>
            <a:pPr indent="0" lvl="0" marL="0" rtl="0" algn="l">
              <a:spcBef>
                <a:spcPts val="0"/>
              </a:spcBef>
              <a:spcAft>
                <a:spcPts val="0"/>
              </a:spcAft>
              <a:buNone/>
            </a:pPr>
            <a:r>
              <a:rPr lang="en">
                <a:latin typeface="Roboto Mono"/>
                <a:ea typeface="Roboto Mono"/>
                <a:cs typeface="Roboto Mono"/>
                <a:sym typeface="Roboto Mono"/>
              </a:rPr>
              <a:t>&gt;&gt;&gt; encoded</a:t>
            </a:r>
            <a:endParaRPr>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[5299, 1991, 461, 81, 885, 306, 290, 2195, 461, 302, 1618, 19772, 127222]</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latin typeface="Roboto Mono"/>
                <a:ea typeface="Roboto Mono"/>
                <a:cs typeface="Roboto Mono"/>
                <a:sym typeface="Roboto Mono"/>
              </a:rPr>
              <a:t>&gt;&gt;&gt; encoding.decode(encoded)</a:t>
            </a:r>
            <a:endParaRPr>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"How many 'r's in the word 'strawberry'?"</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latin typeface="Roboto Mono"/>
                <a:ea typeface="Roboto Mono"/>
                <a:cs typeface="Roboto Mono"/>
                <a:sym typeface="Roboto Mono"/>
              </a:rPr>
              <a:t>&gt;&gt;&gt; for token in encoded:</a:t>
            </a:r>
            <a:endParaRPr>
              <a:latin typeface="Roboto Mono"/>
              <a:ea typeface="Roboto Mono"/>
              <a:cs typeface="Roboto Mono"/>
              <a:sym typeface="Roboto Mono"/>
            </a:endParaRPr>
          </a:p>
          <a:p>
            <a:pPr indent="0" lvl="0" marL="0" rtl="0" algn="l">
              <a:spcBef>
                <a:spcPts val="0"/>
              </a:spcBef>
              <a:spcAft>
                <a:spcPts val="0"/>
              </a:spcAft>
              <a:buNone/>
            </a:pPr>
            <a:r>
              <a:rPr lang="en">
                <a:latin typeface="Roboto Mono"/>
                <a:ea typeface="Roboto Mono"/>
                <a:cs typeface="Roboto Mono"/>
                <a:sym typeface="Roboto Mono"/>
              </a:rPr>
              <a:t>...     print(encoding.decode([token]))</a:t>
            </a:r>
            <a:endParaRPr>
              <a:latin typeface="Roboto Mono"/>
              <a:ea typeface="Roboto Mono"/>
              <a:cs typeface="Roboto Mono"/>
              <a:sym typeface="Roboto Mono"/>
            </a:endParaRPr>
          </a:p>
          <a:p>
            <a:pPr indent="0" lvl="0" marL="0" rtl="0" algn="l">
              <a:spcBef>
                <a:spcPts val="0"/>
              </a:spcBef>
              <a:spcAft>
                <a:spcPts val="0"/>
              </a:spcAft>
              <a:buNone/>
            </a:pPr>
            <a:r>
              <a:rPr lang="en">
                <a:latin typeface="Roboto Mono"/>
                <a:ea typeface="Roboto Mono"/>
                <a:cs typeface="Roboto Mono"/>
                <a:sym typeface="Roboto Mono"/>
              </a:rPr>
              <a:t>...     </a:t>
            </a:r>
            <a:endParaRPr>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How</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 many</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 '</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r</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's</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 in</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 the</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 word</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 '</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st</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raw</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berry</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a:t>
            </a:r>
            <a:endParaRPr>
              <a:highlight>
                <a:schemeClr val="lt2"/>
              </a:highlight>
              <a:latin typeface="Roboto Mono"/>
              <a:ea typeface="Roboto Mono"/>
              <a:cs typeface="Roboto Mono"/>
              <a:sym typeface="Roboto Mono"/>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9" name="Shape 579"/>
        <p:cNvGrpSpPr/>
        <p:nvPr/>
      </p:nvGrpSpPr>
      <p:grpSpPr>
        <a:xfrm>
          <a:off x="0" y="0"/>
          <a:ext cx="0" cy="0"/>
          <a:chOff x="0" y="0"/>
          <a:chExt cx="0" cy="0"/>
        </a:xfrm>
      </p:grpSpPr>
      <p:sp>
        <p:nvSpPr>
          <p:cNvPr id="580" name="Google Shape;580;p8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Token: an LLM's unit of text</a:t>
            </a:r>
            <a:endParaRPr/>
          </a:p>
        </p:txBody>
      </p:sp>
      <p:sp>
        <p:nvSpPr>
          <p:cNvPr id="581" name="Google Shape;581;p81"/>
          <p:cNvSpPr txBox="1"/>
          <p:nvPr>
            <p:ph idx="1" type="body"/>
          </p:nvPr>
        </p:nvSpPr>
        <p:spPr>
          <a:xfrm>
            <a:off x="311700" y="1152475"/>
            <a:ext cx="31413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Neural networks operate on numbers and vectors (arrays of numbers).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Strings of text are converted into arrays of numbers before computing an autocompletion.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These numbers are called "tokens" and they sometimes encode single words, sometimes a little less.</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On average, 1 token ≈ 0.75 words.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
                <a:solidFill>
                  <a:schemeClr val="accent1"/>
                </a:solidFill>
              </a:rPr>
              <a:t>Note: you're charged per token!</a:t>
            </a:r>
            <a:endParaRPr b="1">
              <a:solidFill>
                <a:schemeClr val="accent1"/>
              </a:solidFill>
            </a:endParaRPr>
          </a:p>
        </p:txBody>
      </p:sp>
      <p:sp>
        <p:nvSpPr>
          <p:cNvPr id="582" name="Google Shape;582;p81"/>
          <p:cNvSpPr txBox="1"/>
          <p:nvPr>
            <p:ph idx="2" type="body"/>
          </p:nvPr>
        </p:nvSpPr>
        <p:spPr>
          <a:xfrm>
            <a:off x="3507425" y="1152475"/>
            <a:ext cx="5325000" cy="3416400"/>
          </a:xfrm>
          <a:prstGeom prst="rect">
            <a:avLst/>
          </a:prstGeom>
        </p:spPr>
        <p:txBody>
          <a:bodyPr anchorCtr="0" anchor="t" bIns="91425" lIns="91425" spcFirstLastPara="1" rIns="91425" wrap="square" tIns="91425">
            <a:normAutofit fontScale="62500" lnSpcReduction="10000"/>
          </a:bodyPr>
          <a:lstStyle/>
          <a:p>
            <a:pPr indent="0" lvl="0" marL="0" rtl="0" algn="l">
              <a:spcBef>
                <a:spcPts val="0"/>
              </a:spcBef>
              <a:spcAft>
                <a:spcPts val="0"/>
              </a:spcAft>
              <a:buNone/>
            </a:pPr>
            <a:r>
              <a:rPr lang="en">
                <a:latin typeface="Roboto Mono"/>
                <a:ea typeface="Roboto Mono"/>
                <a:cs typeface="Roboto Mono"/>
                <a:sym typeface="Roboto Mono"/>
              </a:rPr>
              <a:t>&gt;&gt;&gt; import tiktoken</a:t>
            </a:r>
            <a:endParaRPr>
              <a:latin typeface="Roboto Mono"/>
              <a:ea typeface="Roboto Mono"/>
              <a:cs typeface="Roboto Mono"/>
              <a:sym typeface="Roboto Mono"/>
            </a:endParaRPr>
          </a:p>
          <a:p>
            <a:pPr indent="0" lvl="0" marL="0" rtl="0" algn="l">
              <a:spcBef>
                <a:spcPts val="0"/>
              </a:spcBef>
              <a:spcAft>
                <a:spcPts val="0"/>
              </a:spcAft>
              <a:buNone/>
            </a:pPr>
            <a:r>
              <a:rPr lang="en">
                <a:latin typeface="Roboto Mono"/>
                <a:ea typeface="Roboto Mono"/>
                <a:cs typeface="Roboto Mono"/>
                <a:sym typeface="Roboto Mono"/>
              </a:rPr>
              <a:t>&gt;&gt;&gt; encoding = tiktoken.encoding_for_model("gpt-5")</a:t>
            </a:r>
            <a:endParaRPr>
              <a:latin typeface="Roboto Mono"/>
              <a:ea typeface="Roboto Mono"/>
              <a:cs typeface="Roboto Mono"/>
              <a:sym typeface="Roboto Mono"/>
            </a:endParaRPr>
          </a:p>
          <a:p>
            <a:pPr indent="0" lvl="0" marL="0" rtl="0" algn="l">
              <a:spcBef>
                <a:spcPts val="0"/>
              </a:spcBef>
              <a:spcAft>
                <a:spcPts val="0"/>
              </a:spcAft>
              <a:buNone/>
            </a:pPr>
            <a:r>
              <a:rPr lang="en">
                <a:latin typeface="Roboto Mono"/>
                <a:ea typeface="Roboto Mono"/>
                <a:cs typeface="Roboto Mono"/>
                <a:sym typeface="Roboto Mono"/>
              </a:rPr>
              <a:t>&gt;&gt;&gt; encoded = encoding.encode("How many 'r's in the word 'strawberry'?")</a:t>
            </a:r>
            <a:endParaRPr>
              <a:latin typeface="Roboto Mono"/>
              <a:ea typeface="Roboto Mono"/>
              <a:cs typeface="Roboto Mono"/>
              <a:sym typeface="Roboto Mono"/>
            </a:endParaRPr>
          </a:p>
          <a:p>
            <a:pPr indent="0" lvl="0" marL="0" rtl="0" algn="l">
              <a:spcBef>
                <a:spcPts val="0"/>
              </a:spcBef>
              <a:spcAft>
                <a:spcPts val="0"/>
              </a:spcAft>
              <a:buNone/>
            </a:pPr>
            <a:r>
              <a:rPr lang="en">
                <a:latin typeface="Roboto Mono"/>
                <a:ea typeface="Roboto Mono"/>
                <a:cs typeface="Roboto Mono"/>
                <a:sym typeface="Roboto Mono"/>
              </a:rPr>
              <a:t>&gt;&gt;&gt; encoded</a:t>
            </a:r>
            <a:endParaRPr>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[5299, 1991, 461, 81, 885, 306, 290, 2195, 461, 302, 1618, 19772, 127222]</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latin typeface="Roboto Mono"/>
                <a:ea typeface="Roboto Mono"/>
                <a:cs typeface="Roboto Mono"/>
                <a:sym typeface="Roboto Mono"/>
              </a:rPr>
              <a:t>&gt;&gt;&gt; encoding.decode(encoded)</a:t>
            </a:r>
            <a:endParaRPr>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"How many 'r's in the word 'strawberry'?"</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latin typeface="Roboto Mono"/>
                <a:ea typeface="Roboto Mono"/>
                <a:cs typeface="Roboto Mono"/>
                <a:sym typeface="Roboto Mono"/>
              </a:rPr>
              <a:t>&gt;&gt;&gt; for token in encoded:</a:t>
            </a:r>
            <a:endParaRPr>
              <a:latin typeface="Roboto Mono"/>
              <a:ea typeface="Roboto Mono"/>
              <a:cs typeface="Roboto Mono"/>
              <a:sym typeface="Roboto Mono"/>
            </a:endParaRPr>
          </a:p>
          <a:p>
            <a:pPr indent="0" lvl="0" marL="0" rtl="0" algn="l">
              <a:spcBef>
                <a:spcPts val="0"/>
              </a:spcBef>
              <a:spcAft>
                <a:spcPts val="0"/>
              </a:spcAft>
              <a:buNone/>
            </a:pPr>
            <a:r>
              <a:rPr lang="en">
                <a:latin typeface="Roboto Mono"/>
                <a:ea typeface="Roboto Mono"/>
                <a:cs typeface="Roboto Mono"/>
                <a:sym typeface="Roboto Mono"/>
              </a:rPr>
              <a:t>...     print(encoding.decode([token]))</a:t>
            </a:r>
            <a:endParaRPr>
              <a:latin typeface="Roboto Mono"/>
              <a:ea typeface="Roboto Mono"/>
              <a:cs typeface="Roboto Mono"/>
              <a:sym typeface="Roboto Mono"/>
            </a:endParaRPr>
          </a:p>
          <a:p>
            <a:pPr indent="0" lvl="0" marL="0" rtl="0" algn="l">
              <a:spcBef>
                <a:spcPts val="0"/>
              </a:spcBef>
              <a:spcAft>
                <a:spcPts val="0"/>
              </a:spcAft>
              <a:buNone/>
            </a:pPr>
            <a:r>
              <a:rPr lang="en">
                <a:latin typeface="Roboto Mono"/>
                <a:ea typeface="Roboto Mono"/>
                <a:cs typeface="Roboto Mono"/>
                <a:sym typeface="Roboto Mono"/>
              </a:rPr>
              <a:t>...     </a:t>
            </a:r>
            <a:endParaRPr>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How</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 many</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 '</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r</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's</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 in</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 the</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 word</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 '</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st</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raw</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berry</a:t>
            </a:r>
            <a:endParaRPr>
              <a:highlight>
                <a:schemeClr val="lt2"/>
              </a:highlight>
              <a:latin typeface="Roboto Mono"/>
              <a:ea typeface="Roboto Mono"/>
              <a:cs typeface="Roboto Mono"/>
              <a:sym typeface="Roboto Mono"/>
            </a:endParaRPr>
          </a:p>
          <a:p>
            <a:pPr indent="0" lvl="0" marL="0" rtl="0" algn="l">
              <a:spcBef>
                <a:spcPts val="0"/>
              </a:spcBef>
              <a:spcAft>
                <a:spcPts val="0"/>
              </a:spcAft>
              <a:buNone/>
            </a:pPr>
            <a:r>
              <a:rPr lang="en">
                <a:highlight>
                  <a:schemeClr val="lt2"/>
                </a:highlight>
                <a:latin typeface="Roboto Mono"/>
                <a:ea typeface="Roboto Mono"/>
                <a:cs typeface="Roboto Mono"/>
                <a:sym typeface="Roboto Mono"/>
              </a:rPr>
              <a:t>'?</a:t>
            </a:r>
            <a:endParaRPr>
              <a:highlight>
                <a:schemeClr val="lt2"/>
              </a:highlight>
              <a:latin typeface="Roboto Mono"/>
              <a:ea typeface="Roboto Mono"/>
              <a:cs typeface="Roboto Mono"/>
              <a:sym typeface="Roboto Mono"/>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6" name="Shape 586"/>
        <p:cNvGrpSpPr/>
        <p:nvPr/>
      </p:nvGrpSpPr>
      <p:grpSpPr>
        <a:xfrm>
          <a:off x="0" y="0"/>
          <a:ext cx="0" cy="0"/>
          <a:chOff x="0" y="0"/>
          <a:chExt cx="0" cy="0"/>
        </a:xfrm>
      </p:grpSpPr>
      <p:sp>
        <p:nvSpPr>
          <p:cNvPr id="587" name="Google Shape;587;p8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Non-text tokens</a:t>
            </a:r>
            <a:endParaRPr/>
          </a:p>
        </p:txBody>
      </p:sp>
      <p:sp>
        <p:nvSpPr>
          <p:cNvPr id="588" name="Google Shape;588;p8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1000"/>
              </a:spcBef>
              <a:spcAft>
                <a:spcPts val="0"/>
              </a:spcAft>
              <a:buSzPts val="1800"/>
              <a:buChar char="●"/>
            </a:pPr>
            <a:r>
              <a:rPr lang="en"/>
              <a:t>"Message complete"</a:t>
            </a:r>
            <a:r>
              <a:rPr lang="en"/>
              <a:t> (how an ordinary chatbot knows when to stop talking)</a:t>
            </a:r>
            <a:endParaRPr/>
          </a:p>
          <a:p>
            <a:pPr indent="-342900" lvl="0" marL="457200" rtl="0" algn="l">
              <a:spcBef>
                <a:spcPts val="1000"/>
              </a:spcBef>
              <a:spcAft>
                <a:spcPts val="0"/>
              </a:spcAft>
              <a:buSzPts val="1800"/>
              <a:buChar char="●"/>
            </a:pPr>
            <a:r>
              <a:rPr lang="en"/>
              <a:t>Roles: "begin user message", "begin bot message"</a:t>
            </a:r>
            <a:endParaRPr/>
          </a:p>
          <a:p>
            <a:pPr indent="-342900" lvl="0" marL="457200" rtl="0" algn="l">
              <a:spcBef>
                <a:spcPts val="1000"/>
              </a:spcBef>
              <a:spcAft>
                <a:spcPts val="0"/>
              </a:spcAft>
              <a:buSzPts val="1800"/>
              <a:buChar char="●"/>
            </a:pPr>
            <a:r>
              <a:rPr lang="en"/>
              <a:t>Switch between messages and tool use/reasoning transcripts</a:t>
            </a:r>
            <a:endParaRPr/>
          </a:p>
          <a:p>
            <a:pPr indent="-342900" lvl="0" marL="457200" rtl="0" algn="l">
              <a:spcBef>
                <a:spcPts val="1000"/>
              </a:spcBef>
              <a:spcAft>
                <a:spcPts val="1000"/>
              </a:spcAft>
              <a:buSzPts val="1800"/>
              <a:buChar char="●"/>
            </a:pPr>
            <a:r>
              <a:rPr lang="en"/>
              <a:t>Multimodal models turn pieces of images, video, and audio into tokens to use alongside the text tokens</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2" name="Shape 592"/>
        <p:cNvGrpSpPr/>
        <p:nvPr/>
      </p:nvGrpSpPr>
      <p:grpSpPr>
        <a:xfrm>
          <a:off x="0" y="0"/>
          <a:ext cx="0" cy="0"/>
          <a:chOff x="0" y="0"/>
          <a:chExt cx="0" cy="0"/>
        </a:xfrm>
      </p:grpSpPr>
      <p:sp>
        <p:nvSpPr>
          <p:cNvPr id="593" name="Google Shape;593;p8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Message: a unit of the "stage directions" transcript</a:t>
            </a:r>
            <a:endParaRPr/>
          </a:p>
        </p:txBody>
      </p:sp>
      <p:sp>
        <p:nvSpPr>
          <p:cNvPr id="594" name="Google Shape;594;p83"/>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p>
            <a:pPr indent="0" lvl="0" marL="0" rtl="0" algn="l">
              <a:lnSpc>
                <a:spcPct val="95000"/>
              </a:lnSpc>
              <a:spcBef>
                <a:spcPts val="0"/>
              </a:spcBef>
              <a:spcAft>
                <a:spcPts val="0"/>
              </a:spcAft>
              <a:buSzPts val="853"/>
              <a:buNone/>
            </a:pPr>
            <a:r>
              <a:rPr b="1" lang="en" sz="1800"/>
              <a:t>Autocompleting raw text:</a:t>
            </a:r>
            <a:endParaRPr b="1" sz="1800"/>
          </a:p>
          <a:p>
            <a:pPr indent="0" lvl="0" marL="0" rtl="0" algn="l">
              <a:lnSpc>
                <a:spcPct val="95000"/>
              </a:lnSpc>
              <a:spcBef>
                <a:spcPts val="0"/>
              </a:spcBef>
              <a:spcAft>
                <a:spcPts val="0"/>
              </a:spcAft>
              <a:buSzPts val="853"/>
              <a:buNone/>
            </a:pPr>
            <a:r>
              <a:t/>
            </a:r>
            <a:endParaRPr sz="1800"/>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requests.post(</a:t>
            </a:r>
            <a:endParaRPr sz="885">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    </a:t>
            </a:r>
            <a:r>
              <a:rPr lang="en" sz="885">
                <a:solidFill>
                  <a:schemeClr val="accent5"/>
                </a:solidFill>
                <a:latin typeface="Roboto Mono"/>
                <a:ea typeface="Roboto Mono"/>
                <a:cs typeface="Roboto Mono"/>
                <a:sym typeface="Roboto Mono"/>
              </a:rPr>
              <a:t>"https://api.openai.com/v1/completions"</a:t>
            </a:r>
            <a:r>
              <a:rPr lang="en" sz="885">
                <a:latin typeface="Roboto Mono"/>
                <a:ea typeface="Roboto Mono"/>
                <a:cs typeface="Roboto Mono"/>
                <a:sym typeface="Roboto Mono"/>
              </a:rPr>
              <a:t>,</a:t>
            </a:r>
            <a:endParaRPr sz="885">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    headers={</a:t>
            </a:r>
            <a:endParaRPr sz="885">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        </a:t>
            </a:r>
            <a:r>
              <a:rPr lang="en" sz="885">
                <a:solidFill>
                  <a:schemeClr val="accent5"/>
                </a:solidFill>
                <a:latin typeface="Roboto Mono"/>
                <a:ea typeface="Roboto Mono"/>
                <a:cs typeface="Roboto Mono"/>
                <a:sym typeface="Roboto Mono"/>
              </a:rPr>
              <a:t>"Content-Type"</a:t>
            </a:r>
            <a:r>
              <a:rPr lang="en" sz="885">
                <a:latin typeface="Roboto Mono"/>
                <a:ea typeface="Roboto Mono"/>
                <a:cs typeface="Roboto Mono"/>
                <a:sym typeface="Roboto Mono"/>
              </a:rPr>
              <a:t>: </a:t>
            </a:r>
            <a:r>
              <a:rPr lang="en" sz="885">
                <a:solidFill>
                  <a:schemeClr val="accent5"/>
                </a:solidFill>
                <a:latin typeface="Roboto Mono"/>
                <a:ea typeface="Roboto Mono"/>
                <a:cs typeface="Roboto Mono"/>
                <a:sym typeface="Roboto Mono"/>
              </a:rPr>
              <a:t>"application/json"</a:t>
            </a:r>
            <a:r>
              <a:rPr lang="en" sz="885">
                <a:latin typeface="Roboto Mono"/>
                <a:ea typeface="Roboto Mono"/>
                <a:cs typeface="Roboto Mono"/>
                <a:sym typeface="Roboto Mono"/>
              </a:rPr>
              <a:t>,</a:t>
            </a:r>
            <a:endParaRPr sz="885">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        </a:t>
            </a:r>
            <a:r>
              <a:rPr lang="en" sz="885">
                <a:solidFill>
                  <a:schemeClr val="accent5"/>
                </a:solidFill>
                <a:latin typeface="Roboto Mono"/>
                <a:ea typeface="Roboto Mono"/>
                <a:cs typeface="Roboto Mono"/>
                <a:sym typeface="Roboto Mono"/>
              </a:rPr>
              <a:t>"Authorization"</a:t>
            </a:r>
            <a:r>
              <a:rPr lang="en" sz="885">
                <a:latin typeface="Roboto Mono"/>
                <a:ea typeface="Roboto Mono"/>
                <a:cs typeface="Roboto Mono"/>
                <a:sym typeface="Roboto Mono"/>
              </a:rPr>
              <a:t>: </a:t>
            </a:r>
            <a:r>
              <a:rPr lang="en" sz="885">
                <a:solidFill>
                  <a:schemeClr val="accent5"/>
                </a:solidFill>
                <a:latin typeface="Roboto Mono"/>
                <a:ea typeface="Roboto Mono"/>
                <a:cs typeface="Roboto Mono"/>
                <a:sym typeface="Roboto Mono"/>
              </a:rPr>
              <a:t>f"Bearer {OPENAI_API_KEY}"</a:t>
            </a:r>
            <a:endParaRPr sz="885">
              <a:solidFill>
                <a:schemeClr val="accent5"/>
              </a:solidFill>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    },</a:t>
            </a:r>
            <a:endParaRPr sz="885">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    json={</a:t>
            </a:r>
            <a:endParaRPr sz="885">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        </a:t>
            </a:r>
            <a:r>
              <a:rPr lang="en" sz="885">
                <a:solidFill>
                  <a:schemeClr val="accent5"/>
                </a:solidFill>
                <a:latin typeface="Roboto Mono"/>
                <a:ea typeface="Roboto Mono"/>
                <a:cs typeface="Roboto Mono"/>
                <a:sym typeface="Roboto Mono"/>
              </a:rPr>
              <a:t>"model"</a:t>
            </a:r>
            <a:r>
              <a:rPr lang="en" sz="885">
                <a:latin typeface="Roboto Mono"/>
                <a:ea typeface="Roboto Mono"/>
                <a:cs typeface="Roboto Mono"/>
                <a:sym typeface="Roboto Mono"/>
              </a:rPr>
              <a:t>: </a:t>
            </a:r>
            <a:r>
              <a:rPr lang="en" sz="885">
                <a:solidFill>
                  <a:schemeClr val="accent5"/>
                </a:solidFill>
                <a:latin typeface="Roboto Mono"/>
                <a:ea typeface="Roboto Mono"/>
                <a:cs typeface="Roboto Mono"/>
                <a:sym typeface="Roboto Mono"/>
              </a:rPr>
              <a:t>"gpt-3.5-turbo-instruct"</a:t>
            </a:r>
            <a:r>
              <a:rPr lang="en" sz="885">
                <a:latin typeface="Roboto Mono"/>
                <a:ea typeface="Roboto Mono"/>
                <a:cs typeface="Roboto Mono"/>
                <a:sym typeface="Roboto Mono"/>
              </a:rPr>
              <a:t>,</a:t>
            </a:r>
            <a:endParaRPr sz="885">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        </a:t>
            </a:r>
            <a:r>
              <a:rPr lang="en" sz="885">
                <a:solidFill>
                  <a:schemeClr val="accent5"/>
                </a:solidFill>
                <a:latin typeface="Roboto Mono"/>
                <a:ea typeface="Roboto Mono"/>
                <a:cs typeface="Roboto Mono"/>
                <a:sym typeface="Roboto Mono"/>
              </a:rPr>
              <a:t>"max_tokens"</a:t>
            </a:r>
            <a:r>
              <a:rPr lang="en" sz="885">
                <a:latin typeface="Roboto Mono"/>
                <a:ea typeface="Roboto Mono"/>
                <a:cs typeface="Roboto Mono"/>
                <a:sym typeface="Roboto Mono"/>
              </a:rPr>
              <a:t>: 30,</a:t>
            </a:r>
            <a:endParaRPr sz="885">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        </a:t>
            </a:r>
            <a:r>
              <a:rPr lang="en" sz="885">
                <a:solidFill>
                  <a:schemeClr val="accent5"/>
                </a:solidFill>
                <a:latin typeface="Roboto Mono"/>
                <a:ea typeface="Roboto Mono"/>
                <a:cs typeface="Roboto Mono"/>
                <a:sym typeface="Roboto Mono"/>
              </a:rPr>
              <a:t>"temperature"</a:t>
            </a:r>
            <a:r>
              <a:rPr lang="en" sz="885">
                <a:latin typeface="Roboto Mono"/>
                <a:ea typeface="Roboto Mono"/>
                <a:cs typeface="Roboto Mono"/>
                <a:sym typeface="Roboto Mono"/>
              </a:rPr>
              <a:t>: 1,</a:t>
            </a:r>
            <a:endParaRPr sz="885">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        </a:t>
            </a:r>
            <a:r>
              <a:rPr lang="en" sz="885">
                <a:solidFill>
                  <a:schemeClr val="accent5"/>
                </a:solidFill>
                <a:latin typeface="Roboto Mono"/>
                <a:ea typeface="Roboto Mono"/>
                <a:cs typeface="Roboto Mono"/>
                <a:sym typeface="Roboto Mono"/>
              </a:rPr>
              <a:t>"prompt"</a:t>
            </a:r>
            <a:r>
              <a:rPr lang="en" sz="885">
                <a:latin typeface="Roboto Mono"/>
                <a:ea typeface="Roboto Mono"/>
                <a:cs typeface="Roboto Mono"/>
                <a:sym typeface="Roboto Mono"/>
              </a:rPr>
              <a:t>:</a:t>
            </a:r>
            <a:endParaRPr sz="885">
              <a:latin typeface="Roboto Mono"/>
              <a:ea typeface="Roboto Mono"/>
              <a:cs typeface="Roboto Mono"/>
              <a:sym typeface="Roboto Mono"/>
            </a:endParaRPr>
          </a:p>
          <a:p>
            <a:pPr indent="0" lvl="0" marL="0" rtl="0" algn="l">
              <a:lnSpc>
                <a:spcPct val="95000"/>
              </a:lnSpc>
              <a:spcBef>
                <a:spcPts val="0"/>
              </a:spcBef>
              <a:spcAft>
                <a:spcPts val="0"/>
              </a:spcAft>
              <a:buSzPts val="853"/>
              <a:buNone/>
            </a:pPr>
            <a:r>
              <a:t/>
            </a:r>
            <a:endParaRPr sz="885">
              <a:solidFill>
                <a:schemeClr val="accent5"/>
              </a:solidFill>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solidFill>
                  <a:schemeClr val="accent5"/>
                </a:solidFill>
                <a:latin typeface="Roboto Mono"/>
                <a:ea typeface="Roboto Mono"/>
                <a:cs typeface="Roboto Mono"/>
                <a:sym typeface="Roboto Mono"/>
              </a:rPr>
              <a:t>"""Human: Tell me a joke.</a:t>
            </a:r>
            <a:endParaRPr sz="885">
              <a:solidFill>
                <a:schemeClr val="accent5"/>
              </a:solidFill>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solidFill>
                  <a:schemeClr val="accent5"/>
                </a:solidFill>
                <a:latin typeface="Roboto Mono"/>
                <a:ea typeface="Roboto Mono"/>
                <a:cs typeface="Roboto Mono"/>
                <a:sym typeface="Roboto Mono"/>
              </a:rPr>
              <a:t>AI: Why did the chicken cross the road?</a:t>
            </a:r>
            <a:endParaRPr sz="885">
              <a:solidFill>
                <a:schemeClr val="accent5"/>
              </a:solidFill>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solidFill>
                  <a:schemeClr val="accent5"/>
                </a:solidFill>
                <a:latin typeface="Roboto Mono"/>
                <a:ea typeface="Roboto Mono"/>
                <a:cs typeface="Roboto Mono"/>
                <a:sym typeface="Roboto Mono"/>
              </a:rPr>
              <a:t>Human: That's not a very good joke.</a:t>
            </a:r>
            <a:endParaRPr sz="885">
              <a:solidFill>
                <a:schemeClr val="accent5"/>
              </a:solidFill>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solidFill>
                  <a:schemeClr val="accent5"/>
                </a:solidFill>
                <a:latin typeface="Roboto Mono"/>
                <a:ea typeface="Roboto Mono"/>
                <a:cs typeface="Roboto Mono"/>
                <a:sym typeface="Roboto Mono"/>
              </a:rPr>
              <a:t>AI: """</a:t>
            </a:r>
            <a:r>
              <a:rPr lang="en" sz="885">
                <a:latin typeface="Roboto Mono"/>
                <a:ea typeface="Roboto Mono"/>
                <a:cs typeface="Roboto Mono"/>
                <a:sym typeface="Roboto Mono"/>
              </a:rPr>
              <a:t>,   </a:t>
            </a:r>
            <a:r>
              <a:rPr lang="en" sz="885">
                <a:solidFill>
                  <a:srgbClr val="FF9900"/>
                </a:solidFill>
                <a:latin typeface="Roboto Mono"/>
                <a:ea typeface="Roboto Mono"/>
                <a:cs typeface="Roboto Mono"/>
                <a:sym typeface="Roboto Mono"/>
              </a:rPr>
              <a:t># the text that autocomplete will finish</a:t>
            </a:r>
            <a:endParaRPr sz="885">
              <a:solidFill>
                <a:srgbClr val="FF9900"/>
              </a:solidFill>
              <a:latin typeface="Roboto Mono"/>
              <a:ea typeface="Roboto Mono"/>
              <a:cs typeface="Roboto Mono"/>
              <a:sym typeface="Roboto Mono"/>
            </a:endParaRPr>
          </a:p>
          <a:p>
            <a:pPr indent="0" lvl="0" marL="0" rtl="0" algn="l">
              <a:lnSpc>
                <a:spcPct val="95000"/>
              </a:lnSpc>
              <a:spcBef>
                <a:spcPts val="0"/>
              </a:spcBef>
              <a:spcAft>
                <a:spcPts val="0"/>
              </a:spcAft>
              <a:buSzPts val="853"/>
              <a:buNone/>
            </a:pPr>
            <a:r>
              <a:t/>
            </a:r>
            <a:endParaRPr sz="885">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    },</a:t>
            </a:r>
            <a:endParaRPr sz="885">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).json()</a:t>
            </a:r>
            <a:endParaRPr sz="885">
              <a:latin typeface="Roboto Mono"/>
              <a:ea typeface="Roboto Mono"/>
              <a:cs typeface="Roboto Mono"/>
              <a:sym typeface="Roboto Mono"/>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8" name="Shape 598"/>
        <p:cNvGrpSpPr/>
        <p:nvPr/>
      </p:nvGrpSpPr>
      <p:grpSpPr>
        <a:xfrm>
          <a:off x="0" y="0"/>
          <a:ext cx="0" cy="0"/>
          <a:chOff x="0" y="0"/>
          <a:chExt cx="0" cy="0"/>
        </a:xfrm>
      </p:grpSpPr>
      <p:sp>
        <p:nvSpPr>
          <p:cNvPr id="599" name="Google Shape;599;p8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Message: a unit of the "stage directions" transcript</a:t>
            </a:r>
            <a:endParaRPr/>
          </a:p>
        </p:txBody>
      </p:sp>
      <p:sp>
        <p:nvSpPr>
          <p:cNvPr id="600" name="Google Shape;600;p84"/>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p>
            <a:pPr indent="0" lvl="0" marL="0" rtl="0" algn="l">
              <a:lnSpc>
                <a:spcPct val="95000"/>
              </a:lnSpc>
              <a:spcBef>
                <a:spcPts val="0"/>
              </a:spcBef>
              <a:spcAft>
                <a:spcPts val="0"/>
              </a:spcAft>
              <a:buSzPts val="853"/>
              <a:buNone/>
            </a:pPr>
            <a:r>
              <a:rPr b="1" lang="en" sz="1800"/>
              <a:t>Autocompleting raw text:</a:t>
            </a:r>
            <a:endParaRPr b="1" sz="1800"/>
          </a:p>
          <a:p>
            <a:pPr indent="0" lvl="0" marL="0" rtl="0" algn="l">
              <a:lnSpc>
                <a:spcPct val="95000"/>
              </a:lnSpc>
              <a:spcBef>
                <a:spcPts val="0"/>
              </a:spcBef>
              <a:spcAft>
                <a:spcPts val="0"/>
              </a:spcAft>
              <a:buSzPts val="853"/>
              <a:buNone/>
            </a:pPr>
            <a:r>
              <a:t/>
            </a:r>
            <a:endParaRPr sz="1800"/>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requests.post(</a:t>
            </a:r>
            <a:endParaRPr sz="885">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    </a:t>
            </a:r>
            <a:r>
              <a:rPr lang="en" sz="885">
                <a:solidFill>
                  <a:schemeClr val="accent5"/>
                </a:solidFill>
                <a:latin typeface="Roboto Mono"/>
                <a:ea typeface="Roboto Mono"/>
                <a:cs typeface="Roboto Mono"/>
                <a:sym typeface="Roboto Mono"/>
              </a:rPr>
              <a:t>"https://api.openai.com/v1/completions"</a:t>
            </a:r>
            <a:r>
              <a:rPr lang="en" sz="885">
                <a:latin typeface="Roboto Mono"/>
                <a:ea typeface="Roboto Mono"/>
                <a:cs typeface="Roboto Mono"/>
                <a:sym typeface="Roboto Mono"/>
              </a:rPr>
              <a:t>,</a:t>
            </a:r>
            <a:endParaRPr sz="885">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    headers={</a:t>
            </a:r>
            <a:endParaRPr sz="885">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        </a:t>
            </a:r>
            <a:r>
              <a:rPr lang="en" sz="885">
                <a:solidFill>
                  <a:schemeClr val="accent5"/>
                </a:solidFill>
                <a:latin typeface="Roboto Mono"/>
                <a:ea typeface="Roboto Mono"/>
                <a:cs typeface="Roboto Mono"/>
                <a:sym typeface="Roboto Mono"/>
              </a:rPr>
              <a:t>"Content-Type"</a:t>
            </a:r>
            <a:r>
              <a:rPr lang="en" sz="885">
                <a:latin typeface="Roboto Mono"/>
                <a:ea typeface="Roboto Mono"/>
                <a:cs typeface="Roboto Mono"/>
                <a:sym typeface="Roboto Mono"/>
              </a:rPr>
              <a:t>: </a:t>
            </a:r>
            <a:r>
              <a:rPr lang="en" sz="885">
                <a:solidFill>
                  <a:schemeClr val="accent5"/>
                </a:solidFill>
                <a:latin typeface="Roboto Mono"/>
                <a:ea typeface="Roboto Mono"/>
                <a:cs typeface="Roboto Mono"/>
                <a:sym typeface="Roboto Mono"/>
              </a:rPr>
              <a:t>"application/json"</a:t>
            </a:r>
            <a:r>
              <a:rPr lang="en" sz="885">
                <a:latin typeface="Roboto Mono"/>
                <a:ea typeface="Roboto Mono"/>
                <a:cs typeface="Roboto Mono"/>
                <a:sym typeface="Roboto Mono"/>
              </a:rPr>
              <a:t>,</a:t>
            </a:r>
            <a:endParaRPr sz="885">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        </a:t>
            </a:r>
            <a:r>
              <a:rPr lang="en" sz="885">
                <a:solidFill>
                  <a:schemeClr val="accent5"/>
                </a:solidFill>
                <a:latin typeface="Roboto Mono"/>
                <a:ea typeface="Roboto Mono"/>
                <a:cs typeface="Roboto Mono"/>
                <a:sym typeface="Roboto Mono"/>
              </a:rPr>
              <a:t>"Authorization"</a:t>
            </a:r>
            <a:r>
              <a:rPr lang="en" sz="885">
                <a:latin typeface="Roboto Mono"/>
                <a:ea typeface="Roboto Mono"/>
                <a:cs typeface="Roboto Mono"/>
                <a:sym typeface="Roboto Mono"/>
              </a:rPr>
              <a:t>: </a:t>
            </a:r>
            <a:r>
              <a:rPr lang="en" sz="885">
                <a:solidFill>
                  <a:schemeClr val="accent5"/>
                </a:solidFill>
                <a:latin typeface="Roboto Mono"/>
                <a:ea typeface="Roboto Mono"/>
                <a:cs typeface="Roboto Mono"/>
                <a:sym typeface="Roboto Mono"/>
              </a:rPr>
              <a:t>f"Bearer {OPENAI_API_KEY}"</a:t>
            </a:r>
            <a:endParaRPr sz="885">
              <a:solidFill>
                <a:schemeClr val="accent5"/>
              </a:solidFill>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    },</a:t>
            </a:r>
            <a:endParaRPr sz="885">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    json={</a:t>
            </a:r>
            <a:endParaRPr sz="885">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        </a:t>
            </a:r>
            <a:r>
              <a:rPr lang="en" sz="885">
                <a:solidFill>
                  <a:schemeClr val="accent5"/>
                </a:solidFill>
                <a:latin typeface="Roboto Mono"/>
                <a:ea typeface="Roboto Mono"/>
                <a:cs typeface="Roboto Mono"/>
                <a:sym typeface="Roboto Mono"/>
              </a:rPr>
              <a:t>"model"</a:t>
            </a:r>
            <a:r>
              <a:rPr lang="en" sz="885">
                <a:latin typeface="Roboto Mono"/>
                <a:ea typeface="Roboto Mono"/>
                <a:cs typeface="Roboto Mono"/>
                <a:sym typeface="Roboto Mono"/>
              </a:rPr>
              <a:t>: </a:t>
            </a:r>
            <a:r>
              <a:rPr lang="en" sz="885">
                <a:solidFill>
                  <a:schemeClr val="accent5"/>
                </a:solidFill>
                <a:latin typeface="Roboto Mono"/>
                <a:ea typeface="Roboto Mono"/>
                <a:cs typeface="Roboto Mono"/>
                <a:sym typeface="Roboto Mono"/>
              </a:rPr>
              <a:t>"gpt-3.5-turbo-instruct"</a:t>
            </a:r>
            <a:r>
              <a:rPr lang="en" sz="885">
                <a:latin typeface="Roboto Mono"/>
                <a:ea typeface="Roboto Mono"/>
                <a:cs typeface="Roboto Mono"/>
                <a:sym typeface="Roboto Mono"/>
              </a:rPr>
              <a:t>,</a:t>
            </a:r>
            <a:endParaRPr sz="885">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        </a:t>
            </a:r>
            <a:r>
              <a:rPr lang="en" sz="885">
                <a:solidFill>
                  <a:schemeClr val="accent5"/>
                </a:solidFill>
                <a:latin typeface="Roboto Mono"/>
                <a:ea typeface="Roboto Mono"/>
                <a:cs typeface="Roboto Mono"/>
                <a:sym typeface="Roboto Mono"/>
              </a:rPr>
              <a:t>"max_tokens"</a:t>
            </a:r>
            <a:r>
              <a:rPr lang="en" sz="885">
                <a:latin typeface="Roboto Mono"/>
                <a:ea typeface="Roboto Mono"/>
                <a:cs typeface="Roboto Mono"/>
                <a:sym typeface="Roboto Mono"/>
              </a:rPr>
              <a:t>: 30,</a:t>
            </a:r>
            <a:endParaRPr sz="885">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        </a:t>
            </a:r>
            <a:r>
              <a:rPr lang="en" sz="885">
                <a:solidFill>
                  <a:schemeClr val="accent5"/>
                </a:solidFill>
                <a:latin typeface="Roboto Mono"/>
                <a:ea typeface="Roboto Mono"/>
                <a:cs typeface="Roboto Mono"/>
                <a:sym typeface="Roboto Mono"/>
              </a:rPr>
              <a:t>"temperature"</a:t>
            </a:r>
            <a:r>
              <a:rPr lang="en" sz="885">
                <a:latin typeface="Roboto Mono"/>
                <a:ea typeface="Roboto Mono"/>
                <a:cs typeface="Roboto Mono"/>
                <a:sym typeface="Roboto Mono"/>
              </a:rPr>
              <a:t>: 1,</a:t>
            </a:r>
            <a:endParaRPr sz="885">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        </a:t>
            </a:r>
            <a:r>
              <a:rPr lang="en" sz="885">
                <a:solidFill>
                  <a:schemeClr val="accent5"/>
                </a:solidFill>
                <a:latin typeface="Roboto Mono"/>
                <a:ea typeface="Roboto Mono"/>
                <a:cs typeface="Roboto Mono"/>
                <a:sym typeface="Roboto Mono"/>
              </a:rPr>
              <a:t>"prompt"</a:t>
            </a:r>
            <a:r>
              <a:rPr lang="en" sz="885">
                <a:latin typeface="Roboto Mono"/>
                <a:ea typeface="Roboto Mono"/>
                <a:cs typeface="Roboto Mono"/>
                <a:sym typeface="Roboto Mono"/>
              </a:rPr>
              <a:t>:</a:t>
            </a:r>
            <a:endParaRPr sz="885">
              <a:latin typeface="Roboto Mono"/>
              <a:ea typeface="Roboto Mono"/>
              <a:cs typeface="Roboto Mono"/>
              <a:sym typeface="Roboto Mono"/>
            </a:endParaRPr>
          </a:p>
          <a:p>
            <a:pPr indent="0" lvl="0" marL="0" rtl="0" algn="l">
              <a:lnSpc>
                <a:spcPct val="95000"/>
              </a:lnSpc>
              <a:spcBef>
                <a:spcPts val="0"/>
              </a:spcBef>
              <a:spcAft>
                <a:spcPts val="0"/>
              </a:spcAft>
              <a:buSzPts val="853"/>
              <a:buNone/>
            </a:pPr>
            <a:r>
              <a:t/>
            </a:r>
            <a:endParaRPr sz="885">
              <a:solidFill>
                <a:schemeClr val="accent5"/>
              </a:solidFill>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solidFill>
                  <a:schemeClr val="accent5"/>
                </a:solidFill>
                <a:latin typeface="Roboto Mono"/>
                <a:ea typeface="Roboto Mono"/>
                <a:cs typeface="Roboto Mono"/>
                <a:sym typeface="Roboto Mono"/>
              </a:rPr>
              <a:t>"""Human: Tell me a joke.</a:t>
            </a:r>
            <a:endParaRPr sz="885">
              <a:solidFill>
                <a:schemeClr val="accent5"/>
              </a:solidFill>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solidFill>
                  <a:schemeClr val="accent5"/>
                </a:solidFill>
                <a:latin typeface="Roboto Mono"/>
                <a:ea typeface="Roboto Mono"/>
                <a:cs typeface="Roboto Mono"/>
                <a:sym typeface="Roboto Mono"/>
              </a:rPr>
              <a:t>AI: Why did the chicken cross the road?</a:t>
            </a:r>
            <a:endParaRPr sz="885">
              <a:solidFill>
                <a:schemeClr val="accent5"/>
              </a:solidFill>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solidFill>
                  <a:schemeClr val="accent5"/>
                </a:solidFill>
                <a:latin typeface="Roboto Mono"/>
                <a:ea typeface="Roboto Mono"/>
                <a:cs typeface="Roboto Mono"/>
                <a:sym typeface="Roboto Mono"/>
              </a:rPr>
              <a:t>Human: That's not a very good joke.</a:t>
            </a:r>
            <a:endParaRPr sz="885">
              <a:solidFill>
                <a:schemeClr val="accent5"/>
              </a:solidFill>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solidFill>
                  <a:schemeClr val="accent5"/>
                </a:solidFill>
                <a:latin typeface="Roboto Mono"/>
                <a:ea typeface="Roboto Mono"/>
                <a:cs typeface="Roboto Mono"/>
                <a:sym typeface="Roboto Mono"/>
              </a:rPr>
              <a:t>AI: """</a:t>
            </a:r>
            <a:r>
              <a:rPr lang="en" sz="885">
                <a:latin typeface="Roboto Mono"/>
                <a:ea typeface="Roboto Mono"/>
                <a:cs typeface="Roboto Mono"/>
                <a:sym typeface="Roboto Mono"/>
              </a:rPr>
              <a:t>,   </a:t>
            </a:r>
            <a:r>
              <a:rPr lang="en" sz="885">
                <a:solidFill>
                  <a:srgbClr val="FF9900"/>
                </a:solidFill>
                <a:latin typeface="Roboto Mono"/>
                <a:ea typeface="Roboto Mono"/>
                <a:cs typeface="Roboto Mono"/>
                <a:sym typeface="Roboto Mono"/>
              </a:rPr>
              <a:t># the text that autocomplete will finish</a:t>
            </a:r>
            <a:endParaRPr sz="885">
              <a:solidFill>
                <a:srgbClr val="FF9900"/>
              </a:solidFill>
              <a:latin typeface="Roboto Mono"/>
              <a:ea typeface="Roboto Mono"/>
              <a:cs typeface="Roboto Mono"/>
              <a:sym typeface="Roboto Mono"/>
            </a:endParaRPr>
          </a:p>
          <a:p>
            <a:pPr indent="0" lvl="0" marL="0" rtl="0" algn="l">
              <a:lnSpc>
                <a:spcPct val="95000"/>
              </a:lnSpc>
              <a:spcBef>
                <a:spcPts val="0"/>
              </a:spcBef>
              <a:spcAft>
                <a:spcPts val="0"/>
              </a:spcAft>
              <a:buSzPts val="853"/>
              <a:buNone/>
            </a:pPr>
            <a:r>
              <a:t/>
            </a:r>
            <a:endParaRPr sz="885">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    },</a:t>
            </a:r>
            <a:endParaRPr sz="885">
              <a:latin typeface="Roboto Mono"/>
              <a:ea typeface="Roboto Mono"/>
              <a:cs typeface="Roboto Mono"/>
              <a:sym typeface="Roboto Mono"/>
            </a:endParaRPr>
          </a:p>
          <a:p>
            <a:pPr indent="0" lvl="0" marL="0" rtl="0" algn="l">
              <a:lnSpc>
                <a:spcPct val="95000"/>
              </a:lnSpc>
              <a:spcBef>
                <a:spcPts val="0"/>
              </a:spcBef>
              <a:spcAft>
                <a:spcPts val="0"/>
              </a:spcAft>
              <a:buSzPts val="853"/>
              <a:buNone/>
            </a:pPr>
            <a:r>
              <a:rPr lang="en" sz="885">
                <a:latin typeface="Roboto Mono"/>
                <a:ea typeface="Roboto Mono"/>
                <a:cs typeface="Roboto Mono"/>
                <a:sym typeface="Roboto Mono"/>
              </a:rPr>
              <a:t>).json()</a:t>
            </a:r>
            <a:endParaRPr sz="885">
              <a:latin typeface="Roboto Mono"/>
              <a:ea typeface="Roboto Mono"/>
              <a:cs typeface="Roboto Mono"/>
              <a:sym typeface="Roboto Mono"/>
            </a:endParaRPr>
          </a:p>
        </p:txBody>
      </p:sp>
      <p:sp>
        <p:nvSpPr>
          <p:cNvPr id="601" name="Google Shape;601;p84"/>
          <p:cNvSpPr txBox="1"/>
          <p:nvPr>
            <p:ph idx="2" type="body"/>
          </p:nvPr>
        </p:nvSpPr>
        <p:spPr>
          <a:xfrm>
            <a:off x="4311600" y="1152475"/>
            <a:ext cx="4520700" cy="39909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SzPts val="770"/>
              <a:buNone/>
            </a:pPr>
            <a:r>
              <a:rPr b="1" lang="en" sz="1800"/>
              <a:t>Autocompleting a message stream:</a:t>
            </a:r>
            <a:endParaRPr b="1" sz="1800"/>
          </a:p>
          <a:p>
            <a:pPr indent="0" lvl="0" marL="0" rtl="0" algn="l">
              <a:lnSpc>
                <a:spcPct val="105000"/>
              </a:lnSpc>
              <a:spcBef>
                <a:spcPts val="0"/>
              </a:spcBef>
              <a:spcAft>
                <a:spcPts val="0"/>
              </a:spcAft>
              <a:buSzPts val="770"/>
              <a:buNone/>
            </a:pPr>
            <a:r>
              <a:t/>
            </a:r>
            <a:endParaRPr sz="1800"/>
          </a:p>
          <a:p>
            <a:pPr indent="0" lvl="0" marL="0" rtl="0" algn="l">
              <a:lnSpc>
                <a:spcPct val="105000"/>
              </a:lnSpc>
              <a:spcBef>
                <a:spcPts val="0"/>
              </a:spcBef>
              <a:spcAft>
                <a:spcPts val="0"/>
              </a:spcAft>
              <a:buSzPts val="770"/>
              <a:buNone/>
            </a:pPr>
            <a:r>
              <a:rPr lang="en" sz="880">
                <a:latin typeface="Roboto Mono"/>
                <a:ea typeface="Roboto Mono"/>
                <a:cs typeface="Roboto Mono"/>
                <a:sym typeface="Roboto Mono"/>
              </a:rPr>
              <a:t>requests.post(</a:t>
            </a:r>
            <a:endParaRPr sz="880">
              <a:latin typeface="Roboto Mono"/>
              <a:ea typeface="Roboto Mono"/>
              <a:cs typeface="Roboto Mono"/>
              <a:sym typeface="Roboto Mono"/>
            </a:endParaRPr>
          </a:p>
          <a:p>
            <a:pPr indent="0" lvl="0" marL="0" rtl="0" algn="l">
              <a:lnSpc>
                <a:spcPct val="105000"/>
              </a:lnSpc>
              <a:spcBef>
                <a:spcPts val="0"/>
              </a:spcBef>
              <a:spcAft>
                <a:spcPts val="0"/>
              </a:spcAft>
              <a:buSzPts val="770"/>
              <a:buNone/>
            </a:pPr>
            <a:r>
              <a:rPr lang="en" sz="880">
                <a:latin typeface="Roboto Mono"/>
                <a:ea typeface="Roboto Mono"/>
                <a:cs typeface="Roboto Mono"/>
                <a:sym typeface="Roboto Mono"/>
              </a:rPr>
              <a:t>    </a:t>
            </a:r>
            <a:r>
              <a:rPr lang="en" sz="880">
                <a:solidFill>
                  <a:schemeClr val="accent5"/>
                </a:solidFill>
                <a:latin typeface="Roboto Mono"/>
                <a:ea typeface="Roboto Mono"/>
                <a:cs typeface="Roboto Mono"/>
                <a:sym typeface="Roboto Mono"/>
              </a:rPr>
              <a:t>"https://api.openai.com/v1/chat/completions"</a:t>
            </a:r>
            <a:r>
              <a:rPr lang="en" sz="880">
                <a:latin typeface="Roboto Mono"/>
                <a:ea typeface="Roboto Mono"/>
                <a:cs typeface="Roboto Mono"/>
                <a:sym typeface="Roboto Mono"/>
              </a:rPr>
              <a:t>,</a:t>
            </a:r>
            <a:endParaRPr sz="880">
              <a:latin typeface="Roboto Mono"/>
              <a:ea typeface="Roboto Mono"/>
              <a:cs typeface="Roboto Mono"/>
              <a:sym typeface="Roboto Mono"/>
            </a:endParaRPr>
          </a:p>
          <a:p>
            <a:pPr indent="0" lvl="0" marL="0" rtl="0" algn="l">
              <a:lnSpc>
                <a:spcPct val="105000"/>
              </a:lnSpc>
              <a:spcBef>
                <a:spcPts val="0"/>
              </a:spcBef>
              <a:spcAft>
                <a:spcPts val="0"/>
              </a:spcAft>
              <a:buSzPts val="770"/>
              <a:buNone/>
            </a:pPr>
            <a:r>
              <a:rPr lang="en" sz="880">
                <a:latin typeface="Roboto Mono"/>
                <a:ea typeface="Roboto Mono"/>
                <a:cs typeface="Roboto Mono"/>
                <a:sym typeface="Roboto Mono"/>
              </a:rPr>
              <a:t>    headers={</a:t>
            </a:r>
            <a:endParaRPr sz="880">
              <a:latin typeface="Roboto Mono"/>
              <a:ea typeface="Roboto Mono"/>
              <a:cs typeface="Roboto Mono"/>
              <a:sym typeface="Roboto Mono"/>
            </a:endParaRPr>
          </a:p>
          <a:p>
            <a:pPr indent="0" lvl="0" marL="0" rtl="0" algn="l">
              <a:lnSpc>
                <a:spcPct val="105000"/>
              </a:lnSpc>
              <a:spcBef>
                <a:spcPts val="0"/>
              </a:spcBef>
              <a:spcAft>
                <a:spcPts val="0"/>
              </a:spcAft>
              <a:buSzPts val="770"/>
              <a:buNone/>
            </a:pPr>
            <a:r>
              <a:rPr lang="en" sz="880">
                <a:latin typeface="Roboto Mono"/>
                <a:ea typeface="Roboto Mono"/>
                <a:cs typeface="Roboto Mono"/>
                <a:sym typeface="Roboto Mono"/>
              </a:rPr>
              <a:t>        </a:t>
            </a:r>
            <a:r>
              <a:rPr lang="en" sz="880">
                <a:solidFill>
                  <a:schemeClr val="accent5"/>
                </a:solidFill>
                <a:latin typeface="Roboto Mono"/>
                <a:ea typeface="Roboto Mono"/>
                <a:cs typeface="Roboto Mono"/>
                <a:sym typeface="Roboto Mono"/>
              </a:rPr>
              <a:t>"Content-Type"</a:t>
            </a:r>
            <a:r>
              <a:rPr lang="en" sz="880">
                <a:latin typeface="Roboto Mono"/>
                <a:ea typeface="Roboto Mono"/>
                <a:cs typeface="Roboto Mono"/>
                <a:sym typeface="Roboto Mono"/>
              </a:rPr>
              <a:t>: </a:t>
            </a:r>
            <a:r>
              <a:rPr lang="en" sz="880">
                <a:solidFill>
                  <a:schemeClr val="accent5"/>
                </a:solidFill>
                <a:latin typeface="Roboto Mono"/>
                <a:ea typeface="Roboto Mono"/>
                <a:cs typeface="Roboto Mono"/>
                <a:sym typeface="Roboto Mono"/>
              </a:rPr>
              <a:t>"application/json"</a:t>
            </a:r>
            <a:r>
              <a:rPr lang="en" sz="880">
                <a:latin typeface="Roboto Mono"/>
                <a:ea typeface="Roboto Mono"/>
                <a:cs typeface="Roboto Mono"/>
                <a:sym typeface="Roboto Mono"/>
              </a:rPr>
              <a:t>,</a:t>
            </a:r>
            <a:endParaRPr sz="880">
              <a:latin typeface="Roboto Mono"/>
              <a:ea typeface="Roboto Mono"/>
              <a:cs typeface="Roboto Mono"/>
              <a:sym typeface="Roboto Mono"/>
            </a:endParaRPr>
          </a:p>
          <a:p>
            <a:pPr indent="0" lvl="0" marL="0" rtl="0" algn="l">
              <a:lnSpc>
                <a:spcPct val="105000"/>
              </a:lnSpc>
              <a:spcBef>
                <a:spcPts val="0"/>
              </a:spcBef>
              <a:spcAft>
                <a:spcPts val="0"/>
              </a:spcAft>
              <a:buSzPts val="770"/>
              <a:buNone/>
            </a:pPr>
            <a:r>
              <a:rPr lang="en" sz="880">
                <a:latin typeface="Roboto Mono"/>
                <a:ea typeface="Roboto Mono"/>
                <a:cs typeface="Roboto Mono"/>
                <a:sym typeface="Roboto Mono"/>
              </a:rPr>
              <a:t>        </a:t>
            </a:r>
            <a:r>
              <a:rPr lang="en" sz="880">
                <a:solidFill>
                  <a:schemeClr val="accent5"/>
                </a:solidFill>
                <a:latin typeface="Roboto Mono"/>
                <a:ea typeface="Roboto Mono"/>
                <a:cs typeface="Roboto Mono"/>
                <a:sym typeface="Roboto Mono"/>
              </a:rPr>
              <a:t>"Authorization"</a:t>
            </a:r>
            <a:r>
              <a:rPr lang="en" sz="880">
                <a:latin typeface="Roboto Mono"/>
                <a:ea typeface="Roboto Mono"/>
                <a:cs typeface="Roboto Mono"/>
                <a:sym typeface="Roboto Mono"/>
              </a:rPr>
              <a:t>: </a:t>
            </a:r>
            <a:r>
              <a:rPr lang="en" sz="880">
                <a:solidFill>
                  <a:schemeClr val="accent5"/>
                </a:solidFill>
                <a:latin typeface="Roboto Mono"/>
                <a:ea typeface="Roboto Mono"/>
                <a:cs typeface="Roboto Mono"/>
                <a:sym typeface="Roboto Mono"/>
              </a:rPr>
              <a:t>f"Bearer {OPENAI_API_KEY}"</a:t>
            </a:r>
            <a:endParaRPr sz="880">
              <a:solidFill>
                <a:schemeClr val="accent5"/>
              </a:solidFill>
              <a:latin typeface="Roboto Mono"/>
              <a:ea typeface="Roboto Mono"/>
              <a:cs typeface="Roboto Mono"/>
              <a:sym typeface="Roboto Mono"/>
            </a:endParaRPr>
          </a:p>
          <a:p>
            <a:pPr indent="0" lvl="0" marL="0" rtl="0" algn="l">
              <a:lnSpc>
                <a:spcPct val="105000"/>
              </a:lnSpc>
              <a:spcBef>
                <a:spcPts val="0"/>
              </a:spcBef>
              <a:spcAft>
                <a:spcPts val="0"/>
              </a:spcAft>
              <a:buSzPts val="770"/>
              <a:buNone/>
            </a:pPr>
            <a:r>
              <a:rPr lang="en" sz="880">
                <a:latin typeface="Roboto Mono"/>
                <a:ea typeface="Roboto Mono"/>
                <a:cs typeface="Roboto Mono"/>
                <a:sym typeface="Roboto Mono"/>
              </a:rPr>
              <a:t>    },</a:t>
            </a:r>
            <a:endParaRPr sz="880">
              <a:latin typeface="Roboto Mono"/>
              <a:ea typeface="Roboto Mono"/>
              <a:cs typeface="Roboto Mono"/>
              <a:sym typeface="Roboto Mono"/>
            </a:endParaRPr>
          </a:p>
          <a:p>
            <a:pPr indent="0" lvl="0" marL="0" rtl="0" algn="l">
              <a:lnSpc>
                <a:spcPct val="105000"/>
              </a:lnSpc>
              <a:spcBef>
                <a:spcPts val="0"/>
              </a:spcBef>
              <a:spcAft>
                <a:spcPts val="0"/>
              </a:spcAft>
              <a:buSzPts val="770"/>
              <a:buNone/>
            </a:pPr>
            <a:r>
              <a:rPr lang="en" sz="880">
                <a:latin typeface="Roboto Mono"/>
                <a:ea typeface="Roboto Mono"/>
                <a:cs typeface="Roboto Mono"/>
                <a:sym typeface="Roboto Mono"/>
              </a:rPr>
              <a:t>    json={</a:t>
            </a:r>
            <a:endParaRPr sz="880">
              <a:latin typeface="Roboto Mono"/>
              <a:ea typeface="Roboto Mono"/>
              <a:cs typeface="Roboto Mono"/>
              <a:sym typeface="Roboto Mono"/>
            </a:endParaRPr>
          </a:p>
          <a:p>
            <a:pPr indent="0" lvl="0" marL="0" rtl="0" algn="l">
              <a:lnSpc>
                <a:spcPct val="105000"/>
              </a:lnSpc>
              <a:spcBef>
                <a:spcPts val="0"/>
              </a:spcBef>
              <a:spcAft>
                <a:spcPts val="0"/>
              </a:spcAft>
              <a:buSzPts val="770"/>
              <a:buNone/>
            </a:pPr>
            <a:r>
              <a:rPr lang="en" sz="880">
                <a:latin typeface="Roboto Mono"/>
                <a:ea typeface="Roboto Mono"/>
                <a:cs typeface="Roboto Mono"/>
                <a:sym typeface="Roboto Mono"/>
              </a:rPr>
              <a:t>        </a:t>
            </a:r>
            <a:r>
              <a:rPr lang="en" sz="880">
                <a:solidFill>
                  <a:schemeClr val="accent5"/>
                </a:solidFill>
                <a:latin typeface="Roboto Mono"/>
                <a:ea typeface="Roboto Mono"/>
                <a:cs typeface="Roboto Mono"/>
                <a:sym typeface="Roboto Mono"/>
              </a:rPr>
              <a:t>"model"</a:t>
            </a:r>
            <a:r>
              <a:rPr lang="en" sz="880">
                <a:latin typeface="Roboto Mono"/>
                <a:ea typeface="Roboto Mono"/>
                <a:cs typeface="Roboto Mono"/>
                <a:sym typeface="Roboto Mono"/>
              </a:rPr>
              <a:t>: </a:t>
            </a:r>
            <a:r>
              <a:rPr lang="en" sz="880">
                <a:solidFill>
                  <a:schemeClr val="accent5"/>
                </a:solidFill>
                <a:latin typeface="Roboto Mono"/>
                <a:ea typeface="Roboto Mono"/>
                <a:cs typeface="Roboto Mono"/>
                <a:sym typeface="Roboto Mono"/>
              </a:rPr>
              <a:t>"gpt-4o-mini"</a:t>
            </a:r>
            <a:r>
              <a:rPr lang="en" sz="880">
                <a:latin typeface="Roboto Mono"/>
                <a:ea typeface="Roboto Mono"/>
                <a:cs typeface="Roboto Mono"/>
                <a:sym typeface="Roboto Mono"/>
              </a:rPr>
              <a:t>,</a:t>
            </a:r>
            <a:endParaRPr sz="880">
              <a:latin typeface="Roboto Mono"/>
              <a:ea typeface="Roboto Mono"/>
              <a:cs typeface="Roboto Mono"/>
              <a:sym typeface="Roboto Mono"/>
            </a:endParaRPr>
          </a:p>
          <a:p>
            <a:pPr indent="0" lvl="0" marL="0" rtl="0" algn="l">
              <a:lnSpc>
                <a:spcPct val="105000"/>
              </a:lnSpc>
              <a:spcBef>
                <a:spcPts val="0"/>
              </a:spcBef>
              <a:spcAft>
                <a:spcPts val="0"/>
              </a:spcAft>
              <a:buSzPts val="770"/>
              <a:buNone/>
            </a:pPr>
            <a:r>
              <a:rPr lang="en" sz="880">
                <a:latin typeface="Roboto Mono"/>
                <a:ea typeface="Roboto Mono"/>
                <a:cs typeface="Roboto Mono"/>
                <a:sym typeface="Roboto Mono"/>
              </a:rPr>
              <a:t>        </a:t>
            </a:r>
            <a:r>
              <a:rPr lang="en" sz="880">
                <a:solidFill>
                  <a:schemeClr val="accent5"/>
                </a:solidFill>
                <a:latin typeface="Roboto Mono"/>
                <a:ea typeface="Roboto Mono"/>
                <a:cs typeface="Roboto Mono"/>
                <a:sym typeface="Roboto Mono"/>
              </a:rPr>
              <a:t>"max_tokens"</a:t>
            </a:r>
            <a:r>
              <a:rPr lang="en" sz="880">
                <a:latin typeface="Roboto Mono"/>
                <a:ea typeface="Roboto Mono"/>
                <a:cs typeface="Roboto Mono"/>
                <a:sym typeface="Roboto Mono"/>
              </a:rPr>
              <a:t>: 30,</a:t>
            </a:r>
            <a:endParaRPr sz="880">
              <a:latin typeface="Roboto Mono"/>
              <a:ea typeface="Roboto Mono"/>
              <a:cs typeface="Roboto Mono"/>
              <a:sym typeface="Roboto Mono"/>
            </a:endParaRPr>
          </a:p>
          <a:p>
            <a:pPr indent="0" lvl="0" marL="0" rtl="0" algn="l">
              <a:lnSpc>
                <a:spcPct val="105000"/>
              </a:lnSpc>
              <a:spcBef>
                <a:spcPts val="0"/>
              </a:spcBef>
              <a:spcAft>
                <a:spcPts val="0"/>
              </a:spcAft>
              <a:buSzPts val="770"/>
              <a:buNone/>
            </a:pPr>
            <a:r>
              <a:rPr lang="en" sz="880">
                <a:latin typeface="Roboto Mono"/>
                <a:ea typeface="Roboto Mono"/>
                <a:cs typeface="Roboto Mono"/>
                <a:sym typeface="Roboto Mono"/>
              </a:rPr>
              <a:t>        </a:t>
            </a:r>
            <a:r>
              <a:rPr lang="en" sz="880">
                <a:solidFill>
                  <a:schemeClr val="accent5"/>
                </a:solidFill>
                <a:latin typeface="Roboto Mono"/>
                <a:ea typeface="Roboto Mono"/>
                <a:cs typeface="Roboto Mono"/>
                <a:sym typeface="Roboto Mono"/>
              </a:rPr>
              <a:t>"temperature"</a:t>
            </a:r>
            <a:r>
              <a:rPr lang="en" sz="880">
                <a:latin typeface="Roboto Mono"/>
                <a:ea typeface="Roboto Mono"/>
                <a:cs typeface="Roboto Mono"/>
                <a:sym typeface="Roboto Mono"/>
              </a:rPr>
              <a:t>: 1,</a:t>
            </a:r>
            <a:endParaRPr sz="880">
              <a:latin typeface="Roboto Mono"/>
              <a:ea typeface="Roboto Mono"/>
              <a:cs typeface="Roboto Mono"/>
              <a:sym typeface="Roboto Mono"/>
            </a:endParaRPr>
          </a:p>
          <a:p>
            <a:pPr indent="0" lvl="0" marL="0" rtl="0" algn="l">
              <a:lnSpc>
                <a:spcPct val="105000"/>
              </a:lnSpc>
              <a:spcBef>
                <a:spcPts val="0"/>
              </a:spcBef>
              <a:spcAft>
                <a:spcPts val="0"/>
              </a:spcAft>
              <a:buSzPts val="770"/>
              <a:buNone/>
            </a:pPr>
            <a:r>
              <a:rPr lang="en" sz="880">
                <a:latin typeface="Roboto Mono"/>
                <a:ea typeface="Roboto Mono"/>
                <a:cs typeface="Roboto Mono"/>
                <a:sym typeface="Roboto Mono"/>
              </a:rPr>
              <a:t>        </a:t>
            </a:r>
            <a:r>
              <a:rPr lang="en" sz="880">
                <a:solidFill>
                  <a:schemeClr val="accent5"/>
                </a:solidFill>
                <a:latin typeface="Roboto Mono"/>
                <a:ea typeface="Roboto Mono"/>
                <a:cs typeface="Roboto Mono"/>
                <a:sym typeface="Roboto Mono"/>
              </a:rPr>
              <a:t>"messages"</a:t>
            </a:r>
            <a:r>
              <a:rPr lang="en" sz="880">
                <a:latin typeface="Roboto Mono"/>
                <a:ea typeface="Roboto Mono"/>
                <a:cs typeface="Roboto Mono"/>
                <a:sym typeface="Roboto Mono"/>
              </a:rPr>
              <a:t>: [</a:t>
            </a:r>
            <a:endParaRPr sz="880">
              <a:latin typeface="Roboto Mono"/>
              <a:ea typeface="Roboto Mono"/>
              <a:cs typeface="Roboto Mono"/>
              <a:sym typeface="Roboto Mono"/>
            </a:endParaRPr>
          </a:p>
          <a:p>
            <a:pPr indent="0" lvl="0" marL="0" rtl="0" algn="l">
              <a:lnSpc>
                <a:spcPct val="105000"/>
              </a:lnSpc>
              <a:spcBef>
                <a:spcPts val="0"/>
              </a:spcBef>
              <a:spcAft>
                <a:spcPts val="0"/>
              </a:spcAft>
              <a:buSzPts val="770"/>
              <a:buNone/>
            </a:pPr>
            <a:r>
              <a:rPr lang="en" sz="880">
                <a:latin typeface="Roboto Mono"/>
                <a:ea typeface="Roboto Mono"/>
                <a:cs typeface="Roboto Mono"/>
                <a:sym typeface="Roboto Mono"/>
              </a:rPr>
              <a:t>            {</a:t>
            </a:r>
            <a:r>
              <a:rPr lang="en" sz="880">
                <a:solidFill>
                  <a:schemeClr val="accent5"/>
                </a:solidFill>
                <a:latin typeface="Roboto Mono"/>
                <a:ea typeface="Roboto Mono"/>
                <a:cs typeface="Roboto Mono"/>
                <a:sym typeface="Roboto Mono"/>
              </a:rPr>
              <a:t>"role"</a:t>
            </a:r>
            <a:r>
              <a:rPr lang="en" sz="880">
                <a:latin typeface="Roboto Mono"/>
                <a:ea typeface="Roboto Mono"/>
                <a:cs typeface="Roboto Mono"/>
                <a:sym typeface="Roboto Mono"/>
              </a:rPr>
              <a:t>: </a:t>
            </a:r>
            <a:r>
              <a:rPr lang="en" sz="880">
                <a:solidFill>
                  <a:schemeClr val="accent5"/>
                </a:solidFill>
                <a:latin typeface="Roboto Mono"/>
                <a:ea typeface="Roboto Mono"/>
                <a:cs typeface="Roboto Mono"/>
                <a:sym typeface="Roboto Mono"/>
              </a:rPr>
              <a:t>"user"</a:t>
            </a:r>
            <a:r>
              <a:rPr lang="en" sz="880">
                <a:latin typeface="Roboto Mono"/>
                <a:ea typeface="Roboto Mono"/>
                <a:cs typeface="Roboto Mono"/>
                <a:sym typeface="Roboto Mono"/>
              </a:rPr>
              <a:t>,</a:t>
            </a:r>
            <a:br>
              <a:rPr lang="en" sz="880">
                <a:latin typeface="Roboto Mono"/>
                <a:ea typeface="Roboto Mono"/>
                <a:cs typeface="Roboto Mono"/>
                <a:sym typeface="Roboto Mono"/>
              </a:rPr>
            </a:br>
            <a:r>
              <a:rPr lang="en" sz="880">
                <a:latin typeface="Roboto Mono"/>
                <a:ea typeface="Roboto Mono"/>
                <a:cs typeface="Roboto Mono"/>
                <a:sym typeface="Roboto Mono"/>
              </a:rPr>
              <a:t>             </a:t>
            </a:r>
            <a:r>
              <a:rPr lang="en" sz="880">
                <a:solidFill>
                  <a:schemeClr val="accent5"/>
                </a:solidFill>
                <a:latin typeface="Roboto Mono"/>
                <a:ea typeface="Roboto Mono"/>
                <a:cs typeface="Roboto Mono"/>
                <a:sym typeface="Roboto Mono"/>
              </a:rPr>
              <a:t>"content"</a:t>
            </a:r>
            <a:r>
              <a:rPr lang="en" sz="880">
                <a:latin typeface="Roboto Mono"/>
                <a:ea typeface="Roboto Mono"/>
                <a:cs typeface="Roboto Mono"/>
                <a:sym typeface="Roboto Mono"/>
              </a:rPr>
              <a:t>: </a:t>
            </a:r>
            <a:r>
              <a:rPr lang="en" sz="880">
                <a:solidFill>
                  <a:schemeClr val="accent5"/>
                </a:solidFill>
                <a:latin typeface="Roboto Mono"/>
                <a:ea typeface="Roboto Mono"/>
                <a:cs typeface="Roboto Mono"/>
                <a:sym typeface="Roboto Mono"/>
              </a:rPr>
              <a:t>"Tell me a joke."</a:t>
            </a:r>
            <a:r>
              <a:rPr lang="en" sz="880">
                <a:latin typeface="Roboto Mono"/>
                <a:ea typeface="Roboto Mono"/>
                <a:cs typeface="Roboto Mono"/>
                <a:sym typeface="Roboto Mono"/>
              </a:rPr>
              <a:t>},</a:t>
            </a:r>
            <a:endParaRPr sz="880">
              <a:latin typeface="Roboto Mono"/>
              <a:ea typeface="Roboto Mono"/>
              <a:cs typeface="Roboto Mono"/>
              <a:sym typeface="Roboto Mono"/>
            </a:endParaRPr>
          </a:p>
          <a:p>
            <a:pPr indent="0" lvl="0" marL="0" rtl="0" algn="l">
              <a:lnSpc>
                <a:spcPct val="105000"/>
              </a:lnSpc>
              <a:spcBef>
                <a:spcPts val="0"/>
              </a:spcBef>
              <a:spcAft>
                <a:spcPts val="0"/>
              </a:spcAft>
              <a:buSzPts val="770"/>
              <a:buNone/>
            </a:pPr>
            <a:r>
              <a:rPr lang="en" sz="880">
                <a:latin typeface="Roboto Mono"/>
                <a:ea typeface="Roboto Mono"/>
                <a:cs typeface="Roboto Mono"/>
                <a:sym typeface="Roboto Mono"/>
              </a:rPr>
              <a:t>            {</a:t>
            </a:r>
            <a:r>
              <a:rPr lang="en" sz="880">
                <a:solidFill>
                  <a:schemeClr val="accent5"/>
                </a:solidFill>
                <a:latin typeface="Roboto Mono"/>
                <a:ea typeface="Roboto Mono"/>
                <a:cs typeface="Roboto Mono"/>
                <a:sym typeface="Roboto Mono"/>
              </a:rPr>
              <a:t>"role"</a:t>
            </a:r>
            <a:r>
              <a:rPr lang="en" sz="880">
                <a:latin typeface="Roboto Mono"/>
                <a:ea typeface="Roboto Mono"/>
                <a:cs typeface="Roboto Mono"/>
                <a:sym typeface="Roboto Mono"/>
              </a:rPr>
              <a:t>: </a:t>
            </a:r>
            <a:r>
              <a:rPr lang="en" sz="880">
                <a:solidFill>
                  <a:schemeClr val="accent5"/>
                </a:solidFill>
                <a:latin typeface="Roboto Mono"/>
                <a:ea typeface="Roboto Mono"/>
                <a:cs typeface="Roboto Mono"/>
                <a:sym typeface="Roboto Mono"/>
              </a:rPr>
              <a:t>"assistant"</a:t>
            </a:r>
            <a:r>
              <a:rPr lang="en" sz="880">
                <a:latin typeface="Roboto Mono"/>
                <a:ea typeface="Roboto Mono"/>
                <a:cs typeface="Roboto Mono"/>
                <a:sym typeface="Roboto Mono"/>
              </a:rPr>
              <a:t>,</a:t>
            </a:r>
            <a:br>
              <a:rPr lang="en" sz="880">
                <a:latin typeface="Roboto Mono"/>
                <a:ea typeface="Roboto Mono"/>
                <a:cs typeface="Roboto Mono"/>
                <a:sym typeface="Roboto Mono"/>
              </a:rPr>
            </a:br>
            <a:r>
              <a:rPr lang="en" sz="880">
                <a:latin typeface="Roboto Mono"/>
                <a:ea typeface="Roboto Mono"/>
                <a:cs typeface="Roboto Mono"/>
                <a:sym typeface="Roboto Mono"/>
              </a:rPr>
              <a:t>             </a:t>
            </a:r>
            <a:r>
              <a:rPr lang="en" sz="880">
                <a:solidFill>
                  <a:schemeClr val="accent5"/>
                </a:solidFill>
                <a:latin typeface="Roboto Mono"/>
                <a:ea typeface="Roboto Mono"/>
                <a:cs typeface="Roboto Mono"/>
                <a:sym typeface="Roboto Mono"/>
              </a:rPr>
              <a:t>"content"</a:t>
            </a:r>
            <a:r>
              <a:rPr lang="en" sz="880">
                <a:latin typeface="Roboto Mono"/>
                <a:ea typeface="Roboto Mono"/>
                <a:cs typeface="Roboto Mono"/>
                <a:sym typeface="Roboto Mono"/>
              </a:rPr>
              <a:t>: </a:t>
            </a:r>
            <a:r>
              <a:rPr lang="en" sz="880">
                <a:solidFill>
                  <a:schemeClr val="accent5"/>
                </a:solidFill>
                <a:latin typeface="Roboto Mono"/>
                <a:ea typeface="Roboto Mono"/>
                <a:cs typeface="Roboto Mono"/>
                <a:sym typeface="Roboto Mono"/>
              </a:rPr>
              <a:t>"Why did the chicken cross the road?"</a:t>
            </a:r>
            <a:r>
              <a:rPr lang="en" sz="880">
                <a:latin typeface="Roboto Mono"/>
                <a:ea typeface="Roboto Mono"/>
                <a:cs typeface="Roboto Mono"/>
                <a:sym typeface="Roboto Mono"/>
              </a:rPr>
              <a:t>},</a:t>
            </a:r>
            <a:endParaRPr sz="880">
              <a:latin typeface="Roboto Mono"/>
              <a:ea typeface="Roboto Mono"/>
              <a:cs typeface="Roboto Mono"/>
              <a:sym typeface="Roboto Mono"/>
            </a:endParaRPr>
          </a:p>
          <a:p>
            <a:pPr indent="0" lvl="0" marL="0" rtl="0" algn="l">
              <a:lnSpc>
                <a:spcPct val="105000"/>
              </a:lnSpc>
              <a:spcBef>
                <a:spcPts val="0"/>
              </a:spcBef>
              <a:spcAft>
                <a:spcPts val="0"/>
              </a:spcAft>
              <a:buSzPts val="770"/>
              <a:buNone/>
            </a:pPr>
            <a:r>
              <a:rPr lang="en" sz="880">
                <a:latin typeface="Roboto Mono"/>
                <a:ea typeface="Roboto Mono"/>
                <a:cs typeface="Roboto Mono"/>
                <a:sym typeface="Roboto Mono"/>
              </a:rPr>
              <a:t>            {</a:t>
            </a:r>
            <a:r>
              <a:rPr lang="en" sz="880">
                <a:solidFill>
                  <a:schemeClr val="accent5"/>
                </a:solidFill>
                <a:latin typeface="Roboto Mono"/>
                <a:ea typeface="Roboto Mono"/>
                <a:cs typeface="Roboto Mono"/>
                <a:sym typeface="Roboto Mono"/>
              </a:rPr>
              <a:t>"role"</a:t>
            </a:r>
            <a:r>
              <a:rPr lang="en" sz="880">
                <a:latin typeface="Roboto Mono"/>
                <a:ea typeface="Roboto Mono"/>
                <a:cs typeface="Roboto Mono"/>
                <a:sym typeface="Roboto Mono"/>
              </a:rPr>
              <a:t>: </a:t>
            </a:r>
            <a:r>
              <a:rPr lang="en" sz="880">
                <a:solidFill>
                  <a:schemeClr val="accent5"/>
                </a:solidFill>
                <a:latin typeface="Roboto Mono"/>
                <a:ea typeface="Roboto Mono"/>
                <a:cs typeface="Roboto Mono"/>
                <a:sym typeface="Roboto Mono"/>
              </a:rPr>
              <a:t>"user"</a:t>
            </a:r>
            <a:r>
              <a:rPr lang="en" sz="880">
                <a:latin typeface="Roboto Mono"/>
                <a:ea typeface="Roboto Mono"/>
                <a:cs typeface="Roboto Mono"/>
                <a:sym typeface="Roboto Mono"/>
              </a:rPr>
              <a:t>,</a:t>
            </a:r>
            <a:br>
              <a:rPr lang="en" sz="880">
                <a:latin typeface="Roboto Mono"/>
                <a:ea typeface="Roboto Mono"/>
                <a:cs typeface="Roboto Mono"/>
                <a:sym typeface="Roboto Mono"/>
              </a:rPr>
            </a:br>
            <a:r>
              <a:rPr lang="en" sz="880">
                <a:latin typeface="Roboto Mono"/>
                <a:ea typeface="Roboto Mono"/>
                <a:cs typeface="Roboto Mono"/>
                <a:sym typeface="Roboto Mono"/>
              </a:rPr>
              <a:t>             </a:t>
            </a:r>
            <a:r>
              <a:rPr lang="en" sz="880">
                <a:solidFill>
                  <a:schemeClr val="accent5"/>
                </a:solidFill>
                <a:latin typeface="Roboto Mono"/>
                <a:ea typeface="Roboto Mono"/>
                <a:cs typeface="Roboto Mono"/>
                <a:sym typeface="Roboto Mono"/>
              </a:rPr>
              <a:t>"content"</a:t>
            </a:r>
            <a:r>
              <a:rPr lang="en" sz="880">
                <a:latin typeface="Roboto Mono"/>
                <a:ea typeface="Roboto Mono"/>
                <a:cs typeface="Roboto Mono"/>
                <a:sym typeface="Roboto Mono"/>
              </a:rPr>
              <a:t>: </a:t>
            </a:r>
            <a:r>
              <a:rPr lang="en" sz="880">
                <a:solidFill>
                  <a:schemeClr val="accent5"/>
                </a:solidFill>
                <a:latin typeface="Roboto Mono"/>
                <a:ea typeface="Roboto Mono"/>
                <a:cs typeface="Roboto Mono"/>
                <a:sym typeface="Roboto Mono"/>
              </a:rPr>
              <a:t>"That's not a very good joke."</a:t>
            </a:r>
            <a:r>
              <a:rPr lang="en" sz="880">
                <a:latin typeface="Roboto Mono"/>
                <a:ea typeface="Roboto Mono"/>
                <a:cs typeface="Roboto Mono"/>
                <a:sym typeface="Roboto Mono"/>
              </a:rPr>
              <a:t>},</a:t>
            </a:r>
            <a:endParaRPr sz="880">
              <a:latin typeface="Roboto Mono"/>
              <a:ea typeface="Roboto Mono"/>
              <a:cs typeface="Roboto Mono"/>
              <a:sym typeface="Roboto Mono"/>
            </a:endParaRPr>
          </a:p>
          <a:p>
            <a:pPr indent="0" lvl="0" marL="0" rtl="0" algn="l">
              <a:lnSpc>
                <a:spcPct val="105000"/>
              </a:lnSpc>
              <a:spcBef>
                <a:spcPts val="0"/>
              </a:spcBef>
              <a:spcAft>
                <a:spcPts val="0"/>
              </a:spcAft>
              <a:buSzPts val="770"/>
              <a:buNone/>
            </a:pPr>
            <a:r>
              <a:rPr lang="en" sz="880">
                <a:latin typeface="Roboto Mono"/>
                <a:ea typeface="Roboto Mono"/>
                <a:cs typeface="Roboto Mono"/>
                <a:sym typeface="Roboto Mono"/>
              </a:rPr>
              <a:t>            </a:t>
            </a:r>
            <a:r>
              <a:rPr lang="en" sz="880">
                <a:solidFill>
                  <a:schemeClr val="accent4"/>
                </a:solidFill>
                <a:latin typeface="Roboto Mono"/>
                <a:ea typeface="Roboto Mono"/>
                <a:cs typeface="Roboto Mono"/>
                <a:sym typeface="Roboto Mono"/>
              </a:rPr>
              <a:t># autocomplete will give us the next whole message</a:t>
            </a:r>
            <a:endParaRPr sz="880">
              <a:solidFill>
                <a:schemeClr val="accent4"/>
              </a:solidFill>
              <a:latin typeface="Roboto Mono"/>
              <a:ea typeface="Roboto Mono"/>
              <a:cs typeface="Roboto Mono"/>
              <a:sym typeface="Roboto Mono"/>
            </a:endParaRPr>
          </a:p>
          <a:p>
            <a:pPr indent="0" lvl="0" marL="0" rtl="0" algn="l">
              <a:lnSpc>
                <a:spcPct val="105000"/>
              </a:lnSpc>
              <a:spcBef>
                <a:spcPts val="0"/>
              </a:spcBef>
              <a:spcAft>
                <a:spcPts val="0"/>
              </a:spcAft>
              <a:buSzPts val="770"/>
              <a:buNone/>
            </a:pPr>
            <a:r>
              <a:rPr lang="en" sz="880">
                <a:latin typeface="Roboto Mono"/>
                <a:ea typeface="Roboto Mono"/>
                <a:cs typeface="Roboto Mono"/>
                <a:sym typeface="Roboto Mono"/>
              </a:rPr>
              <a:t>        ],</a:t>
            </a:r>
            <a:endParaRPr sz="880">
              <a:latin typeface="Roboto Mono"/>
              <a:ea typeface="Roboto Mono"/>
              <a:cs typeface="Roboto Mono"/>
              <a:sym typeface="Roboto Mono"/>
            </a:endParaRPr>
          </a:p>
          <a:p>
            <a:pPr indent="0" lvl="0" marL="0" rtl="0" algn="l">
              <a:lnSpc>
                <a:spcPct val="105000"/>
              </a:lnSpc>
              <a:spcBef>
                <a:spcPts val="0"/>
              </a:spcBef>
              <a:spcAft>
                <a:spcPts val="0"/>
              </a:spcAft>
              <a:buSzPts val="770"/>
              <a:buNone/>
            </a:pPr>
            <a:r>
              <a:rPr lang="en" sz="880">
                <a:latin typeface="Roboto Mono"/>
                <a:ea typeface="Roboto Mono"/>
                <a:cs typeface="Roboto Mono"/>
                <a:sym typeface="Roboto Mono"/>
              </a:rPr>
              <a:t>    },</a:t>
            </a:r>
            <a:endParaRPr sz="880">
              <a:latin typeface="Roboto Mono"/>
              <a:ea typeface="Roboto Mono"/>
              <a:cs typeface="Roboto Mono"/>
              <a:sym typeface="Roboto Mono"/>
            </a:endParaRPr>
          </a:p>
          <a:p>
            <a:pPr indent="0" lvl="0" marL="0" rtl="0" algn="l">
              <a:lnSpc>
                <a:spcPct val="105000"/>
              </a:lnSpc>
              <a:spcBef>
                <a:spcPts val="0"/>
              </a:spcBef>
              <a:spcAft>
                <a:spcPts val="0"/>
              </a:spcAft>
              <a:buSzPts val="770"/>
              <a:buNone/>
            </a:pPr>
            <a:r>
              <a:rPr lang="en" sz="880">
                <a:latin typeface="Roboto Mono"/>
                <a:ea typeface="Roboto Mono"/>
                <a:cs typeface="Roboto Mono"/>
                <a:sym typeface="Roboto Mono"/>
              </a:rPr>
              <a:t>).json()</a:t>
            </a:r>
            <a:endParaRPr sz="880">
              <a:latin typeface="Roboto Mono"/>
              <a:ea typeface="Roboto Mono"/>
              <a:cs typeface="Roboto Mono"/>
              <a:sym typeface="Roboto Mono"/>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5" name="Shape 605"/>
        <p:cNvGrpSpPr/>
        <p:nvPr/>
      </p:nvGrpSpPr>
      <p:grpSpPr>
        <a:xfrm>
          <a:off x="0" y="0"/>
          <a:ext cx="0" cy="0"/>
          <a:chOff x="0" y="0"/>
          <a:chExt cx="0" cy="0"/>
        </a:xfrm>
      </p:grpSpPr>
      <p:sp>
        <p:nvSpPr>
          <p:cNvPr id="606" name="Google Shape;606;p8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Attention and context window</a:t>
            </a:r>
            <a:endParaRPr/>
          </a:p>
        </p:txBody>
      </p:sp>
      <p:sp>
        <p:nvSpPr>
          <p:cNvPr id="607" name="Google Shape;607;p8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Internally, the LLM assesses how related every token is to every other token and uses that to predict the next one. This is how much </a:t>
            </a:r>
            <a:r>
              <a:rPr b="1" lang="en"/>
              <a:t>attention</a:t>
            </a:r>
            <a:r>
              <a:rPr lang="en"/>
              <a:t> it pays to each pair.</a:t>
            </a:r>
            <a:endParaRPr/>
          </a:p>
          <a:p>
            <a:pPr indent="0" lvl="0" marL="0" rtl="0" algn="l">
              <a:spcBef>
                <a:spcPts val="1000"/>
              </a:spcBef>
              <a:spcAft>
                <a:spcPts val="1000"/>
              </a:spcAft>
              <a:buNone/>
            </a:pPr>
            <a:r>
              <a:t/>
            </a:r>
            <a:endParaRPr b="1">
              <a:solidFill>
                <a:schemeClr val="accent1"/>
              </a:solidFill>
            </a:endParaRPr>
          </a:p>
        </p:txBody>
      </p:sp>
      <p:pic>
        <p:nvPicPr>
          <p:cNvPr id="608" name="Google Shape;608;p85" title="self-attention.gif"/>
          <p:cNvPicPr preferRelativeResize="0"/>
          <p:nvPr/>
        </p:nvPicPr>
        <p:blipFill>
          <a:blip r:embed="rId3">
            <a:alphaModFix/>
          </a:blip>
          <a:stretch>
            <a:fillRect/>
          </a:stretch>
        </p:blipFill>
        <p:spPr>
          <a:xfrm>
            <a:off x="2825401" y="2026547"/>
            <a:ext cx="3493199" cy="3028626"/>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p8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Attention and context window</a:t>
            </a:r>
            <a:endParaRPr/>
          </a:p>
        </p:txBody>
      </p:sp>
      <p:sp>
        <p:nvSpPr>
          <p:cNvPr id="614" name="Google Shape;614;p8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Internally, the LLM assesses how related every token is to every other token and uses that to predict the next one. This is how much </a:t>
            </a:r>
            <a:r>
              <a:rPr b="1" lang="en"/>
              <a:t>attention</a:t>
            </a:r>
            <a:r>
              <a:rPr lang="en"/>
              <a:t> it pays to each pair.</a:t>
            </a:r>
            <a:endParaRPr/>
          </a:p>
          <a:p>
            <a:pPr indent="0" lvl="0" marL="0" rtl="0" algn="l">
              <a:spcBef>
                <a:spcPts val="1000"/>
              </a:spcBef>
              <a:spcAft>
                <a:spcPts val="1000"/>
              </a:spcAft>
              <a:buNone/>
            </a:pPr>
            <a:r>
              <a:t/>
            </a:r>
            <a:endParaRPr b="1">
              <a:solidFill>
                <a:schemeClr val="accent1"/>
              </a:solidFill>
            </a:endParaRPr>
          </a:p>
        </p:txBody>
      </p:sp>
      <p:pic>
        <p:nvPicPr>
          <p:cNvPr id="615" name="Google Shape;615;p86" title="real-cross-attention-a.png"/>
          <p:cNvPicPr preferRelativeResize="0"/>
          <p:nvPr/>
        </p:nvPicPr>
        <p:blipFill>
          <a:blip r:embed="rId3">
            <a:alphaModFix/>
          </a:blip>
          <a:stretch>
            <a:fillRect/>
          </a:stretch>
        </p:blipFill>
        <p:spPr>
          <a:xfrm>
            <a:off x="3244975" y="1882512"/>
            <a:ext cx="2654063" cy="273634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9" name="Shape 619"/>
        <p:cNvGrpSpPr/>
        <p:nvPr/>
      </p:nvGrpSpPr>
      <p:grpSpPr>
        <a:xfrm>
          <a:off x="0" y="0"/>
          <a:ext cx="0" cy="0"/>
          <a:chOff x="0" y="0"/>
          <a:chExt cx="0" cy="0"/>
        </a:xfrm>
      </p:grpSpPr>
      <p:sp>
        <p:nvSpPr>
          <p:cNvPr id="620" name="Google Shape;620;p8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Attention and context window</a:t>
            </a:r>
            <a:endParaRPr/>
          </a:p>
        </p:txBody>
      </p:sp>
      <p:sp>
        <p:nvSpPr>
          <p:cNvPr id="621" name="Google Shape;621;p87"/>
          <p:cNvSpPr txBox="1"/>
          <p:nvPr>
            <p:ph idx="1" type="body"/>
          </p:nvPr>
        </p:nvSpPr>
        <p:spPr>
          <a:xfrm>
            <a:off x="311700" y="1152475"/>
            <a:ext cx="85206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Internally, the LLM assesses how related every token is to every other token and uses that to predict the next one. This is how much </a:t>
            </a:r>
            <a:r>
              <a:rPr b="1" lang="en"/>
              <a:t>attention</a:t>
            </a:r>
            <a:r>
              <a:rPr lang="en"/>
              <a:t> it pays to each pair.</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sz="2100"/>
          </a:p>
          <a:p>
            <a:pPr indent="0" lvl="0" marL="0" rtl="0" algn="l">
              <a:spcBef>
                <a:spcPts val="1000"/>
              </a:spcBef>
              <a:spcAft>
                <a:spcPts val="0"/>
              </a:spcAft>
              <a:buNone/>
            </a:pPr>
            <a:r>
              <a:t/>
            </a:r>
            <a:endParaRPr/>
          </a:p>
          <a:p>
            <a:pPr indent="0" lvl="0" marL="0" rtl="0" algn="l">
              <a:spcBef>
                <a:spcPts val="1000"/>
              </a:spcBef>
              <a:spcAft>
                <a:spcPts val="1000"/>
              </a:spcAft>
              <a:buNone/>
            </a:pPr>
            <a:r>
              <a:rPr lang="en"/>
              <a:t>The </a:t>
            </a:r>
            <a:r>
              <a:rPr b="1" lang="en"/>
              <a:t>context window</a:t>
            </a:r>
            <a:r>
              <a:rPr lang="en"/>
              <a:t> is the size of the grid of attention strengths.</a:t>
            </a:r>
            <a:endParaRPr b="1">
              <a:solidFill>
                <a:schemeClr val="accent1"/>
              </a:solidFill>
            </a:endParaRPr>
          </a:p>
        </p:txBody>
      </p:sp>
      <p:pic>
        <p:nvPicPr>
          <p:cNvPr id="622" name="Google Shape;622;p87" title="real-cross-attention-a.png"/>
          <p:cNvPicPr preferRelativeResize="0"/>
          <p:nvPr/>
        </p:nvPicPr>
        <p:blipFill>
          <a:blip r:embed="rId3">
            <a:alphaModFix/>
          </a:blip>
          <a:stretch>
            <a:fillRect/>
          </a:stretch>
        </p:blipFill>
        <p:spPr>
          <a:xfrm>
            <a:off x="3244975" y="1882512"/>
            <a:ext cx="2654063" cy="273634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6" name="Shape 626"/>
        <p:cNvGrpSpPr/>
        <p:nvPr/>
      </p:nvGrpSpPr>
      <p:grpSpPr>
        <a:xfrm>
          <a:off x="0" y="0"/>
          <a:ext cx="0" cy="0"/>
          <a:chOff x="0" y="0"/>
          <a:chExt cx="0" cy="0"/>
        </a:xfrm>
      </p:grpSpPr>
      <p:sp>
        <p:nvSpPr>
          <p:cNvPr id="627" name="Google Shape;627;p8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Attention and context window</a:t>
            </a:r>
            <a:endParaRPr/>
          </a:p>
        </p:txBody>
      </p:sp>
      <p:sp>
        <p:nvSpPr>
          <p:cNvPr id="628" name="Google Shape;628;p88"/>
          <p:cNvSpPr txBox="1"/>
          <p:nvPr>
            <p:ph idx="1" type="body"/>
          </p:nvPr>
        </p:nvSpPr>
        <p:spPr>
          <a:xfrm>
            <a:off x="311700" y="1152475"/>
            <a:ext cx="85206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Internally, the LLM assesses how related every token is to every other token and uses that to predict the next one. This is how much </a:t>
            </a:r>
            <a:r>
              <a:rPr b="1" lang="en"/>
              <a:t>attention</a:t>
            </a:r>
            <a:r>
              <a:rPr lang="en"/>
              <a:t> it pays to each pair.</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sz="2100"/>
          </a:p>
          <a:p>
            <a:pPr indent="0" lvl="0" marL="0" rtl="0" algn="l">
              <a:spcBef>
                <a:spcPts val="1000"/>
              </a:spcBef>
              <a:spcAft>
                <a:spcPts val="0"/>
              </a:spcAft>
              <a:buNone/>
            </a:pPr>
            <a:r>
              <a:t/>
            </a:r>
            <a:endParaRPr/>
          </a:p>
          <a:p>
            <a:pPr indent="0" lvl="0" marL="0" rtl="0" algn="l">
              <a:spcBef>
                <a:spcPts val="1000"/>
              </a:spcBef>
              <a:spcAft>
                <a:spcPts val="1000"/>
              </a:spcAft>
              <a:buNone/>
            </a:pPr>
            <a:r>
              <a:rPr lang="en"/>
              <a:t>The </a:t>
            </a:r>
            <a:r>
              <a:rPr b="1" lang="en"/>
              <a:t>context window</a:t>
            </a:r>
            <a:r>
              <a:rPr lang="en"/>
              <a:t> is the size of the grid of attention strengths. </a:t>
            </a:r>
            <a:r>
              <a:rPr b="1" lang="en">
                <a:solidFill>
                  <a:schemeClr val="accent1"/>
                </a:solidFill>
              </a:rPr>
              <a:t>It can overflow.</a:t>
            </a:r>
            <a:endParaRPr b="1">
              <a:solidFill>
                <a:schemeClr val="accent1"/>
              </a:solidFill>
            </a:endParaRPr>
          </a:p>
        </p:txBody>
      </p:sp>
      <p:pic>
        <p:nvPicPr>
          <p:cNvPr id="629" name="Google Shape;629;p88"/>
          <p:cNvPicPr preferRelativeResize="0"/>
          <p:nvPr/>
        </p:nvPicPr>
        <p:blipFill>
          <a:blip r:embed="rId3">
            <a:alphaModFix/>
          </a:blip>
          <a:stretch>
            <a:fillRect/>
          </a:stretch>
        </p:blipFill>
        <p:spPr>
          <a:xfrm>
            <a:off x="6042470" y="1882512"/>
            <a:ext cx="2736343" cy="2736343"/>
          </a:xfrm>
          <a:prstGeom prst="rect">
            <a:avLst/>
          </a:prstGeom>
          <a:noFill/>
          <a:ln>
            <a:noFill/>
          </a:ln>
        </p:spPr>
      </p:pic>
      <p:pic>
        <p:nvPicPr>
          <p:cNvPr id="630" name="Google Shape;630;p88" title="real-cross-attention-a.png"/>
          <p:cNvPicPr preferRelativeResize="0"/>
          <p:nvPr/>
        </p:nvPicPr>
        <p:blipFill>
          <a:blip r:embed="rId4">
            <a:alphaModFix/>
          </a:blip>
          <a:stretch>
            <a:fillRect/>
          </a:stretch>
        </p:blipFill>
        <p:spPr>
          <a:xfrm>
            <a:off x="3244975" y="1882512"/>
            <a:ext cx="2654063" cy="273634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4" name="Shape 634"/>
        <p:cNvGrpSpPr/>
        <p:nvPr/>
      </p:nvGrpSpPr>
      <p:grpSpPr>
        <a:xfrm>
          <a:off x="0" y="0"/>
          <a:ext cx="0" cy="0"/>
          <a:chOff x="0" y="0"/>
          <a:chExt cx="0" cy="0"/>
        </a:xfrm>
      </p:grpSpPr>
      <p:sp>
        <p:nvSpPr>
          <p:cNvPr id="635" name="Google Shape;635;p8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Temperature ~ randomness</a:t>
            </a:r>
            <a:endParaRPr/>
          </a:p>
        </p:txBody>
      </p:sp>
      <p:sp>
        <p:nvSpPr>
          <p:cNvPr id="636" name="Google Shape;636;p89"/>
          <p:cNvSpPr txBox="1"/>
          <p:nvPr>
            <p:ph idx="1" type="body"/>
          </p:nvPr>
        </p:nvSpPr>
        <p:spPr>
          <a:xfrm>
            <a:off x="311700" y="1152475"/>
            <a:ext cx="2557800" cy="3990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Always choosing the best-fit autocompletion can lead to cycles and other artifacts, so LLM output is slightly randomized.</a:t>
            </a:r>
            <a:endParaRPr/>
          </a:p>
          <a:p>
            <a:pPr indent="0" lvl="0" marL="0" rtl="0" algn="l">
              <a:spcBef>
                <a:spcPts val="1000"/>
              </a:spcBef>
              <a:spcAft>
                <a:spcPts val="0"/>
              </a:spcAft>
              <a:buNone/>
            </a:pPr>
            <a:r>
              <a:t/>
            </a:r>
            <a:endParaRPr sz="996"/>
          </a:p>
          <a:p>
            <a:pPr indent="0" lvl="0" marL="0" rtl="0" algn="l">
              <a:spcBef>
                <a:spcPts val="1000"/>
              </a:spcBef>
              <a:spcAft>
                <a:spcPts val="0"/>
              </a:spcAft>
              <a:buNone/>
            </a:pPr>
            <a:br>
              <a:rPr lang="en"/>
            </a:br>
            <a:br>
              <a:rPr lang="en"/>
            </a:br>
            <a:endParaRPr/>
          </a:p>
          <a:p>
            <a:pPr indent="0" lvl="0" marL="0" rtl="0" algn="l">
              <a:spcBef>
                <a:spcPts val="1000"/>
              </a:spcBef>
              <a:spcAft>
                <a:spcPts val="0"/>
              </a:spcAft>
              <a:buNone/>
            </a:pPr>
            <a:r>
              <a:t/>
            </a:r>
            <a:endParaRPr sz="1043"/>
          </a:p>
          <a:p>
            <a:pPr indent="0" lvl="0" marL="0" rtl="0" algn="l">
              <a:spcBef>
                <a:spcPts val="1000"/>
              </a:spcBef>
              <a:spcAft>
                <a:spcPts val="1000"/>
              </a:spcAft>
              <a:buNone/>
            </a:pPr>
            <a:br>
              <a:rPr lang="en"/>
            </a:br>
            <a:br>
              <a:rPr lang="en"/>
            </a:br>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0" name="Shape 640"/>
        <p:cNvGrpSpPr/>
        <p:nvPr/>
      </p:nvGrpSpPr>
      <p:grpSpPr>
        <a:xfrm>
          <a:off x="0" y="0"/>
          <a:ext cx="0" cy="0"/>
          <a:chOff x="0" y="0"/>
          <a:chExt cx="0" cy="0"/>
        </a:xfrm>
      </p:grpSpPr>
      <p:sp>
        <p:nvSpPr>
          <p:cNvPr id="641" name="Google Shape;641;p9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Temperature ~ randomness</a:t>
            </a:r>
            <a:endParaRPr/>
          </a:p>
        </p:txBody>
      </p:sp>
      <p:pic>
        <p:nvPicPr>
          <p:cNvPr id="642" name="Google Shape;642;p90" title="llm-temperature.png"/>
          <p:cNvPicPr preferRelativeResize="0"/>
          <p:nvPr/>
        </p:nvPicPr>
        <p:blipFill rotWithShape="1">
          <a:blip r:embed="rId3">
            <a:alphaModFix/>
          </a:blip>
          <a:srcRect b="0" l="0" r="14763" t="8105"/>
          <a:stretch/>
        </p:blipFill>
        <p:spPr>
          <a:xfrm>
            <a:off x="2869475" y="1460750"/>
            <a:ext cx="5082375" cy="3493799"/>
          </a:xfrm>
          <a:prstGeom prst="rect">
            <a:avLst/>
          </a:prstGeom>
          <a:noFill/>
          <a:ln>
            <a:noFill/>
          </a:ln>
        </p:spPr>
      </p:pic>
      <p:sp>
        <p:nvSpPr>
          <p:cNvPr id="643" name="Google Shape;643;p90"/>
          <p:cNvSpPr txBox="1"/>
          <p:nvPr>
            <p:ph idx="1" type="body"/>
          </p:nvPr>
        </p:nvSpPr>
        <p:spPr>
          <a:xfrm>
            <a:off x="311700" y="1152475"/>
            <a:ext cx="2557800" cy="3990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Always choosing the best-fit autocompletion can lead to cycles and other artifacts, so LLM output is slightly randomized.</a:t>
            </a:r>
            <a:endParaRPr/>
          </a:p>
          <a:p>
            <a:pPr indent="0" lvl="0" marL="0" rtl="0" algn="l">
              <a:spcBef>
                <a:spcPts val="1000"/>
              </a:spcBef>
              <a:spcAft>
                <a:spcPts val="0"/>
              </a:spcAft>
              <a:buNone/>
            </a:pPr>
            <a:r>
              <a:t/>
            </a:r>
            <a:endParaRPr sz="996"/>
          </a:p>
          <a:p>
            <a:pPr indent="0" lvl="0" marL="0" rtl="0" algn="l">
              <a:spcBef>
                <a:spcPts val="1000"/>
              </a:spcBef>
              <a:spcAft>
                <a:spcPts val="0"/>
              </a:spcAft>
              <a:buNone/>
            </a:pPr>
            <a:r>
              <a:rPr lang="en"/>
              <a:t>Temperature controls how random it is, by analogy with physics.</a:t>
            </a:r>
            <a:endParaRPr/>
          </a:p>
          <a:p>
            <a:pPr indent="0" lvl="0" marL="0" rtl="0" algn="l">
              <a:spcBef>
                <a:spcPts val="1000"/>
              </a:spcBef>
              <a:spcAft>
                <a:spcPts val="0"/>
              </a:spcAft>
              <a:buNone/>
            </a:pPr>
            <a:r>
              <a:t/>
            </a:r>
            <a:endParaRPr sz="1043"/>
          </a:p>
          <a:p>
            <a:pPr indent="0" lvl="0" marL="0" rtl="0" algn="l">
              <a:spcBef>
                <a:spcPts val="1000"/>
              </a:spcBef>
              <a:spcAft>
                <a:spcPts val="1000"/>
              </a:spcAft>
              <a:buNone/>
            </a:pPr>
            <a:r>
              <a:rPr lang="en"/>
              <a:t>T=0: minimally random</a:t>
            </a:r>
            <a:br>
              <a:rPr lang="en"/>
            </a:br>
            <a:r>
              <a:rPr lang="en"/>
              <a:t>T=1: default</a:t>
            </a:r>
            <a:br>
              <a:rPr lang="en"/>
            </a:br>
            <a:r>
              <a:rPr lang="en"/>
              <a:t>T&gt;1: increasingly chaotic</a:t>
            </a:r>
            <a:endParaRPr/>
          </a:p>
        </p:txBody>
      </p:sp>
      <p:sp>
        <p:nvSpPr>
          <p:cNvPr id="644" name="Google Shape;644;p90"/>
          <p:cNvSpPr txBox="1"/>
          <p:nvPr/>
        </p:nvSpPr>
        <p:spPr>
          <a:xfrm>
            <a:off x="5991225" y="1046975"/>
            <a:ext cx="24072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800">
                <a:solidFill>
                  <a:schemeClr val="accent1"/>
                </a:solidFill>
              </a:rPr>
              <a:t>The cat sat on the…</a:t>
            </a:r>
            <a:endParaRPr b="1" sz="1800">
              <a:solidFill>
                <a:schemeClr val="accent1"/>
              </a:solidFill>
            </a:endParaRPr>
          </a:p>
        </p:txBody>
      </p:sp>
      <p:sp>
        <p:nvSpPr>
          <p:cNvPr id="645" name="Google Shape;645;p90"/>
          <p:cNvSpPr txBox="1"/>
          <p:nvPr/>
        </p:nvSpPr>
        <p:spPr>
          <a:xfrm>
            <a:off x="7931277" y="1932419"/>
            <a:ext cx="119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800">
                <a:solidFill>
                  <a:schemeClr val="accent1"/>
                </a:solidFill>
              </a:rPr>
              <a:t>…moon</a:t>
            </a:r>
            <a:endParaRPr b="1" sz="1800">
              <a:solidFill>
                <a:schemeClr val="accent1"/>
              </a:solidFill>
            </a:endParaRPr>
          </a:p>
        </p:txBody>
      </p:sp>
      <p:sp>
        <p:nvSpPr>
          <p:cNvPr id="646" name="Google Shape;646;p90"/>
          <p:cNvSpPr txBox="1"/>
          <p:nvPr/>
        </p:nvSpPr>
        <p:spPr>
          <a:xfrm>
            <a:off x="7931277" y="2887967"/>
            <a:ext cx="119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800">
                <a:solidFill>
                  <a:schemeClr val="accent1"/>
                </a:solidFill>
              </a:rPr>
              <a:t>…sofa</a:t>
            </a:r>
            <a:endParaRPr b="1" sz="1800">
              <a:solidFill>
                <a:schemeClr val="accent1"/>
              </a:solidFill>
            </a:endParaRPr>
          </a:p>
        </p:txBody>
      </p:sp>
      <p:sp>
        <p:nvSpPr>
          <p:cNvPr id="647" name="Google Shape;647;p90"/>
          <p:cNvSpPr txBox="1"/>
          <p:nvPr/>
        </p:nvSpPr>
        <p:spPr>
          <a:xfrm>
            <a:off x="7931277" y="3925811"/>
            <a:ext cx="119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800">
                <a:solidFill>
                  <a:schemeClr val="accent1"/>
                </a:solidFill>
              </a:rPr>
              <a:t>…mat</a:t>
            </a:r>
            <a:endParaRPr b="1" sz="1800">
              <a:solidFill>
                <a:schemeClr val="accent1"/>
              </a:solidFill>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sp>
        <p:nvSpPr>
          <p:cNvPr id="652" name="Google Shape;652;p9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"Hallucinations"</a:t>
            </a:r>
            <a:endParaRPr/>
          </a:p>
        </p:txBody>
      </p:sp>
      <p:sp>
        <p:nvSpPr>
          <p:cNvPr id="653" name="Google Shape;653;p91"/>
          <p:cNvSpPr txBox="1"/>
          <p:nvPr>
            <p:ph idx="1" type="body"/>
          </p:nvPr>
        </p:nvSpPr>
        <p:spPr>
          <a:xfrm>
            <a:off x="311700" y="1152475"/>
            <a:ext cx="85206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In 1999, an image model was designed to guess at missing information when it scaled up an image; this was called called "hallucinating" (as a good thing!).</a:t>
            </a:r>
            <a:endParaRPr/>
          </a:p>
          <a:p>
            <a:pPr indent="0" lvl="0" marL="0" rtl="0" algn="l">
              <a:spcBef>
                <a:spcPts val="1000"/>
              </a:spcBef>
              <a:spcAft>
                <a:spcPts val="0"/>
              </a:spcAft>
              <a:buNone/>
            </a:pPr>
            <a:r>
              <a:rPr lang="en"/>
              <a:t>By 2015, it was used to describe fake URLs generated by text models.</a:t>
            </a:r>
            <a:endParaRPr/>
          </a:p>
          <a:p>
            <a:pPr indent="0" lvl="0" marL="0" rtl="0" algn="l">
              <a:spcBef>
                <a:spcPts val="1000"/>
              </a:spcBef>
              <a:spcAft>
                <a:spcPts val="0"/>
              </a:spcAft>
              <a:buNone/>
            </a:pPr>
            <a:r>
              <a:rPr lang="en"/>
              <a:t>Now it means "incorrect statement expressed by an LLM with confidence."</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457200" rtl="0" algn="l">
              <a:spcBef>
                <a:spcPts val="1000"/>
              </a:spcBef>
              <a:spcAft>
                <a:spcPts val="1000"/>
              </a:spcAft>
              <a:buNone/>
            </a:pPr>
            <a:r>
              <a:t/>
            </a:r>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7" name="Shape 657"/>
        <p:cNvGrpSpPr/>
        <p:nvPr/>
      </p:nvGrpSpPr>
      <p:grpSpPr>
        <a:xfrm>
          <a:off x="0" y="0"/>
          <a:ext cx="0" cy="0"/>
          <a:chOff x="0" y="0"/>
          <a:chExt cx="0" cy="0"/>
        </a:xfrm>
      </p:grpSpPr>
      <p:sp>
        <p:nvSpPr>
          <p:cNvPr id="658" name="Google Shape;658;p9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"Hallucinations"</a:t>
            </a:r>
            <a:endParaRPr/>
          </a:p>
        </p:txBody>
      </p:sp>
      <p:sp>
        <p:nvSpPr>
          <p:cNvPr id="659" name="Google Shape;659;p92"/>
          <p:cNvSpPr txBox="1"/>
          <p:nvPr>
            <p:ph idx="1" type="body"/>
          </p:nvPr>
        </p:nvSpPr>
        <p:spPr>
          <a:xfrm>
            <a:off x="311700" y="1152475"/>
            <a:ext cx="85206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In 1999, an image model was designed to guess at missing information when it scaled up an image; this was called called "hallucinating" (as a good thing!).</a:t>
            </a:r>
            <a:endParaRPr/>
          </a:p>
          <a:p>
            <a:pPr indent="0" lvl="0" marL="0" rtl="0" algn="l">
              <a:spcBef>
                <a:spcPts val="1000"/>
              </a:spcBef>
              <a:spcAft>
                <a:spcPts val="0"/>
              </a:spcAft>
              <a:buNone/>
            </a:pPr>
            <a:r>
              <a:rPr lang="en"/>
              <a:t>By 2015, it was used to describe fake URLs generated by text models.</a:t>
            </a:r>
            <a:endParaRPr/>
          </a:p>
          <a:p>
            <a:pPr indent="0" lvl="0" marL="0" rtl="0" algn="l">
              <a:spcBef>
                <a:spcPts val="1000"/>
              </a:spcBef>
              <a:spcAft>
                <a:spcPts val="0"/>
              </a:spcAft>
              <a:buNone/>
            </a:pPr>
            <a:r>
              <a:rPr lang="en"/>
              <a:t>Now it means "incorrect statement expressed by an LLM with confidence."</a:t>
            </a:r>
            <a:endParaRPr/>
          </a:p>
          <a:p>
            <a:pPr indent="0" lvl="0" marL="0" rtl="0" algn="l">
              <a:spcBef>
                <a:spcPts val="1000"/>
              </a:spcBef>
              <a:spcAft>
                <a:spcPts val="0"/>
              </a:spcAft>
              <a:buNone/>
            </a:pPr>
            <a:r>
              <a:rPr b="1" lang="en"/>
              <a:t>Alternatives:</a:t>
            </a:r>
            <a:r>
              <a:rPr lang="en"/>
              <a:t> "confabulation", "fabrication", "bullshit" (</a:t>
            </a:r>
            <a:r>
              <a:rPr lang="en" u="sng">
                <a:solidFill>
                  <a:schemeClr val="hlink"/>
                </a:solidFill>
                <a:hlinkClick r:id="rId3"/>
              </a:rPr>
              <a:t>a philosophical term</a:t>
            </a:r>
            <a:r>
              <a:rPr lang="en"/>
              <a:t>)</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457200" rtl="0" algn="l">
              <a:spcBef>
                <a:spcPts val="1000"/>
              </a:spcBef>
              <a:spcAft>
                <a:spcPts val="1000"/>
              </a:spcAft>
              <a:buNone/>
            </a:pPr>
            <a:r>
              <a:t/>
            </a:r>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sp>
        <p:nvSpPr>
          <p:cNvPr id="664" name="Google Shape;664;p9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"Hallucinations"</a:t>
            </a:r>
            <a:endParaRPr/>
          </a:p>
        </p:txBody>
      </p:sp>
      <p:sp>
        <p:nvSpPr>
          <p:cNvPr id="665" name="Google Shape;665;p93"/>
          <p:cNvSpPr txBox="1"/>
          <p:nvPr>
            <p:ph idx="1" type="body"/>
          </p:nvPr>
        </p:nvSpPr>
        <p:spPr>
          <a:xfrm>
            <a:off x="311700" y="1152475"/>
            <a:ext cx="85206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In 1999, an image model was designed to guess at missing information when it scaled up an image; this was called called "hallucinating" (as a good thing!).</a:t>
            </a:r>
            <a:endParaRPr/>
          </a:p>
          <a:p>
            <a:pPr indent="0" lvl="0" marL="0" rtl="0" algn="l">
              <a:spcBef>
                <a:spcPts val="1000"/>
              </a:spcBef>
              <a:spcAft>
                <a:spcPts val="0"/>
              </a:spcAft>
              <a:buNone/>
            </a:pPr>
            <a:r>
              <a:rPr lang="en"/>
              <a:t>By 2015, it was used to describe fake URLs generated by text models.</a:t>
            </a:r>
            <a:endParaRPr/>
          </a:p>
          <a:p>
            <a:pPr indent="0" lvl="0" marL="0" rtl="0" algn="l">
              <a:spcBef>
                <a:spcPts val="1000"/>
              </a:spcBef>
              <a:spcAft>
                <a:spcPts val="0"/>
              </a:spcAft>
              <a:buNone/>
            </a:pPr>
            <a:r>
              <a:rPr lang="en"/>
              <a:t>Now it means "incorrect statement expressed by an LLM with confidence."</a:t>
            </a:r>
            <a:endParaRPr/>
          </a:p>
          <a:p>
            <a:pPr indent="0" lvl="0" marL="0" rtl="0" algn="l">
              <a:spcBef>
                <a:spcPts val="1000"/>
              </a:spcBef>
              <a:spcAft>
                <a:spcPts val="0"/>
              </a:spcAft>
              <a:buNone/>
            </a:pPr>
            <a:r>
              <a:rPr b="1" lang="en"/>
              <a:t>Alternatives:</a:t>
            </a:r>
            <a:r>
              <a:rPr lang="en"/>
              <a:t> "confabulation", "fabrication", "bullshit" (</a:t>
            </a:r>
            <a:r>
              <a:rPr lang="en" u="sng">
                <a:solidFill>
                  <a:schemeClr val="hlink"/>
                </a:solidFill>
                <a:hlinkClick r:id="rId3"/>
              </a:rPr>
              <a:t>a philosophical term</a:t>
            </a:r>
            <a:r>
              <a:rPr lang="en"/>
              <a:t>)</a:t>
            </a:r>
            <a:endParaRPr/>
          </a:p>
          <a:p>
            <a:pPr indent="0" lvl="0" marL="0" rtl="0" algn="l">
              <a:spcBef>
                <a:spcPts val="1000"/>
              </a:spcBef>
              <a:spcAft>
                <a:spcPts val="0"/>
              </a:spcAft>
              <a:buNone/>
            </a:pPr>
            <a:r>
              <a:t/>
            </a:r>
            <a:endParaRPr/>
          </a:p>
          <a:p>
            <a:pPr indent="0" lvl="0" marL="0" rtl="0" algn="l">
              <a:spcBef>
                <a:spcPts val="1000"/>
              </a:spcBef>
              <a:spcAft>
                <a:spcPts val="0"/>
              </a:spcAft>
              <a:buNone/>
            </a:pPr>
            <a:r>
              <a:rPr lang="en"/>
              <a:t>There are two main ways to be incorrect:</a:t>
            </a:r>
            <a:endParaRPr/>
          </a:p>
          <a:p>
            <a:pPr indent="-342900" lvl="0" marL="457200" rtl="0" algn="l">
              <a:spcBef>
                <a:spcPts val="1000"/>
              </a:spcBef>
              <a:spcAft>
                <a:spcPts val="0"/>
              </a:spcAft>
              <a:buSzPts val="1800"/>
              <a:buChar char="●"/>
            </a:pPr>
            <a:r>
              <a:rPr b="1" lang="en"/>
              <a:t>Parametric knowledge error:</a:t>
            </a:r>
            <a:r>
              <a:rPr lang="en"/>
              <a:t> drawing on (lossy compressed) training data</a:t>
            </a:r>
            <a:endParaRPr/>
          </a:p>
          <a:p>
            <a:pPr indent="-342900" lvl="0" marL="457200" rtl="0" algn="l">
              <a:spcBef>
                <a:spcPts val="0"/>
              </a:spcBef>
              <a:spcAft>
                <a:spcPts val="0"/>
              </a:spcAft>
              <a:buSzPts val="1800"/>
              <a:buChar char="●"/>
            </a:pPr>
            <a:r>
              <a:rPr b="1" lang="en"/>
              <a:t>Contextual knowledge error:</a:t>
            </a:r>
            <a:r>
              <a:rPr lang="en"/>
              <a:t> bad summary of a downloaded web page</a:t>
            </a:r>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9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671" name="Google Shape;671;p94"/>
          <p:cNvSpPr txBox="1"/>
          <p:nvPr>
            <p:ph idx="1" type="body"/>
          </p:nvPr>
        </p:nvSpPr>
        <p:spPr>
          <a:xfrm>
            <a:off x="311700" y="1152475"/>
            <a:ext cx="8520600" cy="39909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Chat:</a:t>
            </a:r>
            <a:r>
              <a:rPr lang="en"/>
              <a:t> ChatGPT, Claude, Gemini…</a:t>
            </a:r>
            <a:br>
              <a:rPr lang="en"/>
            </a:br>
            <a:endParaRPr/>
          </a:p>
          <a:p>
            <a:pPr indent="0" lvl="0" marL="457200" rtl="0" algn="l">
              <a:spcBef>
                <a:spcPts val="1000"/>
              </a:spcBef>
              <a:spcAft>
                <a:spcPts val="0"/>
              </a:spcAft>
              <a:buNone/>
            </a:pPr>
            <a:br>
              <a:rPr lang="en"/>
            </a:br>
            <a:endParaRPr/>
          </a:p>
          <a:p>
            <a:pPr indent="0" lvl="0" marL="457200" rtl="0" algn="l">
              <a:spcBef>
                <a:spcPts val="1000"/>
              </a:spcBef>
              <a:spcAft>
                <a:spcPts val="0"/>
              </a:spcAft>
              <a:buNone/>
            </a:pPr>
            <a:r>
              <a:t/>
            </a:r>
            <a:endParaRPr b="1"/>
          </a:p>
          <a:p>
            <a:pPr indent="0" lvl="0" marL="914400" rtl="0" algn="l">
              <a:spcBef>
                <a:spcPts val="1000"/>
              </a:spcBef>
              <a:spcAft>
                <a:spcPts val="500"/>
              </a:spcAft>
              <a:buNone/>
            </a:pPr>
            <a:r>
              <a:t/>
            </a:r>
            <a:endParaRPr b="1">
              <a:solidFill>
                <a:schemeClr val="accent1"/>
              </a:solidFill>
            </a:endParaRPr>
          </a:p>
        </p:txBody>
      </p:sp>
      <p:pic>
        <p:nvPicPr>
          <p:cNvPr id="672" name="Google Shape;672;p94"/>
          <p:cNvPicPr preferRelativeResize="0"/>
          <p:nvPr/>
        </p:nvPicPr>
        <p:blipFill>
          <a:blip r:embed="rId3">
            <a:alphaModFix/>
          </a:blip>
          <a:stretch>
            <a:fillRect/>
          </a:stretch>
        </p:blipFill>
        <p:spPr>
          <a:xfrm>
            <a:off x="4572000" y="706000"/>
            <a:ext cx="1705175" cy="871900"/>
          </a:xfrm>
          <a:prstGeom prst="rect">
            <a:avLst/>
          </a:prstGeom>
          <a:noFill/>
          <a:ln cap="flat" cmpd="sng" w="9525">
            <a:solidFill>
              <a:schemeClr val="dk2"/>
            </a:solidFill>
            <a:prstDash val="solid"/>
            <a:round/>
            <a:headEnd len="sm" w="sm" type="none"/>
            <a:tailEnd len="sm" w="sm" type="none"/>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6" name="Shape 676"/>
        <p:cNvGrpSpPr/>
        <p:nvPr/>
      </p:nvGrpSpPr>
      <p:grpSpPr>
        <a:xfrm>
          <a:off x="0" y="0"/>
          <a:ext cx="0" cy="0"/>
          <a:chOff x="0" y="0"/>
          <a:chExt cx="0" cy="0"/>
        </a:xfrm>
      </p:grpSpPr>
      <p:sp>
        <p:nvSpPr>
          <p:cNvPr id="677" name="Google Shape;677;p9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678" name="Google Shape;678;p95"/>
          <p:cNvSpPr txBox="1"/>
          <p:nvPr>
            <p:ph idx="1" type="body"/>
          </p:nvPr>
        </p:nvSpPr>
        <p:spPr>
          <a:xfrm>
            <a:off x="311700" y="1152475"/>
            <a:ext cx="8520600" cy="39909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Chat:</a:t>
            </a:r>
            <a:r>
              <a:rPr lang="en"/>
              <a:t> ChatGPT, Claude, Gemini…</a:t>
            </a:r>
            <a:br>
              <a:rPr lang="en"/>
            </a:br>
            <a:endParaRPr/>
          </a:p>
          <a:p>
            <a:pPr indent="-342900" lvl="0" marL="457200" rtl="0" algn="l">
              <a:spcBef>
                <a:spcPts val="1000"/>
              </a:spcBef>
              <a:spcAft>
                <a:spcPts val="0"/>
              </a:spcAft>
              <a:buSzPts val="1800"/>
              <a:buChar char="●"/>
            </a:pPr>
            <a:r>
              <a:rPr b="1" lang="en"/>
              <a:t>Terminal:</a:t>
            </a:r>
            <a:r>
              <a:rPr lang="en"/>
              <a:t> Claude Code, OpenAI Codex, OpenCode</a:t>
            </a:r>
            <a:br>
              <a:rPr lang="en"/>
            </a:br>
            <a:endParaRPr/>
          </a:p>
          <a:p>
            <a:pPr indent="0" lvl="0" marL="457200" rtl="0" algn="l">
              <a:spcBef>
                <a:spcPts val="1000"/>
              </a:spcBef>
              <a:spcAft>
                <a:spcPts val="0"/>
              </a:spcAft>
              <a:buNone/>
            </a:pPr>
            <a:r>
              <a:t/>
            </a:r>
            <a:endParaRPr b="1"/>
          </a:p>
          <a:p>
            <a:pPr indent="0" lvl="0" marL="914400" rtl="0" algn="l">
              <a:spcBef>
                <a:spcPts val="1000"/>
              </a:spcBef>
              <a:spcAft>
                <a:spcPts val="500"/>
              </a:spcAft>
              <a:buNone/>
            </a:pPr>
            <a:r>
              <a:t/>
            </a:r>
            <a:endParaRPr b="1">
              <a:solidFill>
                <a:schemeClr val="accent1"/>
              </a:solidFill>
            </a:endParaRPr>
          </a:p>
        </p:txBody>
      </p:sp>
      <p:pic>
        <p:nvPicPr>
          <p:cNvPr id="679" name="Google Shape;679;p95"/>
          <p:cNvPicPr preferRelativeResize="0"/>
          <p:nvPr/>
        </p:nvPicPr>
        <p:blipFill>
          <a:blip r:embed="rId3">
            <a:alphaModFix/>
          </a:blip>
          <a:stretch>
            <a:fillRect/>
          </a:stretch>
        </p:blipFill>
        <p:spPr>
          <a:xfrm>
            <a:off x="4572000" y="706000"/>
            <a:ext cx="1705175" cy="871900"/>
          </a:xfrm>
          <a:prstGeom prst="rect">
            <a:avLst/>
          </a:prstGeom>
          <a:noFill/>
          <a:ln cap="flat" cmpd="sng" w="9525">
            <a:solidFill>
              <a:schemeClr val="dk2"/>
            </a:solidFill>
            <a:prstDash val="solid"/>
            <a:round/>
            <a:headEnd len="sm" w="sm" type="none"/>
            <a:tailEnd len="sm" w="sm" type="none"/>
          </a:ln>
        </p:spPr>
      </p:pic>
      <p:pic>
        <p:nvPicPr>
          <p:cNvPr id="680" name="Google Shape;680;p95"/>
          <p:cNvPicPr preferRelativeResize="0"/>
          <p:nvPr/>
        </p:nvPicPr>
        <p:blipFill>
          <a:blip r:embed="rId4">
            <a:alphaModFix/>
          </a:blip>
          <a:stretch>
            <a:fillRect/>
          </a:stretch>
        </p:blipFill>
        <p:spPr>
          <a:xfrm>
            <a:off x="6566550" y="1258113"/>
            <a:ext cx="2146776" cy="1295725"/>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4" name="Shape 684"/>
        <p:cNvGrpSpPr/>
        <p:nvPr/>
      </p:nvGrpSpPr>
      <p:grpSpPr>
        <a:xfrm>
          <a:off x="0" y="0"/>
          <a:ext cx="0" cy="0"/>
          <a:chOff x="0" y="0"/>
          <a:chExt cx="0" cy="0"/>
        </a:xfrm>
      </p:grpSpPr>
      <p:sp>
        <p:nvSpPr>
          <p:cNvPr id="685" name="Google Shape;685;p9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686" name="Google Shape;686;p96"/>
          <p:cNvSpPr txBox="1"/>
          <p:nvPr>
            <p:ph idx="1" type="body"/>
          </p:nvPr>
        </p:nvSpPr>
        <p:spPr>
          <a:xfrm>
            <a:off x="311700" y="1152475"/>
            <a:ext cx="8520600" cy="39909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b="1" lang="en"/>
              <a:t>Chat:</a:t>
            </a:r>
            <a:r>
              <a:rPr lang="en"/>
              <a:t> ChatGPT, Claude, Gemini…</a:t>
            </a:r>
            <a:br>
              <a:rPr lang="en"/>
            </a:br>
            <a:endParaRPr/>
          </a:p>
          <a:p>
            <a:pPr indent="-342900" lvl="0" marL="457200" rtl="0" algn="l">
              <a:spcBef>
                <a:spcPts val="1000"/>
              </a:spcBef>
              <a:spcAft>
                <a:spcPts val="0"/>
              </a:spcAft>
              <a:buSzPts val="1800"/>
              <a:buChar char="●"/>
            </a:pPr>
            <a:r>
              <a:rPr b="1" lang="en"/>
              <a:t>Terminal:</a:t>
            </a:r>
            <a:r>
              <a:rPr lang="en"/>
              <a:t> Claude Code, OpenAI Codex, OpenCode</a:t>
            </a:r>
            <a:br>
              <a:rPr lang="en"/>
            </a:br>
            <a:endParaRPr/>
          </a:p>
          <a:p>
            <a:pPr indent="-342900" lvl="0" marL="457200" rtl="0" algn="l">
              <a:spcBef>
                <a:spcPts val="1000"/>
              </a:spcBef>
              <a:spcAft>
                <a:spcPts val="0"/>
              </a:spcAft>
              <a:buSzPts val="1800"/>
              <a:buChar char="●"/>
            </a:pPr>
            <a:r>
              <a:rPr b="1" lang="en"/>
              <a:t>Application Programming Interface (API):</a:t>
            </a:r>
            <a:endParaRPr b="1"/>
          </a:p>
          <a:p>
            <a:pPr indent="-317500" lvl="1" marL="914400" rtl="0" algn="l">
              <a:spcBef>
                <a:spcPts val="1000"/>
              </a:spcBef>
              <a:spcAft>
                <a:spcPts val="0"/>
              </a:spcAft>
              <a:buSzPts val="1400"/>
              <a:buChar char="○"/>
            </a:pPr>
            <a:r>
              <a:rPr lang="en"/>
              <a:t>Functions you can call in code to make a query and</a:t>
            </a:r>
            <a:br>
              <a:rPr lang="en"/>
            </a:br>
            <a:r>
              <a:rPr lang="en"/>
              <a:t>get its response as programmatic data</a:t>
            </a:r>
            <a:endParaRPr/>
          </a:p>
          <a:p>
            <a:pPr indent="-317500" lvl="1" marL="914400" rtl="0" algn="l">
              <a:spcBef>
                <a:spcPts val="500"/>
              </a:spcBef>
              <a:spcAft>
                <a:spcPts val="0"/>
              </a:spcAft>
              <a:buSzPts val="1400"/>
              <a:buChar char="○"/>
            </a:pPr>
            <a:r>
              <a:rPr lang="en"/>
              <a:t>Lets you build production systems</a:t>
            </a:r>
            <a:endParaRPr/>
          </a:p>
          <a:p>
            <a:pPr indent="-317500" lvl="1" marL="914400" rtl="0" algn="l">
              <a:spcBef>
                <a:spcPts val="500"/>
              </a:spcBef>
              <a:spcAft>
                <a:spcPts val="0"/>
              </a:spcAft>
              <a:buSzPts val="1400"/>
              <a:buChar char="○"/>
            </a:pPr>
            <a:r>
              <a:rPr lang="en"/>
              <a:t>Integrate with existing applications</a:t>
            </a:r>
            <a:endParaRPr/>
          </a:p>
          <a:p>
            <a:pPr indent="-317500" lvl="1" marL="914400" rtl="0" algn="l">
              <a:spcBef>
                <a:spcPts val="500"/>
              </a:spcBef>
              <a:spcAft>
                <a:spcPts val="500"/>
              </a:spcAft>
              <a:buClr>
                <a:schemeClr val="accent1"/>
              </a:buClr>
              <a:buSzPts val="1400"/>
              <a:buChar char="○"/>
            </a:pPr>
            <a:r>
              <a:rPr b="1" lang="en">
                <a:solidFill>
                  <a:schemeClr val="accent1"/>
                </a:solidFill>
              </a:rPr>
              <a:t>This is our focus</a:t>
            </a:r>
            <a:endParaRPr b="1">
              <a:solidFill>
                <a:schemeClr val="accent1"/>
              </a:solidFill>
            </a:endParaRPr>
          </a:p>
        </p:txBody>
      </p:sp>
      <p:sp>
        <p:nvSpPr>
          <p:cNvPr id="687" name="Google Shape;687;p96"/>
          <p:cNvSpPr txBox="1"/>
          <p:nvPr/>
        </p:nvSpPr>
        <p:spPr>
          <a:xfrm>
            <a:off x="5810400" y="2794250"/>
            <a:ext cx="3021900" cy="21486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spAutoFit/>
          </a:bodyPr>
          <a:lstStyle/>
          <a:p>
            <a:pPr indent="0" lvl="0" marL="0" rtl="0" algn="l">
              <a:lnSpc>
                <a:spcPct val="105000"/>
              </a:lnSpc>
              <a:spcBef>
                <a:spcPts val="0"/>
              </a:spcBef>
              <a:spcAft>
                <a:spcPts val="0"/>
              </a:spcAft>
              <a:buClr>
                <a:schemeClr val="dk1"/>
              </a:buClr>
              <a:buSzPts val="770"/>
              <a:buFont typeface="Arial"/>
              <a:buNone/>
            </a:pPr>
            <a:r>
              <a:rPr lang="en" sz="580">
                <a:solidFill>
                  <a:schemeClr val="dk2"/>
                </a:solidFill>
                <a:latin typeface="Roboto Mono"/>
                <a:ea typeface="Roboto Mono"/>
                <a:cs typeface="Roboto Mono"/>
                <a:sym typeface="Roboto Mono"/>
              </a:rPr>
              <a:t>requests.post(</a:t>
            </a:r>
            <a:endParaRPr sz="580">
              <a:solidFill>
                <a:schemeClr val="dk2"/>
              </a:solidFill>
              <a:latin typeface="Roboto Mono"/>
              <a:ea typeface="Roboto Mono"/>
              <a:cs typeface="Roboto Mono"/>
              <a:sym typeface="Roboto Mono"/>
            </a:endParaRPr>
          </a:p>
          <a:p>
            <a:pPr indent="0" lvl="0" marL="0" rtl="0" algn="l">
              <a:lnSpc>
                <a:spcPct val="105000"/>
              </a:lnSpc>
              <a:spcBef>
                <a:spcPts val="0"/>
              </a:spcBef>
              <a:spcAft>
                <a:spcPts val="0"/>
              </a:spcAft>
              <a:buClr>
                <a:schemeClr val="dk1"/>
              </a:buClr>
              <a:buSzPts val="770"/>
              <a:buFont typeface="Arial"/>
              <a:buNone/>
            </a:pPr>
            <a:r>
              <a:rPr lang="en" sz="580">
                <a:solidFill>
                  <a:schemeClr val="dk2"/>
                </a:solidFill>
                <a:latin typeface="Roboto Mono"/>
                <a:ea typeface="Roboto Mono"/>
                <a:cs typeface="Roboto Mono"/>
                <a:sym typeface="Roboto Mono"/>
              </a:rPr>
              <a:t>    </a:t>
            </a:r>
            <a:r>
              <a:rPr lang="en" sz="580">
                <a:solidFill>
                  <a:schemeClr val="accent5"/>
                </a:solidFill>
                <a:latin typeface="Roboto Mono"/>
                <a:ea typeface="Roboto Mono"/>
                <a:cs typeface="Roboto Mono"/>
                <a:sym typeface="Roboto Mono"/>
              </a:rPr>
              <a:t>"https://api.openai.com/v1/chat/completions"</a:t>
            </a:r>
            <a:r>
              <a:rPr lang="en" sz="580">
                <a:solidFill>
                  <a:schemeClr val="dk2"/>
                </a:solidFill>
                <a:latin typeface="Roboto Mono"/>
                <a:ea typeface="Roboto Mono"/>
                <a:cs typeface="Roboto Mono"/>
                <a:sym typeface="Roboto Mono"/>
              </a:rPr>
              <a:t>,</a:t>
            </a:r>
            <a:endParaRPr sz="580">
              <a:solidFill>
                <a:schemeClr val="dk2"/>
              </a:solidFill>
              <a:latin typeface="Roboto Mono"/>
              <a:ea typeface="Roboto Mono"/>
              <a:cs typeface="Roboto Mono"/>
              <a:sym typeface="Roboto Mono"/>
            </a:endParaRPr>
          </a:p>
          <a:p>
            <a:pPr indent="0" lvl="0" marL="0" rtl="0" algn="l">
              <a:lnSpc>
                <a:spcPct val="105000"/>
              </a:lnSpc>
              <a:spcBef>
                <a:spcPts val="0"/>
              </a:spcBef>
              <a:spcAft>
                <a:spcPts val="0"/>
              </a:spcAft>
              <a:buClr>
                <a:schemeClr val="dk1"/>
              </a:buClr>
              <a:buSzPts val="770"/>
              <a:buFont typeface="Arial"/>
              <a:buNone/>
            </a:pPr>
            <a:r>
              <a:rPr lang="en" sz="580">
                <a:solidFill>
                  <a:schemeClr val="dk2"/>
                </a:solidFill>
                <a:latin typeface="Roboto Mono"/>
                <a:ea typeface="Roboto Mono"/>
                <a:cs typeface="Roboto Mono"/>
                <a:sym typeface="Roboto Mono"/>
              </a:rPr>
              <a:t>    headers={</a:t>
            </a:r>
            <a:endParaRPr sz="580">
              <a:solidFill>
                <a:schemeClr val="dk2"/>
              </a:solidFill>
              <a:latin typeface="Roboto Mono"/>
              <a:ea typeface="Roboto Mono"/>
              <a:cs typeface="Roboto Mono"/>
              <a:sym typeface="Roboto Mono"/>
            </a:endParaRPr>
          </a:p>
          <a:p>
            <a:pPr indent="0" lvl="0" marL="0" rtl="0" algn="l">
              <a:lnSpc>
                <a:spcPct val="105000"/>
              </a:lnSpc>
              <a:spcBef>
                <a:spcPts val="0"/>
              </a:spcBef>
              <a:spcAft>
                <a:spcPts val="0"/>
              </a:spcAft>
              <a:buClr>
                <a:schemeClr val="dk1"/>
              </a:buClr>
              <a:buSzPts val="770"/>
              <a:buFont typeface="Arial"/>
              <a:buNone/>
            </a:pPr>
            <a:r>
              <a:rPr lang="en" sz="580">
                <a:solidFill>
                  <a:schemeClr val="dk2"/>
                </a:solidFill>
                <a:latin typeface="Roboto Mono"/>
                <a:ea typeface="Roboto Mono"/>
                <a:cs typeface="Roboto Mono"/>
                <a:sym typeface="Roboto Mono"/>
              </a:rPr>
              <a:t>        </a:t>
            </a:r>
            <a:r>
              <a:rPr lang="en" sz="580">
                <a:solidFill>
                  <a:schemeClr val="accent5"/>
                </a:solidFill>
                <a:latin typeface="Roboto Mono"/>
                <a:ea typeface="Roboto Mono"/>
                <a:cs typeface="Roboto Mono"/>
                <a:sym typeface="Roboto Mono"/>
              </a:rPr>
              <a:t>"Content-Type"</a:t>
            </a:r>
            <a:r>
              <a:rPr lang="en" sz="580">
                <a:solidFill>
                  <a:schemeClr val="dk2"/>
                </a:solidFill>
                <a:latin typeface="Roboto Mono"/>
                <a:ea typeface="Roboto Mono"/>
                <a:cs typeface="Roboto Mono"/>
                <a:sym typeface="Roboto Mono"/>
              </a:rPr>
              <a:t>: </a:t>
            </a:r>
            <a:r>
              <a:rPr lang="en" sz="580">
                <a:solidFill>
                  <a:schemeClr val="accent5"/>
                </a:solidFill>
                <a:latin typeface="Roboto Mono"/>
                <a:ea typeface="Roboto Mono"/>
                <a:cs typeface="Roboto Mono"/>
                <a:sym typeface="Roboto Mono"/>
              </a:rPr>
              <a:t>"application/json"</a:t>
            </a:r>
            <a:r>
              <a:rPr lang="en" sz="580">
                <a:solidFill>
                  <a:schemeClr val="dk2"/>
                </a:solidFill>
                <a:latin typeface="Roboto Mono"/>
                <a:ea typeface="Roboto Mono"/>
                <a:cs typeface="Roboto Mono"/>
                <a:sym typeface="Roboto Mono"/>
              </a:rPr>
              <a:t>,</a:t>
            </a:r>
            <a:endParaRPr sz="580">
              <a:solidFill>
                <a:schemeClr val="dk2"/>
              </a:solidFill>
              <a:latin typeface="Roboto Mono"/>
              <a:ea typeface="Roboto Mono"/>
              <a:cs typeface="Roboto Mono"/>
              <a:sym typeface="Roboto Mono"/>
            </a:endParaRPr>
          </a:p>
          <a:p>
            <a:pPr indent="0" lvl="0" marL="0" rtl="0" algn="l">
              <a:lnSpc>
                <a:spcPct val="105000"/>
              </a:lnSpc>
              <a:spcBef>
                <a:spcPts val="0"/>
              </a:spcBef>
              <a:spcAft>
                <a:spcPts val="0"/>
              </a:spcAft>
              <a:buClr>
                <a:schemeClr val="dk1"/>
              </a:buClr>
              <a:buSzPts val="770"/>
              <a:buFont typeface="Arial"/>
              <a:buNone/>
            </a:pPr>
            <a:r>
              <a:rPr lang="en" sz="580">
                <a:solidFill>
                  <a:schemeClr val="dk2"/>
                </a:solidFill>
                <a:latin typeface="Roboto Mono"/>
                <a:ea typeface="Roboto Mono"/>
                <a:cs typeface="Roboto Mono"/>
                <a:sym typeface="Roboto Mono"/>
              </a:rPr>
              <a:t>        </a:t>
            </a:r>
            <a:r>
              <a:rPr lang="en" sz="580">
                <a:solidFill>
                  <a:schemeClr val="accent5"/>
                </a:solidFill>
                <a:latin typeface="Roboto Mono"/>
                <a:ea typeface="Roboto Mono"/>
                <a:cs typeface="Roboto Mono"/>
                <a:sym typeface="Roboto Mono"/>
              </a:rPr>
              <a:t>"Authorization"</a:t>
            </a:r>
            <a:r>
              <a:rPr lang="en" sz="580">
                <a:solidFill>
                  <a:schemeClr val="dk2"/>
                </a:solidFill>
                <a:latin typeface="Roboto Mono"/>
                <a:ea typeface="Roboto Mono"/>
                <a:cs typeface="Roboto Mono"/>
                <a:sym typeface="Roboto Mono"/>
              </a:rPr>
              <a:t>: </a:t>
            </a:r>
            <a:r>
              <a:rPr lang="en" sz="580">
                <a:solidFill>
                  <a:schemeClr val="accent5"/>
                </a:solidFill>
                <a:latin typeface="Roboto Mono"/>
                <a:ea typeface="Roboto Mono"/>
                <a:cs typeface="Roboto Mono"/>
                <a:sym typeface="Roboto Mono"/>
              </a:rPr>
              <a:t>f"Bearer {OPENAI_API_KEY}"</a:t>
            </a:r>
            <a:endParaRPr sz="580">
              <a:solidFill>
                <a:schemeClr val="accent5"/>
              </a:solidFill>
              <a:latin typeface="Roboto Mono"/>
              <a:ea typeface="Roboto Mono"/>
              <a:cs typeface="Roboto Mono"/>
              <a:sym typeface="Roboto Mono"/>
            </a:endParaRPr>
          </a:p>
          <a:p>
            <a:pPr indent="0" lvl="0" marL="0" rtl="0" algn="l">
              <a:lnSpc>
                <a:spcPct val="105000"/>
              </a:lnSpc>
              <a:spcBef>
                <a:spcPts val="0"/>
              </a:spcBef>
              <a:spcAft>
                <a:spcPts val="0"/>
              </a:spcAft>
              <a:buClr>
                <a:schemeClr val="dk1"/>
              </a:buClr>
              <a:buSzPts val="770"/>
              <a:buFont typeface="Arial"/>
              <a:buNone/>
            </a:pPr>
            <a:r>
              <a:rPr lang="en" sz="580">
                <a:solidFill>
                  <a:schemeClr val="dk2"/>
                </a:solidFill>
                <a:latin typeface="Roboto Mono"/>
                <a:ea typeface="Roboto Mono"/>
                <a:cs typeface="Roboto Mono"/>
                <a:sym typeface="Roboto Mono"/>
              </a:rPr>
              <a:t>    },</a:t>
            </a:r>
            <a:endParaRPr sz="580">
              <a:solidFill>
                <a:schemeClr val="dk2"/>
              </a:solidFill>
              <a:latin typeface="Roboto Mono"/>
              <a:ea typeface="Roboto Mono"/>
              <a:cs typeface="Roboto Mono"/>
              <a:sym typeface="Roboto Mono"/>
            </a:endParaRPr>
          </a:p>
          <a:p>
            <a:pPr indent="0" lvl="0" marL="0" rtl="0" algn="l">
              <a:lnSpc>
                <a:spcPct val="105000"/>
              </a:lnSpc>
              <a:spcBef>
                <a:spcPts val="0"/>
              </a:spcBef>
              <a:spcAft>
                <a:spcPts val="0"/>
              </a:spcAft>
              <a:buClr>
                <a:schemeClr val="dk1"/>
              </a:buClr>
              <a:buSzPts val="770"/>
              <a:buFont typeface="Arial"/>
              <a:buNone/>
            </a:pPr>
            <a:r>
              <a:rPr lang="en" sz="580">
                <a:solidFill>
                  <a:schemeClr val="dk2"/>
                </a:solidFill>
                <a:latin typeface="Roboto Mono"/>
                <a:ea typeface="Roboto Mono"/>
                <a:cs typeface="Roboto Mono"/>
                <a:sym typeface="Roboto Mono"/>
              </a:rPr>
              <a:t>    json={</a:t>
            </a:r>
            <a:endParaRPr sz="580">
              <a:solidFill>
                <a:schemeClr val="dk2"/>
              </a:solidFill>
              <a:latin typeface="Roboto Mono"/>
              <a:ea typeface="Roboto Mono"/>
              <a:cs typeface="Roboto Mono"/>
              <a:sym typeface="Roboto Mono"/>
            </a:endParaRPr>
          </a:p>
          <a:p>
            <a:pPr indent="0" lvl="0" marL="0" rtl="0" algn="l">
              <a:lnSpc>
                <a:spcPct val="105000"/>
              </a:lnSpc>
              <a:spcBef>
                <a:spcPts val="0"/>
              </a:spcBef>
              <a:spcAft>
                <a:spcPts val="0"/>
              </a:spcAft>
              <a:buClr>
                <a:schemeClr val="dk1"/>
              </a:buClr>
              <a:buSzPts val="770"/>
              <a:buFont typeface="Arial"/>
              <a:buNone/>
            </a:pPr>
            <a:r>
              <a:rPr lang="en" sz="580">
                <a:solidFill>
                  <a:schemeClr val="dk2"/>
                </a:solidFill>
                <a:latin typeface="Roboto Mono"/>
                <a:ea typeface="Roboto Mono"/>
                <a:cs typeface="Roboto Mono"/>
                <a:sym typeface="Roboto Mono"/>
              </a:rPr>
              <a:t>        </a:t>
            </a:r>
            <a:r>
              <a:rPr lang="en" sz="580">
                <a:solidFill>
                  <a:schemeClr val="accent5"/>
                </a:solidFill>
                <a:latin typeface="Roboto Mono"/>
                <a:ea typeface="Roboto Mono"/>
                <a:cs typeface="Roboto Mono"/>
                <a:sym typeface="Roboto Mono"/>
              </a:rPr>
              <a:t>"model"</a:t>
            </a:r>
            <a:r>
              <a:rPr lang="en" sz="580">
                <a:solidFill>
                  <a:schemeClr val="dk2"/>
                </a:solidFill>
                <a:latin typeface="Roboto Mono"/>
                <a:ea typeface="Roboto Mono"/>
                <a:cs typeface="Roboto Mono"/>
                <a:sym typeface="Roboto Mono"/>
              </a:rPr>
              <a:t>: </a:t>
            </a:r>
            <a:r>
              <a:rPr lang="en" sz="580">
                <a:solidFill>
                  <a:schemeClr val="accent5"/>
                </a:solidFill>
                <a:latin typeface="Roboto Mono"/>
                <a:ea typeface="Roboto Mono"/>
                <a:cs typeface="Roboto Mono"/>
                <a:sym typeface="Roboto Mono"/>
              </a:rPr>
              <a:t>"gpt-4o-mini"</a:t>
            </a:r>
            <a:r>
              <a:rPr lang="en" sz="580">
                <a:solidFill>
                  <a:schemeClr val="dk2"/>
                </a:solidFill>
                <a:latin typeface="Roboto Mono"/>
                <a:ea typeface="Roboto Mono"/>
                <a:cs typeface="Roboto Mono"/>
                <a:sym typeface="Roboto Mono"/>
              </a:rPr>
              <a:t>,</a:t>
            </a:r>
            <a:endParaRPr sz="580">
              <a:solidFill>
                <a:schemeClr val="dk2"/>
              </a:solidFill>
              <a:latin typeface="Roboto Mono"/>
              <a:ea typeface="Roboto Mono"/>
              <a:cs typeface="Roboto Mono"/>
              <a:sym typeface="Roboto Mono"/>
            </a:endParaRPr>
          </a:p>
          <a:p>
            <a:pPr indent="0" lvl="0" marL="0" rtl="0" algn="l">
              <a:lnSpc>
                <a:spcPct val="105000"/>
              </a:lnSpc>
              <a:spcBef>
                <a:spcPts val="0"/>
              </a:spcBef>
              <a:spcAft>
                <a:spcPts val="0"/>
              </a:spcAft>
              <a:buClr>
                <a:schemeClr val="dk1"/>
              </a:buClr>
              <a:buSzPts val="770"/>
              <a:buFont typeface="Arial"/>
              <a:buNone/>
            </a:pPr>
            <a:r>
              <a:rPr lang="en" sz="580">
                <a:solidFill>
                  <a:schemeClr val="dk2"/>
                </a:solidFill>
                <a:latin typeface="Roboto Mono"/>
                <a:ea typeface="Roboto Mono"/>
                <a:cs typeface="Roboto Mono"/>
                <a:sym typeface="Roboto Mono"/>
              </a:rPr>
              <a:t>        </a:t>
            </a:r>
            <a:r>
              <a:rPr lang="en" sz="580">
                <a:solidFill>
                  <a:schemeClr val="accent5"/>
                </a:solidFill>
                <a:latin typeface="Roboto Mono"/>
                <a:ea typeface="Roboto Mono"/>
                <a:cs typeface="Roboto Mono"/>
                <a:sym typeface="Roboto Mono"/>
              </a:rPr>
              <a:t>"max_tokens"</a:t>
            </a:r>
            <a:r>
              <a:rPr lang="en" sz="580">
                <a:solidFill>
                  <a:schemeClr val="dk2"/>
                </a:solidFill>
                <a:latin typeface="Roboto Mono"/>
                <a:ea typeface="Roboto Mono"/>
                <a:cs typeface="Roboto Mono"/>
                <a:sym typeface="Roboto Mono"/>
              </a:rPr>
              <a:t>: 30,</a:t>
            </a:r>
            <a:endParaRPr sz="580">
              <a:solidFill>
                <a:schemeClr val="dk2"/>
              </a:solidFill>
              <a:latin typeface="Roboto Mono"/>
              <a:ea typeface="Roboto Mono"/>
              <a:cs typeface="Roboto Mono"/>
              <a:sym typeface="Roboto Mono"/>
            </a:endParaRPr>
          </a:p>
          <a:p>
            <a:pPr indent="0" lvl="0" marL="0" rtl="0" algn="l">
              <a:lnSpc>
                <a:spcPct val="105000"/>
              </a:lnSpc>
              <a:spcBef>
                <a:spcPts val="0"/>
              </a:spcBef>
              <a:spcAft>
                <a:spcPts val="0"/>
              </a:spcAft>
              <a:buClr>
                <a:schemeClr val="dk1"/>
              </a:buClr>
              <a:buSzPts val="770"/>
              <a:buFont typeface="Arial"/>
              <a:buNone/>
            </a:pPr>
            <a:r>
              <a:rPr lang="en" sz="580">
                <a:solidFill>
                  <a:schemeClr val="dk2"/>
                </a:solidFill>
                <a:latin typeface="Roboto Mono"/>
                <a:ea typeface="Roboto Mono"/>
                <a:cs typeface="Roboto Mono"/>
                <a:sym typeface="Roboto Mono"/>
              </a:rPr>
              <a:t>        </a:t>
            </a:r>
            <a:r>
              <a:rPr lang="en" sz="580">
                <a:solidFill>
                  <a:schemeClr val="accent5"/>
                </a:solidFill>
                <a:latin typeface="Roboto Mono"/>
                <a:ea typeface="Roboto Mono"/>
                <a:cs typeface="Roboto Mono"/>
                <a:sym typeface="Roboto Mono"/>
              </a:rPr>
              <a:t>"temperature"</a:t>
            </a:r>
            <a:r>
              <a:rPr lang="en" sz="580">
                <a:solidFill>
                  <a:schemeClr val="dk2"/>
                </a:solidFill>
                <a:latin typeface="Roboto Mono"/>
                <a:ea typeface="Roboto Mono"/>
                <a:cs typeface="Roboto Mono"/>
                <a:sym typeface="Roboto Mono"/>
              </a:rPr>
              <a:t>: 1,</a:t>
            </a:r>
            <a:endParaRPr sz="580">
              <a:solidFill>
                <a:schemeClr val="dk2"/>
              </a:solidFill>
              <a:latin typeface="Roboto Mono"/>
              <a:ea typeface="Roboto Mono"/>
              <a:cs typeface="Roboto Mono"/>
              <a:sym typeface="Roboto Mono"/>
            </a:endParaRPr>
          </a:p>
          <a:p>
            <a:pPr indent="0" lvl="0" marL="0" rtl="0" algn="l">
              <a:lnSpc>
                <a:spcPct val="105000"/>
              </a:lnSpc>
              <a:spcBef>
                <a:spcPts val="0"/>
              </a:spcBef>
              <a:spcAft>
                <a:spcPts val="0"/>
              </a:spcAft>
              <a:buClr>
                <a:schemeClr val="dk1"/>
              </a:buClr>
              <a:buSzPts val="770"/>
              <a:buFont typeface="Arial"/>
              <a:buNone/>
            </a:pPr>
            <a:r>
              <a:rPr lang="en" sz="580">
                <a:solidFill>
                  <a:schemeClr val="dk2"/>
                </a:solidFill>
                <a:latin typeface="Roboto Mono"/>
                <a:ea typeface="Roboto Mono"/>
                <a:cs typeface="Roboto Mono"/>
                <a:sym typeface="Roboto Mono"/>
              </a:rPr>
              <a:t>        </a:t>
            </a:r>
            <a:r>
              <a:rPr lang="en" sz="580">
                <a:solidFill>
                  <a:schemeClr val="accent5"/>
                </a:solidFill>
                <a:latin typeface="Roboto Mono"/>
                <a:ea typeface="Roboto Mono"/>
                <a:cs typeface="Roboto Mono"/>
                <a:sym typeface="Roboto Mono"/>
              </a:rPr>
              <a:t>"messages"</a:t>
            </a:r>
            <a:r>
              <a:rPr lang="en" sz="580">
                <a:solidFill>
                  <a:schemeClr val="dk2"/>
                </a:solidFill>
                <a:latin typeface="Roboto Mono"/>
                <a:ea typeface="Roboto Mono"/>
                <a:cs typeface="Roboto Mono"/>
                <a:sym typeface="Roboto Mono"/>
              </a:rPr>
              <a:t>: [</a:t>
            </a:r>
            <a:endParaRPr sz="580">
              <a:solidFill>
                <a:schemeClr val="dk2"/>
              </a:solidFill>
              <a:latin typeface="Roboto Mono"/>
              <a:ea typeface="Roboto Mono"/>
              <a:cs typeface="Roboto Mono"/>
              <a:sym typeface="Roboto Mono"/>
            </a:endParaRPr>
          </a:p>
          <a:p>
            <a:pPr indent="0" lvl="0" marL="0" rtl="0" algn="l">
              <a:lnSpc>
                <a:spcPct val="105000"/>
              </a:lnSpc>
              <a:spcBef>
                <a:spcPts val="0"/>
              </a:spcBef>
              <a:spcAft>
                <a:spcPts val="0"/>
              </a:spcAft>
              <a:buClr>
                <a:schemeClr val="dk1"/>
              </a:buClr>
              <a:buSzPts val="770"/>
              <a:buFont typeface="Arial"/>
              <a:buNone/>
            </a:pPr>
            <a:r>
              <a:rPr lang="en" sz="580">
                <a:solidFill>
                  <a:schemeClr val="dk2"/>
                </a:solidFill>
                <a:latin typeface="Roboto Mono"/>
                <a:ea typeface="Roboto Mono"/>
                <a:cs typeface="Roboto Mono"/>
                <a:sym typeface="Roboto Mono"/>
              </a:rPr>
              <a:t>            {</a:t>
            </a:r>
            <a:r>
              <a:rPr lang="en" sz="580">
                <a:solidFill>
                  <a:schemeClr val="accent5"/>
                </a:solidFill>
                <a:latin typeface="Roboto Mono"/>
                <a:ea typeface="Roboto Mono"/>
                <a:cs typeface="Roboto Mono"/>
                <a:sym typeface="Roboto Mono"/>
              </a:rPr>
              <a:t>"role"</a:t>
            </a:r>
            <a:r>
              <a:rPr lang="en" sz="580">
                <a:solidFill>
                  <a:schemeClr val="dk2"/>
                </a:solidFill>
                <a:latin typeface="Roboto Mono"/>
                <a:ea typeface="Roboto Mono"/>
                <a:cs typeface="Roboto Mono"/>
                <a:sym typeface="Roboto Mono"/>
              </a:rPr>
              <a:t>: </a:t>
            </a:r>
            <a:r>
              <a:rPr lang="en" sz="580">
                <a:solidFill>
                  <a:schemeClr val="accent5"/>
                </a:solidFill>
                <a:latin typeface="Roboto Mono"/>
                <a:ea typeface="Roboto Mono"/>
                <a:cs typeface="Roboto Mono"/>
                <a:sym typeface="Roboto Mono"/>
              </a:rPr>
              <a:t>"user"</a:t>
            </a:r>
            <a:r>
              <a:rPr lang="en" sz="580">
                <a:solidFill>
                  <a:schemeClr val="dk2"/>
                </a:solidFill>
                <a:latin typeface="Roboto Mono"/>
                <a:ea typeface="Roboto Mono"/>
                <a:cs typeface="Roboto Mono"/>
                <a:sym typeface="Roboto Mono"/>
              </a:rPr>
              <a:t>,</a:t>
            </a:r>
            <a:br>
              <a:rPr lang="en" sz="580">
                <a:solidFill>
                  <a:schemeClr val="dk2"/>
                </a:solidFill>
                <a:latin typeface="Roboto Mono"/>
                <a:ea typeface="Roboto Mono"/>
                <a:cs typeface="Roboto Mono"/>
                <a:sym typeface="Roboto Mono"/>
              </a:rPr>
            </a:br>
            <a:r>
              <a:rPr lang="en" sz="580">
                <a:solidFill>
                  <a:schemeClr val="dk2"/>
                </a:solidFill>
                <a:latin typeface="Roboto Mono"/>
                <a:ea typeface="Roboto Mono"/>
                <a:cs typeface="Roboto Mono"/>
                <a:sym typeface="Roboto Mono"/>
              </a:rPr>
              <a:t>             </a:t>
            </a:r>
            <a:r>
              <a:rPr lang="en" sz="580">
                <a:solidFill>
                  <a:schemeClr val="accent5"/>
                </a:solidFill>
                <a:latin typeface="Roboto Mono"/>
                <a:ea typeface="Roboto Mono"/>
                <a:cs typeface="Roboto Mono"/>
                <a:sym typeface="Roboto Mono"/>
              </a:rPr>
              <a:t>"content"</a:t>
            </a:r>
            <a:r>
              <a:rPr lang="en" sz="580">
                <a:solidFill>
                  <a:schemeClr val="dk2"/>
                </a:solidFill>
                <a:latin typeface="Roboto Mono"/>
                <a:ea typeface="Roboto Mono"/>
                <a:cs typeface="Roboto Mono"/>
                <a:sym typeface="Roboto Mono"/>
              </a:rPr>
              <a:t>: </a:t>
            </a:r>
            <a:r>
              <a:rPr lang="en" sz="580">
                <a:solidFill>
                  <a:schemeClr val="accent5"/>
                </a:solidFill>
                <a:latin typeface="Roboto Mono"/>
                <a:ea typeface="Roboto Mono"/>
                <a:cs typeface="Roboto Mono"/>
                <a:sym typeface="Roboto Mono"/>
              </a:rPr>
              <a:t>"Tell me a joke."</a:t>
            </a:r>
            <a:r>
              <a:rPr lang="en" sz="580">
                <a:solidFill>
                  <a:schemeClr val="dk2"/>
                </a:solidFill>
                <a:latin typeface="Roboto Mono"/>
                <a:ea typeface="Roboto Mono"/>
                <a:cs typeface="Roboto Mono"/>
                <a:sym typeface="Roboto Mono"/>
              </a:rPr>
              <a:t>},</a:t>
            </a:r>
            <a:endParaRPr sz="580">
              <a:solidFill>
                <a:schemeClr val="dk2"/>
              </a:solidFill>
              <a:latin typeface="Roboto Mono"/>
              <a:ea typeface="Roboto Mono"/>
              <a:cs typeface="Roboto Mono"/>
              <a:sym typeface="Roboto Mono"/>
            </a:endParaRPr>
          </a:p>
          <a:p>
            <a:pPr indent="0" lvl="0" marL="0" rtl="0" algn="l">
              <a:lnSpc>
                <a:spcPct val="105000"/>
              </a:lnSpc>
              <a:spcBef>
                <a:spcPts val="0"/>
              </a:spcBef>
              <a:spcAft>
                <a:spcPts val="0"/>
              </a:spcAft>
              <a:buClr>
                <a:schemeClr val="dk1"/>
              </a:buClr>
              <a:buSzPts val="770"/>
              <a:buFont typeface="Arial"/>
              <a:buNone/>
            </a:pPr>
            <a:r>
              <a:rPr lang="en" sz="580">
                <a:solidFill>
                  <a:schemeClr val="dk2"/>
                </a:solidFill>
                <a:latin typeface="Roboto Mono"/>
                <a:ea typeface="Roboto Mono"/>
                <a:cs typeface="Roboto Mono"/>
                <a:sym typeface="Roboto Mono"/>
              </a:rPr>
              <a:t>            {</a:t>
            </a:r>
            <a:r>
              <a:rPr lang="en" sz="580">
                <a:solidFill>
                  <a:schemeClr val="accent5"/>
                </a:solidFill>
                <a:latin typeface="Roboto Mono"/>
                <a:ea typeface="Roboto Mono"/>
                <a:cs typeface="Roboto Mono"/>
                <a:sym typeface="Roboto Mono"/>
              </a:rPr>
              <a:t>"role"</a:t>
            </a:r>
            <a:r>
              <a:rPr lang="en" sz="580">
                <a:solidFill>
                  <a:schemeClr val="dk2"/>
                </a:solidFill>
                <a:latin typeface="Roboto Mono"/>
                <a:ea typeface="Roboto Mono"/>
                <a:cs typeface="Roboto Mono"/>
                <a:sym typeface="Roboto Mono"/>
              </a:rPr>
              <a:t>: </a:t>
            </a:r>
            <a:r>
              <a:rPr lang="en" sz="580">
                <a:solidFill>
                  <a:schemeClr val="accent5"/>
                </a:solidFill>
                <a:latin typeface="Roboto Mono"/>
                <a:ea typeface="Roboto Mono"/>
                <a:cs typeface="Roboto Mono"/>
                <a:sym typeface="Roboto Mono"/>
              </a:rPr>
              <a:t>"assistant"</a:t>
            </a:r>
            <a:r>
              <a:rPr lang="en" sz="580">
                <a:solidFill>
                  <a:schemeClr val="dk2"/>
                </a:solidFill>
                <a:latin typeface="Roboto Mono"/>
                <a:ea typeface="Roboto Mono"/>
                <a:cs typeface="Roboto Mono"/>
                <a:sym typeface="Roboto Mono"/>
              </a:rPr>
              <a:t>,</a:t>
            </a:r>
            <a:br>
              <a:rPr lang="en" sz="580">
                <a:solidFill>
                  <a:schemeClr val="dk2"/>
                </a:solidFill>
                <a:latin typeface="Roboto Mono"/>
                <a:ea typeface="Roboto Mono"/>
                <a:cs typeface="Roboto Mono"/>
                <a:sym typeface="Roboto Mono"/>
              </a:rPr>
            </a:br>
            <a:r>
              <a:rPr lang="en" sz="580">
                <a:solidFill>
                  <a:schemeClr val="dk2"/>
                </a:solidFill>
                <a:latin typeface="Roboto Mono"/>
                <a:ea typeface="Roboto Mono"/>
                <a:cs typeface="Roboto Mono"/>
                <a:sym typeface="Roboto Mono"/>
              </a:rPr>
              <a:t>             </a:t>
            </a:r>
            <a:r>
              <a:rPr lang="en" sz="580">
                <a:solidFill>
                  <a:schemeClr val="accent5"/>
                </a:solidFill>
                <a:latin typeface="Roboto Mono"/>
                <a:ea typeface="Roboto Mono"/>
                <a:cs typeface="Roboto Mono"/>
                <a:sym typeface="Roboto Mono"/>
              </a:rPr>
              <a:t>"content"</a:t>
            </a:r>
            <a:r>
              <a:rPr lang="en" sz="580">
                <a:solidFill>
                  <a:schemeClr val="dk2"/>
                </a:solidFill>
                <a:latin typeface="Roboto Mono"/>
                <a:ea typeface="Roboto Mono"/>
                <a:cs typeface="Roboto Mono"/>
                <a:sym typeface="Roboto Mono"/>
              </a:rPr>
              <a:t>: </a:t>
            </a:r>
            <a:r>
              <a:rPr lang="en" sz="580">
                <a:solidFill>
                  <a:schemeClr val="accent5"/>
                </a:solidFill>
                <a:latin typeface="Roboto Mono"/>
                <a:ea typeface="Roboto Mono"/>
                <a:cs typeface="Roboto Mono"/>
                <a:sym typeface="Roboto Mono"/>
              </a:rPr>
              <a:t>"Why did the chicken cross the road?"</a:t>
            </a:r>
            <a:r>
              <a:rPr lang="en" sz="580">
                <a:solidFill>
                  <a:schemeClr val="dk2"/>
                </a:solidFill>
                <a:latin typeface="Roboto Mono"/>
                <a:ea typeface="Roboto Mono"/>
                <a:cs typeface="Roboto Mono"/>
                <a:sym typeface="Roboto Mono"/>
              </a:rPr>
              <a:t>},</a:t>
            </a:r>
            <a:endParaRPr sz="580">
              <a:solidFill>
                <a:schemeClr val="dk2"/>
              </a:solidFill>
              <a:latin typeface="Roboto Mono"/>
              <a:ea typeface="Roboto Mono"/>
              <a:cs typeface="Roboto Mono"/>
              <a:sym typeface="Roboto Mono"/>
            </a:endParaRPr>
          </a:p>
          <a:p>
            <a:pPr indent="0" lvl="0" marL="0" rtl="0" algn="l">
              <a:lnSpc>
                <a:spcPct val="105000"/>
              </a:lnSpc>
              <a:spcBef>
                <a:spcPts val="0"/>
              </a:spcBef>
              <a:spcAft>
                <a:spcPts val="0"/>
              </a:spcAft>
              <a:buClr>
                <a:schemeClr val="dk1"/>
              </a:buClr>
              <a:buSzPts val="770"/>
              <a:buFont typeface="Arial"/>
              <a:buNone/>
            </a:pPr>
            <a:r>
              <a:rPr lang="en" sz="580">
                <a:solidFill>
                  <a:schemeClr val="dk2"/>
                </a:solidFill>
                <a:latin typeface="Roboto Mono"/>
                <a:ea typeface="Roboto Mono"/>
                <a:cs typeface="Roboto Mono"/>
                <a:sym typeface="Roboto Mono"/>
              </a:rPr>
              <a:t>            {</a:t>
            </a:r>
            <a:r>
              <a:rPr lang="en" sz="580">
                <a:solidFill>
                  <a:schemeClr val="accent5"/>
                </a:solidFill>
                <a:latin typeface="Roboto Mono"/>
                <a:ea typeface="Roboto Mono"/>
                <a:cs typeface="Roboto Mono"/>
                <a:sym typeface="Roboto Mono"/>
              </a:rPr>
              <a:t>"role"</a:t>
            </a:r>
            <a:r>
              <a:rPr lang="en" sz="580">
                <a:solidFill>
                  <a:schemeClr val="dk2"/>
                </a:solidFill>
                <a:latin typeface="Roboto Mono"/>
                <a:ea typeface="Roboto Mono"/>
                <a:cs typeface="Roboto Mono"/>
                <a:sym typeface="Roboto Mono"/>
              </a:rPr>
              <a:t>: </a:t>
            </a:r>
            <a:r>
              <a:rPr lang="en" sz="580">
                <a:solidFill>
                  <a:schemeClr val="accent5"/>
                </a:solidFill>
                <a:latin typeface="Roboto Mono"/>
                <a:ea typeface="Roboto Mono"/>
                <a:cs typeface="Roboto Mono"/>
                <a:sym typeface="Roboto Mono"/>
              </a:rPr>
              <a:t>"user"</a:t>
            </a:r>
            <a:r>
              <a:rPr lang="en" sz="580">
                <a:solidFill>
                  <a:schemeClr val="dk2"/>
                </a:solidFill>
                <a:latin typeface="Roboto Mono"/>
                <a:ea typeface="Roboto Mono"/>
                <a:cs typeface="Roboto Mono"/>
                <a:sym typeface="Roboto Mono"/>
              </a:rPr>
              <a:t>,</a:t>
            </a:r>
            <a:br>
              <a:rPr lang="en" sz="580">
                <a:solidFill>
                  <a:schemeClr val="dk2"/>
                </a:solidFill>
                <a:latin typeface="Roboto Mono"/>
                <a:ea typeface="Roboto Mono"/>
                <a:cs typeface="Roboto Mono"/>
                <a:sym typeface="Roboto Mono"/>
              </a:rPr>
            </a:br>
            <a:r>
              <a:rPr lang="en" sz="580">
                <a:solidFill>
                  <a:schemeClr val="dk2"/>
                </a:solidFill>
                <a:latin typeface="Roboto Mono"/>
                <a:ea typeface="Roboto Mono"/>
                <a:cs typeface="Roboto Mono"/>
                <a:sym typeface="Roboto Mono"/>
              </a:rPr>
              <a:t>             </a:t>
            </a:r>
            <a:r>
              <a:rPr lang="en" sz="580">
                <a:solidFill>
                  <a:schemeClr val="accent5"/>
                </a:solidFill>
                <a:latin typeface="Roboto Mono"/>
                <a:ea typeface="Roboto Mono"/>
                <a:cs typeface="Roboto Mono"/>
                <a:sym typeface="Roboto Mono"/>
              </a:rPr>
              <a:t>"content"</a:t>
            </a:r>
            <a:r>
              <a:rPr lang="en" sz="580">
                <a:solidFill>
                  <a:schemeClr val="dk2"/>
                </a:solidFill>
                <a:latin typeface="Roboto Mono"/>
                <a:ea typeface="Roboto Mono"/>
                <a:cs typeface="Roboto Mono"/>
                <a:sym typeface="Roboto Mono"/>
              </a:rPr>
              <a:t>: </a:t>
            </a:r>
            <a:r>
              <a:rPr lang="en" sz="580">
                <a:solidFill>
                  <a:schemeClr val="accent5"/>
                </a:solidFill>
                <a:latin typeface="Roboto Mono"/>
                <a:ea typeface="Roboto Mono"/>
                <a:cs typeface="Roboto Mono"/>
                <a:sym typeface="Roboto Mono"/>
              </a:rPr>
              <a:t>"That's not a very good joke."</a:t>
            </a:r>
            <a:r>
              <a:rPr lang="en" sz="580">
                <a:solidFill>
                  <a:schemeClr val="dk2"/>
                </a:solidFill>
                <a:latin typeface="Roboto Mono"/>
                <a:ea typeface="Roboto Mono"/>
                <a:cs typeface="Roboto Mono"/>
                <a:sym typeface="Roboto Mono"/>
              </a:rPr>
              <a:t>},</a:t>
            </a:r>
            <a:endParaRPr sz="580">
              <a:solidFill>
                <a:schemeClr val="dk2"/>
              </a:solidFill>
              <a:latin typeface="Roboto Mono"/>
              <a:ea typeface="Roboto Mono"/>
              <a:cs typeface="Roboto Mono"/>
              <a:sym typeface="Roboto Mono"/>
            </a:endParaRPr>
          </a:p>
          <a:p>
            <a:pPr indent="0" lvl="0" marL="0" rtl="0" algn="l">
              <a:lnSpc>
                <a:spcPct val="105000"/>
              </a:lnSpc>
              <a:spcBef>
                <a:spcPts val="0"/>
              </a:spcBef>
              <a:spcAft>
                <a:spcPts val="0"/>
              </a:spcAft>
              <a:buClr>
                <a:schemeClr val="dk1"/>
              </a:buClr>
              <a:buSzPts val="770"/>
              <a:buFont typeface="Arial"/>
              <a:buNone/>
            </a:pPr>
            <a:r>
              <a:rPr lang="en" sz="580">
                <a:solidFill>
                  <a:schemeClr val="dk2"/>
                </a:solidFill>
                <a:latin typeface="Roboto Mono"/>
                <a:ea typeface="Roboto Mono"/>
                <a:cs typeface="Roboto Mono"/>
                <a:sym typeface="Roboto Mono"/>
              </a:rPr>
              <a:t>            </a:t>
            </a:r>
            <a:r>
              <a:rPr lang="en" sz="580">
                <a:solidFill>
                  <a:schemeClr val="accent4"/>
                </a:solidFill>
                <a:latin typeface="Roboto Mono"/>
                <a:ea typeface="Roboto Mono"/>
                <a:cs typeface="Roboto Mono"/>
                <a:sym typeface="Roboto Mono"/>
              </a:rPr>
              <a:t># autocomplete will give us the next whole message</a:t>
            </a:r>
            <a:endParaRPr sz="580">
              <a:solidFill>
                <a:schemeClr val="accent4"/>
              </a:solidFill>
              <a:latin typeface="Roboto Mono"/>
              <a:ea typeface="Roboto Mono"/>
              <a:cs typeface="Roboto Mono"/>
              <a:sym typeface="Roboto Mono"/>
            </a:endParaRPr>
          </a:p>
          <a:p>
            <a:pPr indent="0" lvl="0" marL="0" rtl="0" algn="l">
              <a:lnSpc>
                <a:spcPct val="105000"/>
              </a:lnSpc>
              <a:spcBef>
                <a:spcPts val="0"/>
              </a:spcBef>
              <a:spcAft>
                <a:spcPts val="0"/>
              </a:spcAft>
              <a:buClr>
                <a:schemeClr val="dk1"/>
              </a:buClr>
              <a:buSzPts val="770"/>
              <a:buFont typeface="Arial"/>
              <a:buNone/>
            </a:pPr>
            <a:r>
              <a:rPr lang="en" sz="580">
                <a:solidFill>
                  <a:schemeClr val="dk2"/>
                </a:solidFill>
                <a:latin typeface="Roboto Mono"/>
                <a:ea typeface="Roboto Mono"/>
                <a:cs typeface="Roboto Mono"/>
                <a:sym typeface="Roboto Mono"/>
              </a:rPr>
              <a:t>        ],</a:t>
            </a:r>
            <a:endParaRPr sz="580">
              <a:solidFill>
                <a:schemeClr val="dk2"/>
              </a:solidFill>
              <a:latin typeface="Roboto Mono"/>
              <a:ea typeface="Roboto Mono"/>
              <a:cs typeface="Roboto Mono"/>
              <a:sym typeface="Roboto Mono"/>
            </a:endParaRPr>
          </a:p>
          <a:p>
            <a:pPr indent="0" lvl="0" marL="0" rtl="0" algn="l">
              <a:lnSpc>
                <a:spcPct val="105000"/>
              </a:lnSpc>
              <a:spcBef>
                <a:spcPts val="0"/>
              </a:spcBef>
              <a:spcAft>
                <a:spcPts val="0"/>
              </a:spcAft>
              <a:buClr>
                <a:schemeClr val="dk1"/>
              </a:buClr>
              <a:buSzPts val="770"/>
              <a:buFont typeface="Arial"/>
              <a:buNone/>
            </a:pPr>
            <a:r>
              <a:rPr lang="en" sz="580">
                <a:solidFill>
                  <a:schemeClr val="dk2"/>
                </a:solidFill>
                <a:latin typeface="Roboto Mono"/>
                <a:ea typeface="Roboto Mono"/>
                <a:cs typeface="Roboto Mono"/>
                <a:sym typeface="Roboto Mono"/>
              </a:rPr>
              <a:t>    },</a:t>
            </a:r>
            <a:endParaRPr sz="580">
              <a:solidFill>
                <a:schemeClr val="dk2"/>
              </a:solidFill>
              <a:latin typeface="Roboto Mono"/>
              <a:ea typeface="Roboto Mono"/>
              <a:cs typeface="Roboto Mono"/>
              <a:sym typeface="Roboto Mono"/>
            </a:endParaRPr>
          </a:p>
          <a:p>
            <a:pPr indent="0" lvl="0" marL="0" rtl="0" algn="l">
              <a:lnSpc>
                <a:spcPct val="105000"/>
              </a:lnSpc>
              <a:spcBef>
                <a:spcPts val="0"/>
              </a:spcBef>
              <a:spcAft>
                <a:spcPts val="0"/>
              </a:spcAft>
              <a:buClr>
                <a:schemeClr val="dk1"/>
              </a:buClr>
              <a:buSzPts val="770"/>
              <a:buFont typeface="Arial"/>
              <a:buNone/>
            </a:pPr>
            <a:r>
              <a:rPr lang="en" sz="580">
                <a:solidFill>
                  <a:schemeClr val="dk2"/>
                </a:solidFill>
                <a:latin typeface="Roboto Mono"/>
                <a:ea typeface="Roboto Mono"/>
                <a:cs typeface="Roboto Mono"/>
                <a:sym typeface="Roboto Mono"/>
              </a:rPr>
              <a:t>).json()</a:t>
            </a:r>
            <a:endParaRPr sz="1500">
              <a:solidFill>
                <a:schemeClr val="dk2"/>
              </a:solidFill>
            </a:endParaRPr>
          </a:p>
        </p:txBody>
      </p:sp>
      <p:pic>
        <p:nvPicPr>
          <p:cNvPr id="688" name="Google Shape;688;p96"/>
          <p:cNvPicPr preferRelativeResize="0"/>
          <p:nvPr/>
        </p:nvPicPr>
        <p:blipFill>
          <a:blip r:embed="rId3">
            <a:alphaModFix/>
          </a:blip>
          <a:stretch>
            <a:fillRect/>
          </a:stretch>
        </p:blipFill>
        <p:spPr>
          <a:xfrm>
            <a:off x="4572000" y="706000"/>
            <a:ext cx="1705175" cy="871900"/>
          </a:xfrm>
          <a:prstGeom prst="rect">
            <a:avLst/>
          </a:prstGeom>
          <a:noFill/>
          <a:ln cap="flat" cmpd="sng" w="9525">
            <a:solidFill>
              <a:schemeClr val="dk2"/>
            </a:solidFill>
            <a:prstDash val="solid"/>
            <a:round/>
            <a:headEnd len="sm" w="sm" type="none"/>
            <a:tailEnd len="sm" w="sm" type="none"/>
          </a:ln>
        </p:spPr>
      </p:pic>
      <p:pic>
        <p:nvPicPr>
          <p:cNvPr id="689" name="Google Shape;689;p96"/>
          <p:cNvPicPr preferRelativeResize="0"/>
          <p:nvPr/>
        </p:nvPicPr>
        <p:blipFill>
          <a:blip r:embed="rId4">
            <a:alphaModFix/>
          </a:blip>
          <a:stretch>
            <a:fillRect/>
          </a:stretch>
        </p:blipFill>
        <p:spPr>
          <a:xfrm>
            <a:off x="6566550" y="1258113"/>
            <a:ext cx="2146776" cy="1295725"/>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3" name="Shape 693"/>
        <p:cNvGrpSpPr/>
        <p:nvPr/>
      </p:nvGrpSpPr>
      <p:grpSpPr>
        <a:xfrm>
          <a:off x="0" y="0"/>
          <a:ext cx="0" cy="0"/>
          <a:chOff x="0" y="0"/>
          <a:chExt cx="0" cy="0"/>
        </a:xfrm>
      </p:grpSpPr>
      <p:sp>
        <p:nvSpPr>
          <p:cNvPr id="694" name="Google Shape;694;p97"/>
          <p:cNvSpPr txBox="1"/>
          <p:nvPr>
            <p:ph type="title"/>
          </p:nvPr>
        </p:nvSpPr>
        <p:spPr>
          <a:xfrm>
            <a:off x="311700" y="1728125"/>
            <a:ext cx="8520600" cy="1687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3600"/>
              <a:buNone/>
            </a:pPr>
            <a:r>
              <a:rPr lang="en" sz="4000"/>
              <a:t>Context Engineering</a:t>
            </a:r>
            <a:endParaRPr sz="4000"/>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8" name="Shape 698"/>
        <p:cNvGrpSpPr/>
        <p:nvPr/>
      </p:nvGrpSpPr>
      <p:grpSpPr>
        <a:xfrm>
          <a:off x="0" y="0"/>
          <a:ext cx="0" cy="0"/>
          <a:chOff x="0" y="0"/>
          <a:chExt cx="0" cy="0"/>
        </a:xfrm>
      </p:grpSpPr>
      <p:sp>
        <p:nvSpPr>
          <p:cNvPr id="699" name="Google Shape;699;p9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Cultivating the LLM's context</a:t>
            </a:r>
            <a:endParaRPr/>
          </a:p>
        </p:txBody>
      </p:sp>
      <p:sp>
        <p:nvSpPr>
          <p:cNvPr id="700" name="Google Shape;700;p9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t/>
            </a:r>
            <a:endParaRPr/>
          </a:p>
          <a:p>
            <a:pPr indent="0" lvl="0" marL="0" rtl="0" algn="l">
              <a:spcBef>
                <a:spcPts val="1000"/>
              </a:spcBef>
              <a:spcAft>
                <a:spcPts val="0"/>
              </a:spcAft>
              <a:buNone/>
            </a:pPr>
            <a:r>
              <a:rPr lang="en"/>
              <a:t>Traditional software development is </a:t>
            </a:r>
            <a:r>
              <a:rPr b="1" lang="en"/>
              <a:t>craftsmanship</a:t>
            </a:r>
            <a:r>
              <a:rPr lang="en"/>
              <a:t>:</a:t>
            </a:r>
            <a:r>
              <a:rPr lang="en"/>
              <a:t> </a:t>
            </a:r>
            <a:r>
              <a:rPr lang="en"/>
              <a:t>you design everything, but the final product is limited by human diligence and communication.</a:t>
            </a:r>
            <a:endParaRPr/>
          </a:p>
          <a:p>
            <a:pPr indent="0" lvl="0" marL="0" rtl="0" algn="l">
              <a:spcBef>
                <a:spcPts val="1000"/>
              </a:spcBef>
              <a:spcAft>
                <a:spcPts val="0"/>
              </a:spcAft>
              <a:buNone/>
            </a:pPr>
            <a:r>
              <a:rPr lang="en"/>
              <a:t>Software development with AI is like </a:t>
            </a:r>
            <a:r>
              <a:rPr b="1" lang="en"/>
              <a:t>farming</a:t>
            </a:r>
            <a:r>
              <a:rPr lang="en"/>
              <a:t>: you set the conditions for growth and let the product grow, but with less control.</a:t>
            </a:r>
            <a:endParaRPr/>
          </a:p>
          <a:p>
            <a:pPr indent="0" lvl="0" marL="0" rtl="0" algn="l">
              <a:spcBef>
                <a:spcPts val="1000"/>
              </a:spcBef>
              <a:spcAft>
                <a:spcPts val="0"/>
              </a:spcAft>
              <a:buNone/>
            </a:pPr>
            <a:r>
              <a:t/>
            </a:r>
            <a:endParaRPr/>
          </a:p>
          <a:p>
            <a:pPr indent="0" lvl="0" marL="0" rtl="0" algn="l">
              <a:spcBef>
                <a:spcPts val="1000"/>
              </a:spcBef>
              <a:spcAft>
                <a:spcPts val="1000"/>
              </a:spcAft>
              <a:buNone/>
            </a:pPr>
            <a:br>
              <a:rPr b="1" lang="en"/>
            </a:br>
            <a:endParaRPr/>
          </a:p>
        </p:txBody>
      </p:sp>
      <p:pic>
        <p:nvPicPr>
          <p:cNvPr id="701" name="Google Shape;701;p98" title="sculpted-sunflower.png"/>
          <p:cNvPicPr preferRelativeResize="0"/>
          <p:nvPr/>
        </p:nvPicPr>
        <p:blipFill rotWithShape="1">
          <a:blip r:embed="rId3">
            <a:alphaModFix/>
          </a:blip>
          <a:srcRect b="0" l="0" r="0" t="0"/>
          <a:stretch/>
        </p:blipFill>
        <p:spPr>
          <a:xfrm>
            <a:off x="5922375" y="103650"/>
            <a:ext cx="1402145" cy="1402145"/>
          </a:xfrm>
          <a:prstGeom prst="rect">
            <a:avLst/>
          </a:prstGeom>
          <a:noFill/>
          <a:ln>
            <a:noFill/>
          </a:ln>
        </p:spPr>
      </p:pic>
      <p:pic>
        <p:nvPicPr>
          <p:cNvPr id="702" name="Google Shape;702;p98" title="sunflower.png"/>
          <p:cNvPicPr preferRelativeResize="0"/>
          <p:nvPr/>
        </p:nvPicPr>
        <p:blipFill rotWithShape="1">
          <a:blip r:embed="rId4">
            <a:alphaModFix/>
          </a:blip>
          <a:srcRect b="0" l="0" r="0" t="0"/>
          <a:stretch/>
        </p:blipFill>
        <p:spPr>
          <a:xfrm>
            <a:off x="7430154" y="103650"/>
            <a:ext cx="1402145" cy="1402145"/>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6" name="Shape 706"/>
        <p:cNvGrpSpPr/>
        <p:nvPr/>
      </p:nvGrpSpPr>
      <p:grpSpPr>
        <a:xfrm>
          <a:off x="0" y="0"/>
          <a:ext cx="0" cy="0"/>
          <a:chOff x="0" y="0"/>
          <a:chExt cx="0" cy="0"/>
        </a:xfrm>
      </p:grpSpPr>
      <p:sp>
        <p:nvSpPr>
          <p:cNvPr id="707" name="Google Shape;707;p9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Cultivating the LLM's context</a:t>
            </a:r>
            <a:endParaRPr/>
          </a:p>
        </p:txBody>
      </p:sp>
      <p:sp>
        <p:nvSpPr>
          <p:cNvPr id="708" name="Google Shape;708;p9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t/>
            </a:r>
            <a:endParaRPr/>
          </a:p>
          <a:p>
            <a:pPr indent="0" lvl="0" marL="0" rtl="0" algn="l">
              <a:spcBef>
                <a:spcPts val="1000"/>
              </a:spcBef>
              <a:spcAft>
                <a:spcPts val="0"/>
              </a:spcAft>
              <a:buNone/>
            </a:pPr>
            <a:r>
              <a:rPr lang="en"/>
              <a:t>Traditional software development is </a:t>
            </a:r>
            <a:r>
              <a:rPr b="1" lang="en"/>
              <a:t>craftsmanship</a:t>
            </a:r>
            <a:r>
              <a:rPr lang="en"/>
              <a:t>: you design everything, but the final product is limited by human diligence and communication.</a:t>
            </a:r>
            <a:endParaRPr/>
          </a:p>
          <a:p>
            <a:pPr indent="0" lvl="0" marL="0" rtl="0" algn="l">
              <a:spcBef>
                <a:spcPts val="1000"/>
              </a:spcBef>
              <a:spcAft>
                <a:spcPts val="0"/>
              </a:spcAft>
              <a:buNone/>
            </a:pPr>
            <a:r>
              <a:rPr lang="en"/>
              <a:t>Software development with AI is like </a:t>
            </a:r>
            <a:r>
              <a:rPr b="1" lang="en"/>
              <a:t>farming</a:t>
            </a:r>
            <a:r>
              <a:rPr lang="en"/>
              <a:t>: you set the conditions for growth and let the product grow, but with less control.</a:t>
            </a:r>
            <a:endParaRPr/>
          </a:p>
          <a:p>
            <a:pPr indent="0" lvl="0" marL="0" rtl="0" algn="l">
              <a:spcBef>
                <a:spcPts val="1000"/>
              </a:spcBef>
              <a:spcAft>
                <a:spcPts val="0"/>
              </a:spcAft>
              <a:buNone/>
            </a:pPr>
            <a:r>
              <a:t/>
            </a:r>
            <a:endParaRPr/>
          </a:p>
          <a:p>
            <a:pPr indent="0" lvl="0" marL="0" rtl="0" algn="l">
              <a:spcBef>
                <a:spcPts val="1000"/>
              </a:spcBef>
              <a:spcAft>
                <a:spcPts val="1000"/>
              </a:spcAft>
              <a:buNone/>
            </a:pPr>
            <a:r>
              <a:rPr b="1" lang="en"/>
              <a:t>Less control ≠ no control:</a:t>
            </a:r>
            <a:r>
              <a:rPr lang="en"/>
              <a:t> farmers have to think about seed selection, crop rotation, irrigation, fertilization, pest control, weeding, timing, monitoring…</a:t>
            </a:r>
            <a:endParaRPr/>
          </a:p>
        </p:txBody>
      </p:sp>
      <p:pic>
        <p:nvPicPr>
          <p:cNvPr id="709" name="Google Shape;709;p99" title="sculpted-sunflower.png"/>
          <p:cNvPicPr preferRelativeResize="0"/>
          <p:nvPr/>
        </p:nvPicPr>
        <p:blipFill rotWithShape="1">
          <a:blip r:embed="rId3">
            <a:alphaModFix/>
          </a:blip>
          <a:srcRect b="0" l="0" r="0" t="0"/>
          <a:stretch/>
        </p:blipFill>
        <p:spPr>
          <a:xfrm>
            <a:off x="5922375" y="103650"/>
            <a:ext cx="1402145" cy="1402145"/>
          </a:xfrm>
          <a:prstGeom prst="rect">
            <a:avLst/>
          </a:prstGeom>
          <a:noFill/>
          <a:ln>
            <a:noFill/>
          </a:ln>
        </p:spPr>
      </p:pic>
      <p:pic>
        <p:nvPicPr>
          <p:cNvPr id="710" name="Google Shape;710;p99" title="sunflower.png"/>
          <p:cNvPicPr preferRelativeResize="0"/>
          <p:nvPr/>
        </p:nvPicPr>
        <p:blipFill rotWithShape="1">
          <a:blip r:embed="rId4">
            <a:alphaModFix/>
          </a:blip>
          <a:srcRect b="0" l="0" r="0" t="0"/>
          <a:stretch/>
        </p:blipFill>
        <p:spPr>
          <a:xfrm>
            <a:off x="7430154" y="103650"/>
            <a:ext cx="1402145" cy="1402145"/>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p10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6"/>
              <a:buFont typeface="Arial"/>
              <a:buNone/>
            </a:pPr>
            <a:r>
              <a:rPr lang="en"/>
              <a:t>Cultivating the LLM's context</a:t>
            </a:r>
            <a:endParaRPr/>
          </a:p>
        </p:txBody>
      </p:sp>
      <p:sp>
        <p:nvSpPr>
          <p:cNvPr id="716" name="Google Shape;716;p100"/>
          <p:cNvSpPr txBox="1"/>
          <p:nvPr>
            <p:ph idx="1" type="body"/>
          </p:nvPr>
        </p:nvSpPr>
        <p:spPr>
          <a:xfrm>
            <a:off x="311700" y="1152475"/>
            <a:ext cx="85206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An LLM has a limited context window (1 million tokens at the largest).</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45720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ctr">
              <a:spcBef>
                <a:spcPts val="1000"/>
              </a:spcBef>
              <a:spcAft>
                <a:spcPts val="1000"/>
              </a:spcAft>
              <a:buNone/>
            </a:pPr>
            <a:r>
              <a:t/>
            </a:r>
            <a:endParaRPr b="1">
              <a:solidFill>
                <a:schemeClr val="accent1"/>
              </a:solidFil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0" name="Shape 720"/>
        <p:cNvGrpSpPr/>
        <p:nvPr/>
      </p:nvGrpSpPr>
      <p:grpSpPr>
        <a:xfrm>
          <a:off x="0" y="0"/>
          <a:ext cx="0" cy="0"/>
          <a:chOff x="0" y="0"/>
          <a:chExt cx="0" cy="0"/>
        </a:xfrm>
      </p:grpSpPr>
      <p:sp>
        <p:nvSpPr>
          <p:cNvPr id="721" name="Google Shape;721;p10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6"/>
              <a:buFont typeface="Arial"/>
              <a:buNone/>
            </a:pPr>
            <a:r>
              <a:rPr lang="en"/>
              <a:t>Cultivating the LLM's context</a:t>
            </a:r>
            <a:endParaRPr/>
          </a:p>
        </p:txBody>
      </p:sp>
      <p:sp>
        <p:nvSpPr>
          <p:cNvPr id="722" name="Google Shape;722;p101"/>
          <p:cNvSpPr txBox="1"/>
          <p:nvPr>
            <p:ph idx="1" type="body"/>
          </p:nvPr>
        </p:nvSpPr>
        <p:spPr>
          <a:xfrm>
            <a:off x="311700" y="1152475"/>
            <a:ext cx="85206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An LLM has a limited context window (1 million tokens at the largest).</a:t>
            </a:r>
            <a:endParaRPr/>
          </a:p>
          <a:p>
            <a:pPr indent="0" lvl="0" marL="0" rtl="0" algn="l">
              <a:spcBef>
                <a:spcPts val="1000"/>
              </a:spcBef>
              <a:spcAft>
                <a:spcPts val="0"/>
              </a:spcAft>
              <a:buNone/>
            </a:pPr>
            <a:r>
              <a:rPr lang="en"/>
              <a:t>A model's output depends </a:t>
            </a:r>
            <a:r>
              <a:rPr i="1" lang="en" u="sng"/>
              <a:t>only</a:t>
            </a:r>
            <a:r>
              <a:rPr lang="en"/>
              <a:t> on what's in the window: prompts and documents.</a:t>
            </a:r>
            <a:endParaRPr/>
          </a:p>
          <a:p>
            <a:pPr indent="0" lvl="0" marL="0" rtl="0" algn="l">
              <a:spcBef>
                <a:spcPts val="1000"/>
              </a:spcBef>
              <a:spcAft>
                <a:spcPts val="0"/>
              </a:spcAft>
              <a:buNone/>
            </a:pPr>
            <a:r>
              <a:t/>
            </a:r>
            <a:endParaRPr/>
          </a:p>
          <a:p>
            <a:pPr indent="0" lvl="0" marL="45720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ctr">
              <a:spcBef>
                <a:spcPts val="1000"/>
              </a:spcBef>
              <a:spcAft>
                <a:spcPts val="1000"/>
              </a:spcAft>
              <a:buNone/>
            </a:pPr>
            <a:r>
              <a:t/>
            </a:r>
            <a:endParaRPr b="1">
              <a:solidFill>
                <a:schemeClr val="accent1"/>
              </a:solidFil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6" name="Shape 726"/>
        <p:cNvGrpSpPr/>
        <p:nvPr/>
      </p:nvGrpSpPr>
      <p:grpSpPr>
        <a:xfrm>
          <a:off x="0" y="0"/>
          <a:ext cx="0" cy="0"/>
          <a:chOff x="0" y="0"/>
          <a:chExt cx="0" cy="0"/>
        </a:xfrm>
      </p:grpSpPr>
      <p:sp>
        <p:nvSpPr>
          <p:cNvPr id="727" name="Google Shape;727;p10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6"/>
              <a:buFont typeface="Arial"/>
              <a:buNone/>
            </a:pPr>
            <a:r>
              <a:rPr lang="en"/>
              <a:t>Cultivating the LLM's context</a:t>
            </a:r>
            <a:endParaRPr/>
          </a:p>
        </p:txBody>
      </p:sp>
      <p:sp>
        <p:nvSpPr>
          <p:cNvPr id="728" name="Google Shape;728;p102"/>
          <p:cNvSpPr txBox="1"/>
          <p:nvPr>
            <p:ph idx="1" type="body"/>
          </p:nvPr>
        </p:nvSpPr>
        <p:spPr>
          <a:xfrm>
            <a:off x="311700" y="1152475"/>
            <a:ext cx="85206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An LLM has a limited context window (1 million tokens at the largest).</a:t>
            </a:r>
            <a:endParaRPr/>
          </a:p>
          <a:p>
            <a:pPr indent="0" lvl="0" marL="0" rtl="0" algn="l">
              <a:spcBef>
                <a:spcPts val="1000"/>
              </a:spcBef>
              <a:spcAft>
                <a:spcPts val="0"/>
              </a:spcAft>
              <a:buNone/>
            </a:pPr>
            <a:r>
              <a:rPr lang="en"/>
              <a:t>A model's output depends </a:t>
            </a:r>
            <a:r>
              <a:rPr i="1" lang="en" u="sng"/>
              <a:t>only</a:t>
            </a:r>
            <a:r>
              <a:rPr lang="en"/>
              <a:t> on what's in the window: prompts and documents.</a:t>
            </a:r>
            <a:endParaRPr/>
          </a:p>
          <a:p>
            <a:pPr indent="0" lvl="0" marL="0" rtl="0" algn="l">
              <a:spcBef>
                <a:spcPts val="1000"/>
              </a:spcBef>
              <a:spcAft>
                <a:spcPts val="0"/>
              </a:spcAft>
              <a:buNone/>
            </a:pPr>
            <a:r>
              <a:rPr lang="en"/>
              <a:t>The real works consists in:</a:t>
            </a:r>
            <a:endParaRPr/>
          </a:p>
          <a:p>
            <a:pPr indent="-342900" lvl="0" marL="457200" rtl="0" algn="l">
              <a:spcBef>
                <a:spcPts val="1000"/>
              </a:spcBef>
              <a:spcAft>
                <a:spcPts val="0"/>
              </a:spcAft>
              <a:buSzPts val="1800"/>
              <a:buChar char="●"/>
            </a:pPr>
            <a:r>
              <a:rPr lang="en"/>
              <a:t>Designing effective prompts</a:t>
            </a:r>
            <a:endParaRPr/>
          </a:p>
          <a:p>
            <a:pPr indent="-342900" lvl="0" marL="457200" rtl="0" algn="l">
              <a:spcBef>
                <a:spcPts val="0"/>
              </a:spcBef>
              <a:spcAft>
                <a:spcPts val="0"/>
              </a:spcAft>
              <a:buSzPts val="1800"/>
              <a:buChar char="●"/>
            </a:pPr>
            <a:r>
              <a:rPr lang="en"/>
              <a:t>Structuring information for the model</a:t>
            </a:r>
            <a:endParaRPr/>
          </a:p>
          <a:p>
            <a:pPr indent="-342900" lvl="0" marL="457200" rtl="0" algn="l">
              <a:spcBef>
                <a:spcPts val="0"/>
              </a:spcBef>
              <a:spcAft>
                <a:spcPts val="0"/>
              </a:spcAft>
              <a:buSzPts val="1800"/>
              <a:buChar char="●"/>
            </a:pPr>
            <a:r>
              <a:rPr lang="en"/>
              <a:t>Providing the right examples and constraints</a:t>
            </a:r>
            <a:endParaRPr/>
          </a:p>
          <a:p>
            <a:pPr indent="-342900" lvl="0" marL="457200" rtl="0" algn="l">
              <a:spcBef>
                <a:spcPts val="0"/>
              </a:spcBef>
              <a:spcAft>
                <a:spcPts val="0"/>
              </a:spcAft>
              <a:buSzPts val="1800"/>
              <a:buChar char="●"/>
            </a:pPr>
            <a:r>
              <a:rPr lang="en"/>
              <a:t>Managing context size and relevance</a:t>
            </a:r>
            <a:endParaRPr/>
          </a:p>
          <a:p>
            <a:pPr indent="0" lvl="0" marL="0" rtl="0" algn="l">
              <a:spcBef>
                <a:spcPts val="1000"/>
              </a:spcBef>
              <a:spcAft>
                <a:spcPts val="0"/>
              </a:spcAft>
              <a:buNone/>
            </a:pPr>
            <a:r>
              <a:t/>
            </a:r>
            <a:endParaRPr/>
          </a:p>
          <a:p>
            <a:pPr indent="0" lvl="0" marL="0" rtl="0" algn="ctr">
              <a:spcBef>
                <a:spcPts val="1000"/>
              </a:spcBef>
              <a:spcAft>
                <a:spcPts val="1000"/>
              </a:spcAft>
              <a:buNone/>
            </a:pPr>
            <a:r>
              <a:t/>
            </a:r>
            <a:endParaRPr b="1">
              <a:solidFill>
                <a:schemeClr val="accent1"/>
              </a:solidFill>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2" name="Shape 732"/>
        <p:cNvGrpSpPr/>
        <p:nvPr/>
      </p:nvGrpSpPr>
      <p:grpSpPr>
        <a:xfrm>
          <a:off x="0" y="0"/>
          <a:ext cx="0" cy="0"/>
          <a:chOff x="0" y="0"/>
          <a:chExt cx="0" cy="0"/>
        </a:xfrm>
      </p:grpSpPr>
      <p:sp>
        <p:nvSpPr>
          <p:cNvPr id="733" name="Google Shape;733;p10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6"/>
              <a:buFont typeface="Arial"/>
              <a:buNone/>
            </a:pPr>
            <a:r>
              <a:rPr lang="en"/>
              <a:t>Cultivating the LLM's context</a:t>
            </a:r>
            <a:endParaRPr/>
          </a:p>
        </p:txBody>
      </p:sp>
      <p:sp>
        <p:nvSpPr>
          <p:cNvPr id="734" name="Google Shape;734;p103"/>
          <p:cNvSpPr txBox="1"/>
          <p:nvPr>
            <p:ph idx="1" type="body"/>
          </p:nvPr>
        </p:nvSpPr>
        <p:spPr>
          <a:xfrm>
            <a:off x="311700" y="1152475"/>
            <a:ext cx="85206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An LLM has a limited context window (1 million tokens at the largest).</a:t>
            </a:r>
            <a:endParaRPr/>
          </a:p>
          <a:p>
            <a:pPr indent="0" lvl="0" marL="0" rtl="0" algn="l">
              <a:spcBef>
                <a:spcPts val="1000"/>
              </a:spcBef>
              <a:spcAft>
                <a:spcPts val="0"/>
              </a:spcAft>
              <a:buNone/>
            </a:pPr>
            <a:r>
              <a:rPr lang="en"/>
              <a:t>A model's output depends </a:t>
            </a:r>
            <a:r>
              <a:rPr i="1" lang="en" u="sng"/>
              <a:t>only</a:t>
            </a:r>
            <a:r>
              <a:rPr lang="en"/>
              <a:t> on what's in the window: prompts and documents.</a:t>
            </a:r>
            <a:endParaRPr/>
          </a:p>
          <a:p>
            <a:pPr indent="0" lvl="0" marL="0" rtl="0" algn="l">
              <a:spcBef>
                <a:spcPts val="1000"/>
              </a:spcBef>
              <a:spcAft>
                <a:spcPts val="0"/>
              </a:spcAft>
              <a:buNone/>
            </a:pPr>
            <a:r>
              <a:rPr lang="en"/>
              <a:t>The real works consists in:</a:t>
            </a:r>
            <a:endParaRPr/>
          </a:p>
          <a:p>
            <a:pPr indent="-342900" lvl="0" marL="457200" rtl="0" algn="l">
              <a:spcBef>
                <a:spcPts val="1000"/>
              </a:spcBef>
              <a:spcAft>
                <a:spcPts val="0"/>
              </a:spcAft>
              <a:buSzPts val="1800"/>
              <a:buChar char="●"/>
            </a:pPr>
            <a:r>
              <a:rPr lang="en"/>
              <a:t>Designing effective prompts</a:t>
            </a:r>
            <a:endParaRPr/>
          </a:p>
          <a:p>
            <a:pPr indent="-342900" lvl="0" marL="457200" rtl="0" algn="l">
              <a:spcBef>
                <a:spcPts val="0"/>
              </a:spcBef>
              <a:spcAft>
                <a:spcPts val="0"/>
              </a:spcAft>
              <a:buSzPts val="1800"/>
              <a:buChar char="●"/>
            </a:pPr>
            <a:r>
              <a:rPr lang="en"/>
              <a:t>Structuring information for the model</a:t>
            </a:r>
            <a:endParaRPr/>
          </a:p>
          <a:p>
            <a:pPr indent="-342900" lvl="0" marL="457200" rtl="0" algn="l">
              <a:spcBef>
                <a:spcPts val="0"/>
              </a:spcBef>
              <a:spcAft>
                <a:spcPts val="0"/>
              </a:spcAft>
              <a:buSzPts val="1800"/>
              <a:buChar char="●"/>
            </a:pPr>
            <a:r>
              <a:rPr lang="en"/>
              <a:t>Providing the right examples and constraints</a:t>
            </a:r>
            <a:endParaRPr/>
          </a:p>
          <a:p>
            <a:pPr indent="-342900" lvl="0" marL="457200" rtl="0" algn="l">
              <a:spcBef>
                <a:spcPts val="0"/>
              </a:spcBef>
              <a:spcAft>
                <a:spcPts val="0"/>
              </a:spcAft>
              <a:buSzPts val="1800"/>
              <a:buChar char="●"/>
            </a:pPr>
            <a:r>
              <a:rPr lang="en"/>
              <a:t>Managing context size and relevance</a:t>
            </a:r>
            <a:endParaRPr/>
          </a:p>
          <a:p>
            <a:pPr indent="0" lvl="0" marL="0" rtl="0" algn="l">
              <a:spcBef>
                <a:spcPts val="1000"/>
              </a:spcBef>
              <a:spcAft>
                <a:spcPts val="0"/>
              </a:spcAft>
              <a:buNone/>
            </a:pPr>
            <a:r>
              <a:t/>
            </a:r>
            <a:endParaRPr/>
          </a:p>
          <a:p>
            <a:pPr indent="0" lvl="0" marL="0" rtl="0" algn="ctr">
              <a:spcBef>
                <a:spcPts val="1000"/>
              </a:spcBef>
              <a:spcAft>
                <a:spcPts val="1000"/>
              </a:spcAft>
              <a:buNone/>
            </a:pPr>
            <a:r>
              <a:rPr b="1" lang="en">
                <a:solidFill>
                  <a:schemeClr val="accent1"/>
                </a:solidFill>
              </a:rPr>
              <a:t>This is context engineering.</a:t>
            </a:r>
            <a:endParaRPr b="1">
              <a:solidFill>
                <a:schemeClr val="accent1"/>
              </a:solidFill>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8" name="Shape 738"/>
        <p:cNvGrpSpPr/>
        <p:nvPr/>
      </p:nvGrpSpPr>
      <p:grpSpPr>
        <a:xfrm>
          <a:off x="0" y="0"/>
          <a:ext cx="0" cy="0"/>
          <a:chOff x="0" y="0"/>
          <a:chExt cx="0" cy="0"/>
        </a:xfrm>
      </p:grpSpPr>
      <p:pic>
        <p:nvPicPr>
          <p:cNvPr id="739" name="Google Shape;739;p104" title="0470cc51-b8ec-4636-9ce2-833166d9b528.png"/>
          <p:cNvPicPr preferRelativeResize="0"/>
          <p:nvPr/>
        </p:nvPicPr>
        <p:blipFill>
          <a:blip r:embed="rId3">
            <a:alphaModFix/>
          </a:blip>
          <a:stretch>
            <a:fillRect/>
          </a:stretch>
        </p:blipFill>
        <p:spPr>
          <a:xfrm>
            <a:off x="311700" y="1152475"/>
            <a:ext cx="6297832" cy="3778699"/>
          </a:xfrm>
          <a:prstGeom prst="rect">
            <a:avLst/>
          </a:prstGeom>
          <a:noFill/>
          <a:ln>
            <a:noFill/>
          </a:ln>
        </p:spPr>
      </p:pic>
      <p:sp>
        <p:nvSpPr>
          <p:cNvPr id="740" name="Google Shape;740;p10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LLM finding a needle in a haystack</a:t>
            </a:r>
            <a:endParaRPr/>
          </a:p>
        </p:txBody>
      </p:sp>
      <p:sp>
        <p:nvSpPr>
          <p:cNvPr id="741" name="Google Shape;741;p104"/>
          <p:cNvSpPr txBox="1"/>
          <p:nvPr>
            <p:ph idx="1" type="body"/>
          </p:nvPr>
        </p:nvSpPr>
        <p:spPr>
          <a:xfrm>
            <a:off x="6609550" y="1152475"/>
            <a:ext cx="22230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t>Experiment:</a:t>
            </a:r>
            <a:br>
              <a:rPr lang="en"/>
            </a:br>
            <a:r>
              <a:rPr lang="en"/>
              <a:t>a story with a million tokens fills the context window and </a:t>
            </a:r>
            <a:r>
              <a:rPr lang="en"/>
              <a:t>the</a:t>
            </a:r>
            <a:r>
              <a:rPr lang="en"/>
              <a:t> main character</a:t>
            </a:r>
            <a:r>
              <a:rPr lang="en"/>
              <a:t>'</a:t>
            </a:r>
            <a:r>
              <a:rPr lang="en"/>
              <a:t>s middle name appears only once.</a:t>
            </a:r>
            <a:endParaRPr/>
          </a:p>
          <a:p>
            <a:pPr indent="0" lvl="0" marL="0" rtl="0" algn="l">
              <a:spcBef>
                <a:spcPts val="1000"/>
              </a:spcBef>
              <a:spcAft>
                <a:spcPts val="1000"/>
              </a:spcAft>
              <a:buNone/>
            </a:pPr>
            <a:r>
              <a:rPr b="1" lang="en"/>
              <a:t>Can the LLM (correctly) find it?</a:t>
            </a:r>
            <a:endParaRPr b="1"/>
          </a:p>
        </p:txBody>
      </p:sp>
      <p:sp>
        <p:nvSpPr>
          <p:cNvPr id="742" name="Google Shape;742;p104"/>
          <p:cNvSpPr txBox="1"/>
          <p:nvPr/>
        </p:nvSpPr>
        <p:spPr>
          <a:xfrm>
            <a:off x="1146250" y="3169293"/>
            <a:ext cx="3339300" cy="461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800">
                <a:solidFill>
                  <a:schemeClr val="dk2"/>
                </a:solidFill>
              </a:rPr>
              <a:t>“Lucien </a:t>
            </a:r>
            <a:r>
              <a:rPr b="1" lang="en" sz="1800">
                <a:solidFill>
                  <a:srgbClr val="999999"/>
                </a:solidFill>
              </a:rPr>
              <a:t>Armand</a:t>
            </a:r>
            <a:r>
              <a:rPr b="1" lang="en" sz="1800">
                <a:solidFill>
                  <a:schemeClr val="dk2"/>
                </a:solidFill>
              </a:rPr>
              <a:t> Bellefleur”</a:t>
            </a:r>
            <a:endParaRPr b="1" sz="1800">
              <a:solidFill>
                <a:schemeClr val="dk2"/>
              </a:solidFill>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6" name="Shape 746"/>
        <p:cNvGrpSpPr/>
        <p:nvPr/>
      </p:nvGrpSpPr>
      <p:grpSpPr>
        <a:xfrm>
          <a:off x="0" y="0"/>
          <a:ext cx="0" cy="0"/>
          <a:chOff x="0" y="0"/>
          <a:chExt cx="0" cy="0"/>
        </a:xfrm>
      </p:grpSpPr>
      <p:sp>
        <p:nvSpPr>
          <p:cNvPr id="747" name="Google Shape;747;p10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Types of messages in the context window</a:t>
            </a:r>
            <a:endParaRPr/>
          </a:p>
        </p:txBody>
      </p:sp>
      <p:sp>
        <p:nvSpPr>
          <p:cNvPr id="748" name="Google Shape;748;p10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t/>
            </a:r>
            <a:endParaRPr b="1"/>
          </a:p>
          <a:p>
            <a:pPr indent="-342900" lvl="0" marL="457200" rtl="0" algn="l">
              <a:spcBef>
                <a:spcPts val="0"/>
              </a:spcBef>
              <a:spcAft>
                <a:spcPts val="0"/>
              </a:spcAft>
              <a:buSzPts val="1800"/>
              <a:buChar char="●"/>
            </a:pPr>
            <a:r>
              <a:rPr b="1" lang="en"/>
              <a:t>System Prompt:</a:t>
            </a:r>
            <a:r>
              <a:rPr lang="en"/>
              <a:t> high-level instructions and safety rules</a:t>
            </a:r>
            <a:br>
              <a:rPr lang="en"/>
            </a:br>
            <a:endParaRPr/>
          </a:p>
          <a:p>
            <a:pPr indent="-342900" lvl="0" marL="457200" rtl="0" algn="l">
              <a:spcBef>
                <a:spcPts val="0"/>
              </a:spcBef>
              <a:spcAft>
                <a:spcPts val="0"/>
              </a:spcAft>
              <a:buSzPts val="1800"/>
              <a:buChar char="●"/>
            </a:pPr>
            <a:r>
              <a:rPr b="1" lang="en"/>
              <a:t>User Prompt:</a:t>
            </a:r>
            <a:r>
              <a:rPr lang="en"/>
              <a:t> ordinary user message</a:t>
            </a:r>
            <a:br>
              <a:rPr lang="en"/>
            </a:br>
            <a:endParaRPr/>
          </a:p>
          <a:p>
            <a:pPr indent="-342900" lvl="0" marL="457200" rtl="0" algn="l">
              <a:spcBef>
                <a:spcPts val="0"/>
              </a:spcBef>
              <a:spcAft>
                <a:spcPts val="0"/>
              </a:spcAft>
              <a:buSzPts val="1800"/>
              <a:buChar char="●"/>
            </a:pPr>
            <a:r>
              <a:rPr b="1" lang="en"/>
              <a:t>Environmental Context:</a:t>
            </a:r>
            <a:r>
              <a:rPr lang="en"/>
              <a:t> provided documents and tool outputs such as downloaded web pages</a:t>
            </a:r>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2" name="Shape 752"/>
        <p:cNvGrpSpPr/>
        <p:nvPr/>
      </p:nvGrpSpPr>
      <p:grpSpPr>
        <a:xfrm>
          <a:off x="0" y="0"/>
          <a:ext cx="0" cy="0"/>
          <a:chOff x="0" y="0"/>
          <a:chExt cx="0" cy="0"/>
        </a:xfrm>
      </p:grpSpPr>
      <p:sp>
        <p:nvSpPr>
          <p:cNvPr id="753" name="Google Shape;753;p10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System Prompt</a:t>
            </a:r>
            <a:endParaRPr/>
          </a:p>
        </p:txBody>
      </p:sp>
      <p:sp>
        <p:nvSpPr>
          <p:cNvPr id="754" name="Google Shape;754;p10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Usually not shown in a chat session, it sets the highest-level behavior:</a:t>
            </a:r>
            <a:endParaRPr/>
          </a:p>
          <a:p>
            <a:pPr indent="-342900" lvl="0" marL="457200" rtl="0" algn="l">
              <a:spcBef>
                <a:spcPts val="1000"/>
              </a:spcBef>
              <a:spcAft>
                <a:spcPts val="0"/>
              </a:spcAft>
              <a:buSzPts val="1800"/>
              <a:buChar char="●"/>
            </a:pPr>
            <a:r>
              <a:rPr lang="en"/>
              <a:t>Tone, rules, safety, format, role or characterization</a:t>
            </a:r>
            <a:endParaRPr/>
          </a:p>
          <a:p>
            <a:pPr indent="-342900" lvl="0" marL="457200" rtl="0" algn="l">
              <a:spcBef>
                <a:spcPts val="1000"/>
              </a:spcBef>
              <a:spcAft>
                <a:spcPts val="0"/>
              </a:spcAft>
              <a:buSzPts val="1800"/>
              <a:buChar char="●"/>
            </a:pPr>
            <a:r>
              <a:rPr lang="en"/>
              <a:t>Example: "You are a historian's assistant, </a:t>
            </a:r>
            <a:r>
              <a:rPr lang="en"/>
              <a:t>cataloging</a:t>
            </a:r>
            <a:r>
              <a:rPr lang="en"/>
              <a:t> artifact photographs according to pottery styles…"</a:t>
            </a:r>
            <a:endParaRPr/>
          </a:p>
          <a:p>
            <a:pPr indent="0" lvl="0" marL="0" rtl="0" algn="l">
              <a:spcBef>
                <a:spcPts val="1000"/>
              </a:spcBef>
              <a:spcAft>
                <a:spcPts val="0"/>
              </a:spcAft>
              <a:buNone/>
            </a:pPr>
            <a:r>
              <a:t/>
            </a:r>
            <a:endParaRPr/>
          </a:p>
          <a:p>
            <a:pPr indent="0" lvl="0" marL="0" rtl="0" algn="l">
              <a:spcBef>
                <a:spcPts val="1000"/>
              </a:spcBef>
              <a:spcAft>
                <a:spcPts val="0"/>
              </a:spcAft>
              <a:buNone/>
            </a:pPr>
            <a:r>
              <a:t/>
            </a:r>
            <a:endParaRPr/>
          </a:p>
          <a:p>
            <a:pPr indent="0" lvl="0" marL="0" rtl="0" algn="l">
              <a:spcBef>
                <a:spcPts val="1000"/>
              </a:spcBef>
              <a:spcAft>
                <a:spcPts val="1000"/>
              </a:spcAft>
              <a:buNone/>
            </a:pPr>
            <a:r>
              <a:t/>
            </a:r>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8" name="Shape 758"/>
        <p:cNvGrpSpPr/>
        <p:nvPr/>
      </p:nvGrpSpPr>
      <p:grpSpPr>
        <a:xfrm>
          <a:off x="0" y="0"/>
          <a:ext cx="0" cy="0"/>
          <a:chOff x="0" y="0"/>
          <a:chExt cx="0" cy="0"/>
        </a:xfrm>
      </p:grpSpPr>
      <p:sp>
        <p:nvSpPr>
          <p:cNvPr id="759" name="Google Shape;759;p10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System Prompt</a:t>
            </a:r>
            <a:endParaRPr/>
          </a:p>
        </p:txBody>
      </p:sp>
      <p:sp>
        <p:nvSpPr>
          <p:cNvPr id="760" name="Google Shape;760;p10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Usually not shown in a chat session, it sets the highest-level behavior:</a:t>
            </a:r>
            <a:endParaRPr/>
          </a:p>
          <a:p>
            <a:pPr indent="-342900" lvl="0" marL="457200" rtl="0" algn="l">
              <a:spcBef>
                <a:spcPts val="1000"/>
              </a:spcBef>
              <a:spcAft>
                <a:spcPts val="0"/>
              </a:spcAft>
              <a:buSzPts val="1800"/>
              <a:buChar char="●"/>
            </a:pPr>
            <a:r>
              <a:rPr lang="en"/>
              <a:t>Tone, rules, safety, format, role or characterization</a:t>
            </a:r>
            <a:endParaRPr/>
          </a:p>
          <a:p>
            <a:pPr indent="-342900" lvl="0" marL="457200" rtl="0" algn="l">
              <a:spcBef>
                <a:spcPts val="1000"/>
              </a:spcBef>
              <a:spcAft>
                <a:spcPts val="0"/>
              </a:spcAft>
              <a:buSzPts val="1800"/>
              <a:buChar char="●"/>
            </a:pPr>
            <a:r>
              <a:rPr lang="en"/>
              <a:t>Example: "You are a historian's assistant, cataloging artifact photographs according to pottery styles…"</a:t>
            </a:r>
            <a:endParaRPr/>
          </a:p>
          <a:p>
            <a:pPr indent="0" lvl="0" marL="0" rtl="0" algn="l">
              <a:spcBef>
                <a:spcPts val="1000"/>
              </a:spcBef>
              <a:spcAft>
                <a:spcPts val="0"/>
              </a:spcAft>
              <a:buNone/>
            </a:pPr>
            <a:r>
              <a:t/>
            </a:r>
            <a:endParaRPr/>
          </a:p>
          <a:p>
            <a:pPr indent="0" lvl="0" marL="0" rtl="0" algn="l">
              <a:spcBef>
                <a:spcPts val="1000"/>
              </a:spcBef>
              <a:spcAft>
                <a:spcPts val="0"/>
              </a:spcAft>
              <a:buNone/>
            </a:pPr>
            <a:r>
              <a:rPr lang="en"/>
              <a:t>In a chatbot, it's set by the AI company (</a:t>
            </a:r>
            <a:r>
              <a:rPr lang="en" u="sng">
                <a:solidFill>
                  <a:schemeClr val="hlink"/>
                </a:solidFill>
                <a:hlinkClick r:id="rId3"/>
              </a:rPr>
              <a:t>examples</a:t>
            </a:r>
            <a:r>
              <a:rPr lang="en"/>
              <a:t>).</a:t>
            </a:r>
            <a:endParaRPr/>
          </a:p>
          <a:p>
            <a:pPr indent="0" lvl="0" marL="0" rtl="0" algn="l">
              <a:spcBef>
                <a:spcPts val="1000"/>
              </a:spcBef>
              <a:spcAft>
                <a:spcPts val="1000"/>
              </a:spcAft>
              <a:buNone/>
            </a:pPr>
            <a:r>
              <a:rPr lang="en"/>
              <a:t>In an AI-enabled workflow, it's something we can choose.</a:t>
            </a:r>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4" name="Shape 764"/>
        <p:cNvGrpSpPr/>
        <p:nvPr/>
      </p:nvGrpSpPr>
      <p:grpSpPr>
        <a:xfrm>
          <a:off x="0" y="0"/>
          <a:ext cx="0" cy="0"/>
          <a:chOff x="0" y="0"/>
          <a:chExt cx="0" cy="0"/>
        </a:xfrm>
      </p:grpSpPr>
      <p:sp>
        <p:nvSpPr>
          <p:cNvPr id="765" name="Google Shape;765;p10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Environment context</a:t>
            </a:r>
            <a:endParaRPr/>
          </a:p>
        </p:txBody>
      </p:sp>
      <p:sp>
        <p:nvSpPr>
          <p:cNvPr id="766" name="Google Shape;766;p10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We can add documents to ask questions about, such as the million-token story.</a:t>
            </a:r>
            <a:endParaRPr/>
          </a:p>
          <a:p>
            <a:pPr indent="0" lvl="0" marL="0" rtl="0" algn="l">
              <a:spcBef>
                <a:spcPts val="1000"/>
              </a:spcBef>
              <a:spcAft>
                <a:spcPts val="0"/>
              </a:spcAft>
              <a:buNone/>
            </a:pPr>
            <a:r>
              <a:t/>
            </a:r>
            <a:endParaRPr/>
          </a:p>
          <a:p>
            <a:pPr indent="0" lvl="0" marL="0" rtl="0" algn="l">
              <a:spcBef>
                <a:spcPts val="1000"/>
              </a:spcBef>
              <a:spcAft>
                <a:spcPts val="0"/>
              </a:spcAft>
              <a:buNone/>
            </a:pPr>
            <a:r>
              <a:rPr lang="en"/>
              <a:t>There are two basic ways to do this:</a:t>
            </a:r>
            <a:endParaRPr/>
          </a:p>
          <a:p>
            <a:pPr indent="-342900" lvl="0" marL="457200" rtl="0" algn="l">
              <a:spcBef>
                <a:spcPts val="1000"/>
              </a:spcBef>
              <a:spcAft>
                <a:spcPts val="0"/>
              </a:spcAft>
              <a:buSzPts val="1800"/>
              <a:buChar char="●"/>
            </a:pPr>
            <a:r>
              <a:rPr lang="en"/>
              <a:t>Directly in a user message (limited by size of context window)</a:t>
            </a:r>
            <a:endParaRPr/>
          </a:p>
          <a:p>
            <a:pPr indent="-342900" lvl="0" marL="457200" rtl="0" algn="l">
              <a:spcBef>
                <a:spcPts val="1000"/>
              </a:spcBef>
              <a:spcAft>
                <a:spcPts val="1000"/>
              </a:spcAft>
              <a:buSzPts val="1800"/>
              <a:buChar char="●"/>
            </a:pPr>
            <a:r>
              <a:rPr lang="en"/>
              <a:t>Give the chatbot/agent a tool to query the documents as needed</a:t>
            </a:r>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10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Context failure modes to watch for:</a:t>
            </a:r>
            <a:endParaRPr/>
          </a:p>
        </p:txBody>
      </p:sp>
      <p:sp>
        <p:nvSpPr>
          <p:cNvPr id="772" name="Google Shape;772;p10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t/>
            </a:r>
            <a:endParaRPr/>
          </a:p>
          <a:p>
            <a:pPr indent="-342900" lvl="0" marL="457200" rtl="0" algn="l">
              <a:spcBef>
                <a:spcPts val="1000"/>
              </a:spcBef>
              <a:spcAft>
                <a:spcPts val="0"/>
              </a:spcAft>
              <a:buSzPts val="1800"/>
              <a:buChar char="●"/>
            </a:pPr>
            <a:r>
              <a:rPr lang="en"/>
              <a:t>Forgetting earlier constraints</a:t>
            </a:r>
            <a:endParaRPr/>
          </a:p>
          <a:p>
            <a:pPr indent="-342900" lvl="0" marL="457200" rtl="0" algn="l">
              <a:spcBef>
                <a:spcPts val="2000"/>
              </a:spcBef>
              <a:spcAft>
                <a:spcPts val="0"/>
              </a:spcAft>
              <a:buSzPts val="1800"/>
              <a:buChar char="●"/>
            </a:pPr>
            <a:r>
              <a:rPr lang="en"/>
              <a:t>Losing details due to truncation or compacting (summarizing to fit in context)</a:t>
            </a:r>
            <a:endParaRPr/>
          </a:p>
          <a:p>
            <a:pPr indent="-342900" lvl="0" marL="457200" rtl="0" algn="l">
              <a:spcBef>
                <a:spcPts val="2000"/>
              </a:spcBef>
              <a:spcAft>
                <a:spcPts val="2000"/>
              </a:spcAft>
              <a:buSzPts val="1800"/>
              <a:buChar char="●"/>
            </a:pPr>
            <a:r>
              <a:rPr lang="en"/>
              <a:t>Quoting the wrong source when too many documents are included</a:t>
            </a:r>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6" name="Shape 776"/>
        <p:cNvGrpSpPr/>
        <p:nvPr/>
      </p:nvGrpSpPr>
      <p:grpSpPr>
        <a:xfrm>
          <a:off x="0" y="0"/>
          <a:ext cx="0" cy="0"/>
          <a:chOff x="0" y="0"/>
          <a:chExt cx="0" cy="0"/>
        </a:xfrm>
      </p:grpSpPr>
      <p:sp>
        <p:nvSpPr>
          <p:cNvPr id="777" name="Google Shape;777;p110"/>
          <p:cNvSpPr txBox="1"/>
          <p:nvPr>
            <p:ph type="title"/>
          </p:nvPr>
        </p:nvSpPr>
        <p:spPr>
          <a:xfrm>
            <a:off x="311700" y="1728125"/>
            <a:ext cx="8520600" cy="1687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3600"/>
              <a:buNone/>
            </a:pPr>
            <a:r>
              <a:rPr lang="en" sz="4000"/>
              <a:t>Pricing</a:t>
            </a:r>
            <a:endParaRPr sz="4000"/>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1" name="Shape 781"/>
        <p:cNvGrpSpPr/>
        <p:nvPr/>
      </p:nvGrpSpPr>
      <p:grpSpPr>
        <a:xfrm>
          <a:off x="0" y="0"/>
          <a:ext cx="0" cy="0"/>
          <a:chOff x="0" y="0"/>
          <a:chExt cx="0" cy="0"/>
        </a:xfrm>
      </p:grpSpPr>
      <p:sp>
        <p:nvSpPr>
          <p:cNvPr id="782" name="Google Shape;782;p11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Counting tokens</a:t>
            </a:r>
            <a:endParaRPr/>
          </a:p>
        </p:txBody>
      </p:sp>
      <p:sp>
        <p:nvSpPr>
          <p:cNvPr id="783" name="Google Shape;783;p11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Most LLM APIs charge by tokens</a:t>
            </a:r>
            <a:endParaRPr/>
          </a:p>
          <a:p>
            <a:pPr indent="-317500" lvl="1" marL="914400" rtl="0" algn="l">
              <a:spcBef>
                <a:spcPts val="1000"/>
              </a:spcBef>
              <a:spcAft>
                <a:spcPts val="0"/>
              </a:spcAft>
              <a:buSzPts val="1400"/>
              <a:buChar char="○"/>
            </a:pPr>
            <a:r>
              <a:rPr b="1" lang="en"/>
              <a:t>Input tokens:</a:t>
            </a:r>
            <a:r>
              <a:rPr lang="en"/>
              <a:t> system prompt, user prompts, documents, tool outputs</a:t>
            </a:r>
            <a:endParaRPr/>
          </a:p>
          <a:p>
            <a:pPr indent="-317500" lvl="1" marL="914400" rtl="0" algn="l">
              <a:spcBef>
                <a:spcPts val="500"/>
              </a:spcBef>
              <a:spcAft>
                <a:spcPts val="0"/>
              </a:spcAft>
              <a:buSzPts val="1400"/>
              <a:buChar char="○"/>
            </a:pPr>
            <a:r>
              <a:rPr b="1" lang="en"/>
              <a:t>Output tokens:</a:t>
            </a:r>
            <a:r>
              <a:rPr lang="en"/>
              <a:t> the model's response (which has to be generated one token at a time)</a:t>
            </a:r>
            <a:endParaRPr/>
          </a:p>
          <a:p>
            <a:pPr indent="-317500" lvl="1" marL="914400" rtl="0" algn="l">
              <a:spcBef>
                <a:spcPts val="500"/>
              </a:spcBef>
              <a:spcAft>
                <a:spcPts val="0"/>
              </a:spcAft>
              <a:buSzPts val="1400"/>
              <a:buChar char="○"/>
            </a:pPr>
            <a:r>
              <a:rPr b="1" lang="en"/>
              <a:t>Cached input:</a:t>
            </a:r>
            <a:r>
              <a:rPr lang="en"/>
              <a:t> if the beginning of your text exactly matches the beginning of recently sent text, then the datacenter can reuse some quantities that are used to compute attention</a:t>
            </a:r>
            <a:br>
              <a:rPr lang="en"/>
            </a:br>
            <a:endParaRPr/>
          </a:p>
          <a:p>
            <a:pPr indent="0" lvl="0" marL="457200" rtl="0" algn="l">
              <a:spcBef>
                <a:spcPts val="500"/>
              </a:spcBef>
              <a:spcAft>
                <a:spcPts val="500"/>
              </a:spcAft>
              <a:buNone/>
            </a:pPr>
            <a:r>
              <a:t/>
            </a:r>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7" name="Shape 787"/>
        <p:cNvGrpSpPr/>
        <p:nvPr/>
      </p:nvGrpSpPr>
      <p:grpSpPr>
        <a:xfrm>
          <a:off x="0" y="0"/>
          <a:ext cx="0" cy="0"/>
          <a:chOff x="0" y="0"/>
          <a:chExt cx="0" cy="0"/>
        </a:xfrm>
      </p:grpSpPr>
      <p:sp>
        <p:nvSpPr>
          <p:cNvPr id="788" name="Google Shape;788;p11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Counting tokens</a:t>
            </a:r>
            <a:endParaRPr/>
          </a:p>
        </p:txBody>
      </p:sp>
      <p:sp>
        <p:nvSpPr>
          <p:cNvPr id="789" name="Google Shape;789;p11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Most LLM APIs charge by tokens</a:t>
            </a:r>
            <a:endParaRPr/>
          </a:p>
          <a:p>
            <a:pPr indent="-317500" lvl="1" marL="914400" rtl="0" algn="l">
              <a:spcBef>
                <a:spcPts val="1000"/>
              </a:spcBef>
              <a:spcAft>
                <a:spcPts val="0"/>
              </a:spcAft>
              <a:buSzPts val="1400"/>
              <a:buChar char="○"/>
            </a:pPr>
            <a:r>
              <a:rPr b="1" lang="en"/>
              <a:t>Input tokens:</a:t>
            </a:r>
            <a:r>
              <a:rPr lang="en"/>
              <a:t> system prompt, user prompts, documents, tool outputs</a:t>
            </a:r>
            <a:endParaRPr/>
          </a:p>
          <a:p>
            <a:pPr indent="-317500" lvl="1" marL="914400" rtl="0" algn="l">
              <a:spcBef>
                <a:spcPts val="500"/>
              </a:spcBef>
              <a:spcAft>
                <a:spcPts val="0"/>
              </a:spcAft>
              <a:buSzPts val="1400"/>
              <a:buChar char="○"/>
            </a:pPr>
            <a:r>
              <a:rPr b="1" lang="en"/>
              <a:t>Output tokens:</a:t>
            </a:r>
            <a:r>
              <a:rPr lang="en"/>
              <a:t> the model's response (which has to be generated one token at a time)</a:t>
            </a:r>
            <a:endParaRPr/>
          </a:p>
          <a:p>
            <a:pPr indent="-317500" lvl="1" marL="914400" rtl="0" algn="l">
              <a:spcBef>
                <a:spcPts val="500"/>
              </a:spcBef>
              <a:spcAft>
                <a:spcPts val="0"/>
              </a:spcAft>
              <a:buSzPts val="1400"/>
              <a:buChar char="○"/>
            </a:pPr>
            <a:r>
              <a:rPr b="1" lang="en"/>
              <a:t>Cached input:</a:t>
            </a:r>
            <a:r>
              <a:rPr lang="en"/>
              <a:t> if the beginning of your text exactly matches the beginning of recently sent text, then the datacenter can reuse some quantities that are used to compute attention</a:t>
            </a:r>
            <a:br>
              <a:rPr lang="en"/>
            </a:br>
            <a:endParaRPr/>
          </a:p>
          <a:p>
            <a:pPr indent="-342900" lvl="0" marL="457200" rtl="0" algn="l">
              <a:spcBef>
                <a:spcPts val="500"/>
              </a:spcBef>
              <a:spcAft>
                <a:spcPts val="500"/>
              </a:spcAft>
              <a:buSzPts val="1800"/>
              <a:buChar char="●"/>
            </a:pPr>
            <a:r>
              <a:rPr lang="en"/>
              <a:t>From OpenAI:</a:t>
            </a:r>
            <a:endParaRPr/>
          </a:p>
        </p:txBody>
      </p:sp>
      <p:pic>
        <p:nvPicPr>
          <p:cNvPr id="790" name="Google Shape;790;p112"/>
          <p:cNvPicPr preferRelativeResize="0"/>
          <p:nvPr/>
        </p:nvPicPr>
        <p:blipFill rotWithShape="1">
          <a:blip r:embed="rId3">
            <a:alphaModFix/>
          </a:blip>
          <a:srcRect b="0" l="0" r="0" t="19659"/>
          <a:stretch/>
        </p:blipFill>
        <p:spPr>
          <a:xfrm>
            <a:off x="2380300" y="3064400"/>
            <a:ext cx="6452002" cy="1984276"/>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4" name="Shape 794"/>
        <p:cNvGrpSpPr/>
        <p:nvPr/>
      </p:nvGrpSpPr>
      <p:grpSpPr>
        <a:xfrm>
          <a:off x="0" y="0"/>
          <a:ext cx="0" cy="0"/>
          <a:chOff x="0" y="0"/>
          <a:chExt cx="0" cy="0"/>
        </a:xfrm>
      </p:grpSpPr>
      <p:sp>
        <p:nvSpPr>
          <p:cNvPr id="795" name="Google Shape;795;p11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Ways to reduce cost</a:t>
            </a:r>
            <a:endParaRPr/>
          </a:p>
        </p:txBody>
      </p:sp>
      <p:sp>
        <p:nvSpPr>
          <p:cNvPr id="796" name="Google Shape;796;p11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t/>
            </a:r>
            <a:endParaRPr b="1"/>
          </a:p>
          <a:p>
            <a:pPr indent="-342900" lvl="0" marL="457200" rtl="0" algn="l">
              <a:spcBef>
                <a:spcPts val="1000"/>
              </a:spcBef>
              <a:spcAft>
                <a:spcPts val="0"/>
              </a:spcAft>
              <a:buSzPts val="1800"/>
              <a:buChar char="●"/>
            </a:pPr>
            <a:r>
              <a:rPr b="1" lang="en"/>
              <a:t>Use a smaller model,</a:t>
            </a:r>
            <a:r>
              <a:rPr lang="en"/>
              <a:t> at the expense of quality</a:t>
            </a:r>
            <a:endParaRPr/>
          </a:p>
          <a:p>
            <a:pPr indent="-342900" lvl="0" marL="457200" rtl="0" algn="l">
              <a:spcBef>
                <a:spcPts val="2000"/>
              </a:spcBef>
              <a:spcAft>
                <a:spcPts val="0"/>
              </a:spcAft>
              <a:buSzPts val="1800"/>
              <a:buChar char="●"/>
            </a:pPr>
            <a:r>
              <a:rPr b="1" lang="en"/>
              <a:t>Provide less input,</a:t>
            </a:r>
            <a:r>
              <a:rPr lang="en"/>
              <a:t> at the risk of missing context</a:t>
            </a:r>
            <a:endParaRPr/>
          </a:p>
          <a:p>
            <a:pPr indent="-342900" lvl="0" marL="457200" rtl="0" algn="l">
              <a:spcBef>
                <a:spcPts val="2000"/>
              </a:spcBef>
              <a:spcAft>
                <a:spcPts val="0"/>
              </a:spcAft>
              <a:buSzPts val="1800"/>
              <a:buChar char="●"/>
            </a:pPr>
            <a:r>
              <a:rPr b="1" lang="en"/>
              <a:t>Constrain output length,</a:t>
            </a:r>
            <a:r>
              <a:rPr lang="en"/>
              <a:t> at the risk of losing the answer</a:t>
            </a:r>
            <a:endParaRPr/>
          </a:p>
          <a:p>
            <a:pPr indent="-342900" lvl="0" marL="457200" rtl="0" algn="l">
              <a:spcBef>
                <a:spcPts val="2000"/>
              </a:spcBef>
              <a:spcAft>
                <a:spcPts val="2000"/>
              </a:spcAft>
              <a:buSzPts val="1800"/>
              <a:buChar char="●"/>
            </a:pPr>
            <a:r>
              <a:rPr b="1" lang="en"/>
              <a:t>Repeat the initial part of the message for cache,</a:t>
            </a:r>
            <a:r>
              <a:rPr lang="en"/>
              <a:t> where possible</a:t>
            </a:r>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0" name="Shape 800"/>
        <p:cNvGrpSpPr/>
        <p:nvPr/>
      </p:nvGrpSpPr>
      <p:grpSpPr>
        <a:xfrm>
          <a:off x="0" y="0"/>
          <a:ext cx="0" cy="0"/>
          <a:chOff x="0" y="0"/>
          <a:chExt cx="0" cy="0"/>
        </a:xfrm>
      </p:grpSpPr>
      <p:sp>
        <p:nvSpPr>
          <p:cNvPr id="801" name="Google Shape;801;p114"/>
          <p:cNvSpPr txBox="1"/>
          <p:nvPr>
            <p:ph type="title"/>
          </p:nvPr>
        </p:nvSpPr>
        <p:spPr>
          <a:xfrm>
            <a:off x="311700" y="1728125"/>
            <a:ext cx="8520600" cy="16873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3600"/>
              <a:buNone/>
            </a:pPr>
            <a:r>
              <a:rPr lang="en" sz="4000"/>
              <a:t>AI development in practice</a:t>
            </a:r>
            <a:endParaRPr sz="4000"/>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5" name="Shape 805"/>
        <p:cNvGrpSpPr/>
        <p:nvPr/>
      </p:nvGrpSpPr>
      <p:grpSpPr>
        <a:xfrm>
          <a:off x="0" y="0"/>
          <a:ext cx="0" cy="0"/>
          <a:chOff x="0" y="0"/>
          <a:chExt cx="0" cy="0"/>
        </a:xfrm>
      </p:grpSpPr>
      <p:sp>
        <p:nvSpPr>
          <p:cNvPr id="806" name="Google Shape;806;p115"/>
          <p:cNvSpPr txBox="1"/>
          <p:nvPr/>
        </p:nvSpPr>
        <p:spPr>
          <a:xfrm>
            <a:off x="366925" y="508575"/>
            <a:ext cx="8151300" cy="1416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2000">
                <a:solidFill>
                  <a:schemeClr val="dk2"/>
                </a:solidFill>
              </a:rPr>
              <a:t>Sometimes, we want to do something.</a:t>
            </a:r>
            <a:endParaRPr sz="2000">
              <a:solidFill>
                <a:schemeClr val="dk2"/>
              </a:solidFill>
            </a:endParaRPr>
          </a:p>
          <a:p>
            <a:pPr indent="0" lvl="0" marL="0" rtl="0" algn="l">
              <a:spcBef>
                <a:spcPts val="0"/>
              </a:spcBef>
              <a:spcAft>
                <a:spcPts val="0"/>
              </a:spcAft>
              <a:buNone/>
            </a:pPr>
            <a:r>
              <a:t/>
            </a:r>
            <a:endParaRPr sz="2000">
              <a:solidFill>
                <a:schemeClr val="dk2"/>
              </a:solidFill>
            </a:endParaRPr>
          </a:p>
          <a:p>
            <a:pPr indent="0" lvl="0" marL="0" rtl="0" algn="l">
              <a:spcBef>
                <a:spcPts val="0"/>
              </a:spcBef>
              <a:spcAft>
                <a:spcPts val="0"/>
              </a:spcAft>
              <a:buNone/>
            </a:pPr>
            <a:r>
              <a:rPr lang="en" sz="2000">
                <a:solidFill>
                  <a:schemeClr val="dk2"/>
                </a:solidFill>
              </a:rPr>
              <a:t>Like, for example — decide based on a job applicant’s resume whether they should be selected for a phone screen.</a:t>
            </a:r>
            <a:endParaRPr sz="2000">
              <a:solidFill>
                <a:schemeClr val="dk2"/>
              </a:solidFill>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0" name="Shape 810"/>
        <p:cNvGrpSpPr/>
        <p:nvPr/>
      </p:nvGrpSpPr>
      <p:grpSpPr>
        <a:xfrm>
          <a:off x="0" y="0"/>
          <a:ext cx="0" cy="0"/>
          <a:chOff x="0" y="0"/>
          <a:chExt cx="0" cy="0"/>
        </a:xfrm>
      </p:grpSpPr>
      <p:sp>
        <p:nvSpPr>
          <p:cNvPr id="811" name="Google Shape;811;p116"/>
          <p:cNvSpPr/>
          <p:nvPr/>
        </p:nvSpPr>
        <p:spPr>
          <a:xfrm>
            <a:off x="3805700" y="665075"/>
            <a:ext cx="1887000" cy="18186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700"/>
              <a:t>Just read the resume</a:t>
            </a:r>
            <a:endParaRPr sz="1700"/>
          </a:p>
        </p:txBody>
      </p:sp>
      <p:sp>
        <p:nvSpPr>
          <p:cNvPr id="812" name="Google Shape;812;p116"/>
          <p:cNvSpPr txBox="1"/>
          <p:nvPr>
            <p:ph type="title"/>
          </p:nvPr>
        </p:nvSpPr>
        <p:spPr>
          <a:xfrm>
            <a:off x="311700" y="224525"/>
            <a:ext cx="3663600" cy="690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Some options…</a:t>
            </a:r>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sp>
        <p:nvSpPr>
          <p:cNvPr id="817" name="Google Shape;817;p117"/>
          <p:cNvSpPr/>
          <p:nvPr/>
        </p:nvSpPr>
        <p:spPr>
          <a:xfrm>
            <a:off x="3805700" y="665075"/>
            <a:ext cx="1887000" cy="18186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700"/>
              <a:t>Just read the resume</a:t>
            </a:r>
            <a:endParaRPr sz="1700"/>
          </a:p>
        </p:txBody>
      </p:sp>
      <p:sp>
        <p:nvSpPr>
          <p:cNvPr id="818" name="Google Shape;818;p117"/>
          <p:cNvSpPr/>
          <p:nvPr/>
        </p:nvSpPr>
        <p:spPr>
          <a:xfrm>
            <a:off x="6597725" y="665075"/>
            <a:ext cx="1887000" cy="1818600"/>
          </a:xfrm>
          <a:prstGeom prst="ellipse">
            <a:avLst/>
          </a:prstGeom>
          <a:solidFill>
            <a:srgbClr val="CFE2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700">
                <a:solidFill>
                  <a:srgbClr val="073763"/>
                </a:solidFill>
              </a:rPr>
              <a:t>Use software to filter the resume</a:t>
            </a:r>
            <a:endParaRPr sz="1700">
              <a:solidFill>
                <a:srgbClr val="073763"/>
              </a:solidFill>
            </a:endParaRPr>
          </a:p>
        </p:txBody>
      </p:sp>
      <p:sp>
        <p:nvSpPr>
          <p:cNvPr id="819" name="Google Shape;819;p117"/>
          <p:cNvSpPr txBox="1"/>
          <p:nvPr>
            <p:ph type="title"/>
          </p:nvPr>
        </p:nvSpPr>
        <p:spPr>
          <a:xfrm>
            <a:off x="311700" y="224525"/>
            <a:ext cx="3663600" cy="690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Some options…</a:t>
            </a:r>
            <a:endParaRP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3" name="Shape 823"/>
        <p:cNvGrpSpPr/>
        <p:nvPr/>
      </p:nvGrpSpPr>
      <p:grpSpPr>
        <a:xfrm>
          <a:off x="0" y="0"/>
          <a:ext cx="0" cy="0"/>
          <a:chOff x="0" y="0"/>
          <a:chExt cx="0" cy="0"/>
        </a:xfrm>
      </p:grpSpPr>
      <p:sp>
        <p:nvSpPr>
          <p:cNvPr id="824" name="Google Shape;824;p118"/>
          <p:cNvSpPr/>
          <p:nvPr/>
        </p:nvSpPr>
        <p:spPr>
          <a:xfrm>
            <a:off x="3805700" y="665075"/>
            <a:ext cx="1887000" cy="18186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700"/>
              <a:t>Just read the resume</a:t>
            </a:r>
            <a:endParaRPr sz="1700"/>
          </a:p>
        </p:txBody>
      </p:sp>
      <p:sp>
        <p:nvSpPr>
          <p:cNvPr id="825" name="Google Shape;825;p118"/>
          <p:cNvSpPr/>
          <p:nvPr/>
        </p:nvSpPr>
        <p:spPr>
          <a:xfrm>
            <a:off x="6597725" y="665075"/>
            <a:ext cx="1887000" cy="1818600"/>
          </a:xfrm>
          <a:prstGeom prst="ellipse">
            <a:avLst/>
          </a:prstGeom>
          <a:solidFill>
            <a:srgbClr val="CFE2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700">
                <a:solidFill>
                  <a:srgbClr val="073763"/>
                </a:solidFill>
              </a:rPr>
              <a:t>Use software to filter the resume</a:t>
            </a:r>
            <a:endParaRPr sz="1700">
              <a:solidFill>
                <a:srgbClr val="073763"/>
              </a:solidFill>
            </a:endParaRPr>
          </a:p>
        </p:txBody>
      </p:sp>
      <p:sp>
        <p:nvSpPr>
          <p:cNvPr id="826" name="Google Shape;826;p118"/>
          <p:cNvSpPr/>
          <p:nvPr/>
        </p:nvSpPr>
        <p:spPr>
          <a:xfrm>
            <a:off x="5177125" y="2761675"/>
            <a:ext cx="1887000" cy="1818600"/>
          </a:xfrm>
          <a:prstGeom prst="ellipse">
            <a:avLst/>
          </a:prstGeom>
          <a:solidFill>
            <a:srgbClr val="B4A7D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700">
                <a:solidFill>
                  <a:srgbClr val="20124D"/>
                </a:solidFill>
              </a:rPr>
              <a:t>Have an AI chatbot “read the resume”</a:t>
            </a:r>
            <a:endParaRPr sz="1700">
              <a:solidFill>
                <a:srgbClr val="20124D"/>
              </a:solidFill>
            </a:endParaRPr>
          </a:p>
        </p:txBody>
      </p:sp>
      <p:sp>
        <p:nvSpPr>
          <p:cNvPr id="827" name="Google Shape;827;p118"/>
          <p:cNvSpPr txBox="1"/>
          <p:nvPr>
            <p:ph type="title"/>
          </p:nvPr>
        </p:nvSpPr>
        <p:spPr>
          <a:xfrm>
            <a:off x="311700" y="224525"/>
            <a:ext cx="3663600" cy="690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Some options…</a:t>
            </a:r>
            <a:endParaRP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sp>
        <p:nvSpPr>
          <p:cNvPr id="832" name="Google Shape;832;p119"/>
          <p:cNvSpPr/>
          <p:nvPr/>
        </p:nvSpPr>
        <p:spPr>
          <a:xfrm>
            <a:off x="3805700" y="665075"/>
            <a:ext cx="1887000" cy="18186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700"/>
              <a:t>Human review</a:t>
            </a:r>
            <a:endParaRPr sz="1700"/>
          </a:p>
        </p:txBody>
      </p:sp>
      <p:sp>
        <p:nvSpPr>
          <p:cNvPr id="833" name="Google Shape;833;p119"/>
          <p:cNvSpPr/>
          <p:nvPr/>
        </p:nvSpPr>
        <p:spPr>
          <a:xfrm>
            <a:off x="6597725" y="665075"/>
            <a:ext cx="1887000" cy="1818600"/>
          </a:xfrm>
          <a:prstGeom prst="ellipse">
            <a:avLst/>
          </a:prstGeom>
          <a:solidFill>
            <a:srgbClr val="CFE2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700">
                <a:solidFill>
                  <a:srgbClr val="073763"/>
                </a:solidFill>
              </a:rPr>
              <a:t>Software</a:t>
            </a:r>
            <a:endParaRPr sz="1700">
              <a:solidFill>
                <a:srgbClr val="073763"/>
              </a:solidFill>
            </a:endParaRPr>
          </a:p>
        </p:txBody>
      </p:sp>
      <p:sp>
        <p:nvSpPr>
          <p:cNvPr id="834" name="Google Shape;834;p119"/>
          <p:cNvSpPr/>
          <p:nvPr/>
        </p:nvSpPr>
        <p:spPr>
          <a:xfrm>
            <a:off x="5177125" y="2761675"/>
            <a:ext cx="1887000" cy="1818600"/>
          </a:xfrm>
          <a:prstGeom prst="ellipse">
            <a:avLst/>
          </a:prstGeom>
          <a:solidFill>
            <a:srgbClr val="B4A7D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700">
                <a:solidFill>
                  <a:srgbClr val="20124D"/>
                </a:solidFill>
              </a:rPr>
              <a:t>AI</a:t>
            </a:r>
            <a:endParaRPr sz="1700">
              <a:solidFill>
                <a:srgbClr val="20124D"/>
              </a:solidFill>
            </a:endParaRPr>
          </a:p>
        </p:txBody>
      </p:sp>
      <p:sp>
        <p:nvSpPr>
          <p:cNvPr id="835" name="Google Shape;835;p119"/>
          <p:cNvSpPr txBox="1"/>
          <p:nvPr>
            <p:ph type="title"/>
          </p:nvPr>
        </p:nvSpPr>
        <p:spPr>
          <a:xfrm>
            <a:off x="311700" y="224525"/>
            <a:ext cx="3663600" cy="690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Some options…</a:t>
            </a:r>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9" name="Shape 839"/>
        <p:cNvGrpSpPr/>
        <p:nvPr/>
      </p:nvGrpSpPr>
      <p:grpSpPr>
        <a:xfrm>
          <a:off x="0" y="0"/>
          <a:ext cx="0" cy="0"/>
          <a:chOff x="0" y="0"/>
          <a:chExt cx="0" cy="0"/>
        </a:xfrm>
      </p:grpSpPr>
      <p:sp>
        <p:nvSpPr>
          <p:cNvPr id="840" name="Google Shape;840;p120"/>
          <p:cNvSpPr/>
          <p:nvPr/>
        </p:nvSpPr>
        <p:spPr>
          <a:xfrm>
            <a:off x="3805700" y="665075"/>
            <a:ext cx="1887000" cy="1818600"/>
          </a:xfrm>
          <a:prstGeom prst="ellipse">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700"/>
              <a:t>Human review</a:t>
            </a:r>
            <a:endParaRPr sz="1700"/>
          </a:p>
        </p:txBody>
      </p:sp>
      <p:sp>
        <p:nvSpPr>
          <p:cNvPr id="841" name="Google Shape;841;p120"/>
          <p:cNvSpPr/>
          <p:nvPr/>
        </p:nvSpPr>
        <p:spPr>
          <a:xfrm>
            <a:off x="6597725" y="665075"/>
            <a:ext cx="1887000" cy="1818600"/>
          </a:xfrm>
          <a:prstGeom prst="ellipse">
            <a:avLst/>
          </a:prstGeom>
          <a:solidFill>
            <a:srgbClr val="CFE2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700">
                <a:solidFill>
                  <a:srgbClr val="073763"/>
                </a:solidFill>
              </a:rPr>
              <a:t>Software</a:t>
            </a:r>
            <a:endParaRPr sz="1700">
              <a:solidFill>
                <a:srgbClr val="073763"/>
              </a:solidFill>
            </a:endParaRPr>
          </a:p>
        </p:txBody>
      </p:sp>
      <p:sp>
        <p:nvSpPr>
          <p:cNvPr id="842" name="Google Shape;842;p120"/>
          <p:cNvSpPr/>
          <p:nvPr/>
        </p:nvSpPr>
        <p:spPr>
          <a:xfrm>
            <a:off x="5177125" y="2761675"/>
            <a:ext cx="1887000" cy="1818600"/>
          </a:xfrm>
          <a:prstGeom prst="ellipse">
            <a:avLst/>
          </a:prstGeom>
          <a:solidFill>
            <a:srgbClr val="B4A7D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700">
                <a:solidFill>
                  <a:srgbClr val="20124D"/>
                </a:solidFill>
              </a:rPr>
              <a:t>AI</a:t>
            </a:r>
            <a:endParaRPr sz="1700">
              <a:solidFill>
                <a:srgbClr val="20124D"/>
              </a:solidFill>
            </a:endParaRPr>
          </a:p>
        </p:txBody>
      </p:sp>
      <p:sp>
        <p:nvSpPr>
          <p:cNvPr id="843" name="Google Shape;843;p120"/>
          <p:cNvSpPr txBox="1"/>
          <p:nvPr>
            <p:ph type="title"/>
          </p:nvPr>
        </p:nvSpPr>
        <p:spPr>
          <a:xfrm>
            <a:off x="311700" y="224525"/>
            <a:ext cx="3352800" cy="2537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Some options…</a:t>
            </a:r>
            <a:endParaRPr/>
          </a:p>
        </p:txBody>
      </p:sp>
      <p:cxnSp>
        <p:nvCxnSpPr>
          <p:cNvPr id="844" name="Google Shape;844;p120"/>
          <p:cNvCxnSpPr/>
          <p:nvPr/>
        </p:nvCxnSpPr>
        <p:spPr>
          <a:xfrm flipH="1" rot="10800000">
            <a:off x="6685830" y="2361578"/>
            <a:ext cx="378300" cy="599400"/>
          </a:xfrm>
          <a:prstGeom prst="straightConnector1">
            <a:avLst/>
          </a:prstGeom>
          <a:noFill/>
          <a:ln cap="flat" cmpd="sng" w="38100">
            <a:solidFill>
              <a:schemeClr val="dk2"/>
            </a:solidFill>
            <a:prstDash val="solid"/>
            <a:round/>
            <a:headEnd len="med" w="med" type="none"/>
            <a:tailEnd len="med" w="med" type="none"/>
          </a:ln>
        </p:spPr>
      </p:cxnSp>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8" name="Shape 848"/>
        <p:cNvGrpSpPr/>
        <p:nvPr/>
      </p:nvGrpSpPr>
      <p:grpSpPr>
        <a:xfrm>
          <a:off x="0" y="0"/>
          <a:ext cx="0" cy="0"/>
          <a:chOff x="0" y="0"/>
          <a:chExt cx="0" cy="0"/>
        </a:xfrm>
      </p:grpSpPr>
      <p:sp>
        <p:nvSpPr>
          <p:cNvPr id="849" name="Google Shape;849;p121"/>
          <p:cNvSpPr/>
          <p:nvPr/>
        </p:nvSpPr>
        <p:spPr>
          <a:xfrm>
            <a:off x="2172963" y="876625"/>
            <a:ext cx="1853100" cy="1785900"/>
          </a:xfrm>
          <a:prstGeom prst="ellipse">
            <a:avLst/>
          </a:prstGeom>
          <a:solidFill>
            <a:srgbClr val="CFE2F3"/>
          </a:solidFill>
          <a:ln>
            <a:noFill/>
          </a:ln>
        </p:spPr>
        <p:txBody>
          <a:bodyPr anchorCtr="0" anchor="ctr" bIns="89775" lIns="89775" spcFirstLastPara="1" rIns="89775" wrap="square" tIns="89775">
            <a:noAutofit/>
          </a:bodyPr>
          <a:lstStyle/>
          <a:p>
            <a:pPr indent="0" lvl="0" marL="0" rtl="0" algn="ctr">
              <a:spcBef>
                <a:spcPts val="0"/>
              </a:spcBef>
              <a:spcAft>
                <a:spcPts val="0"/>
              </a:spcAft>
              <a:buNone/>
            </a:pPr>
            <a:r>
              <a:rPr lang="en" sz="1669">
                <a:solidFill>
                  <a:srgbClr val="073763"/>
                </a:solidFill>
              </a:rPr>
              <a:t>Software</a:t>
            </a:r>
            <a:endParaRPr sz="1669">
              <a:solidFill>
                <a:srgbClr val="073763"/>
              </a:solidFill>
            </a:endParaRPr>
          </a:p>
        </p:txBody>
      </p:sp>
      <p:sp>
        <p:nvSpPr>
          <p:cNvPr id="850" name="Google Shape;850;p121"/>
          <p:cNvSpPr/>
          <p:nvPr/>
        </p:nvSpPr>
        <p:spPr>
          <a:xfrm>
            <a:off x="467575" y="2708613"/>
            <a:ext cx="1853100" cy="1785900"/>
          </a:xfrm>
          <a:prstGeom prst="ellipse">
            <a:avLst/>
          </a:prstGeom>
          <a:solidFill>
            <a:srgbClr val="B4A7D6"/>
          </a:solidFill>
          <a:ln>
            <a:noFill/>
          </a:ln>
        </p:spPr>
        <p:txBody>
          <a:bodyPr anchorCtr="0" anchor="ctr" bIns="89775" lIns="89775" spcFirstLastPara="1" rIns="89775" wrap="square" tIns="89775">
            <a:noAutofit/>
          </a:bodyPr>
          <a:lstStyle/>
          <a:p>
            <a:pPr indent="0" lvl="0" marL="0" rtl="0" algn="ctr">
              <a:spcBef>
                <a:spcPts val="0"/>
              </a:spcBef>
              <a:spcAft>
                <a:spcPts val="0"/>
              </a:spcAft>
              <a:buNone/>
            </a:pPr>
            <a:r>
              <a:rPr lang="en" sz="1669">
                <a:solidFill>
                  <a:srgbClr val="20124D"/>
                </a:solidFill>
              </a:rPr>
              <a:t>Coding agent</a:t>
            </a:r>
            <a:endParaRPr sz="1669">
              <a:solidFill>
                <a:srgbClr val="20124D"/>
              </a:solidFill>
            </a:endParaRPr>
          </a:p>
        </p:txBody>
      </p:sp>
      <p:sp>
        <p:nvSpPr>
          <p:cNvPr id="851" name="Google Shape;851;p121"/>
          <p:cNvSpPr txBox="1"/>
          <p:nvPr>
            <p:ph type="title"/>
          </p:nvPr>
        </p:nvSpPr>
        <p:spPr>
          <a:xfrm>
            <a:off x="311700" y="267100"/>
            <a:ext cx="3701400" cy="690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Using AI for development…</a:t>
            </a:r>
            <a:endParaRPr sz="2220"/>
          </a:p>
        </p:txBody>
      </p:sp>
      <p:cxnSp>
        <p:nvCxnSpPr>
          <p:cNvPr id="852" name="Google Shape;852;p121"/>
          <p:cNvCxnSpPr>
            <a:stCxn id="850" idx="0"/>
            <a:endCxn id="849" idx="2"/>
          </p:cNvCxnSpPr>
          <p:nvPr/>
        </p:nvCxnSpPr>
        <p:spPr>
          <a:xfrm rot="-5400000">
            <a:off x="1314025" y="1849713"/>
            <a:ext cx="939000" cy="778800"/>
          </a:xfrm>
          <a:prstGeom prst="curvedConnector2">
            <a:avLst/>
          </a:prstGeom>
          <a:noFill/>
          <a:ln cap="flat" cmpd="sng" w="28575">
            <a:solidFill>
              <a:srgbClr val="674EA7"/>
            </a:solidFill>
            <a:prstDash val="solid"/>
            <a:round/>
            <a:headEnd len="med" w="med" type="none"/>
            <a:tailEnd len="med" w="med" type="triangle"/>
          </a:ln>
        </p:spPr>
      </p:cxn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6" name="Shape 856"/>
        <p:cNvGrpSpPr/>
        <p:nvPr/>
      </p:nvGrpSpPr>
      <p:grpSpPr>
        <a:xfrm>
          <a:off x="0" y="0"/>
          <a:ext cx="0" cy="0"/>
          <a:chOff x="0" y="0"/>
          <a:chExt cx="0" cy="0"/>
        </a:xfrm>
      </p:grpSpPr>
      <p:sp>
        <p:nvSpPr>
          <p:cNvPr id="857" name="Google Shape;857;p122"/>
          <p:cNvSpPr/>
          <p:nvPr/>
        </p:nvSpPr>
        <p:spPr>
          <a:xfrm>
            <a:off x="2172963" y="876625"/>
            <a:ext cx="1853100" cy="1785900"/>
          </a:xfrm>
          <a:prstGeom prst="ellipse">
            <a:avLst/>
          </a:prstGeom>
          <a:solidFill>
            <a:srgbClr val="CFE2F3"/>
          </a:solidFill>
          <a:ln>
            <a:noFill/>
          </a:ln>
        </p:spPr>
        <p:txBody>
          <a:bodyPr anchorCtr="0" anchor="ctr" bIns="89775" lIns="89775" spcFirstLastPara="1" rIns="89775" wrap="square" tIns="89775">
            <a:noAutofit/>
          </a:bodyPr>
          <a:lstStyle/>
          <a:p>
            <a:pPr indent="0" lvl="0" marL="0" rtl="0" algn="ctr">
              <a:spcBef>
                <a:spcPts val="0"/>
              </a:spcBef>
              <a:spcAft>
                <a:spcPts val="0"/>
              </a:spcAft>
              <a:buNone/>
            </a:pPr>
            <a:r>
              <a:rPr lang="en" sz="1669">
                <a:solidFill>
                  <a:srgbClr val="073763"/>
                </a:solidFill>
              </a:rPr>
              <a:t>Software</a:t>
            </a:r>
            <a:endParaRPr sz="1669">
              <a:solidFill>
                <a:srgbClr val="073763"/>
              </a:solidFill>
            </a:endParaRPr>
          </a:p>
        </p:txBody>
      </p:sp>
      <p:sp>
        <p:nvSpPr>
          <p:cNvPr id="858" name="Google Shape;858;p122"/>
          <p:cNvSpPr/>
          <p:nvPr/>
        </p:nvSpPr>
        <p:spPr>
          <a:xfrm>
            <a:off x="467575" y="2708613"/>
            <a:ext cx="1853100" cy="1785900"/>
          </a:xfrm>
          <a:prstGeom prst="ellipse">
            <a:avLst/>
          </a:prstGeom>
          <a:solidFill>
            <a:srgbClr val="B4A7D6"/>
          </a:solidFill>
          <a:ln>
            <a:noFill/>
          </a:ln>
        </p:spPr>
        <p:txBody>
          <a:bodyPr anchorCtr="0" anchor="ctr" bIns="89775" lIns="89775" spcFirstLastPara="1" rIns="89775" wrap="square" tIns="89775">
            <a:noAutofit/>
          </a:bodyPr>
          <a:lstStyle/>
          <a:p>
            <a:pPr indent="0" lvl="0" marL="0" rtl="0" algn="ctr">
              <a:spcBef>
                <a:spcPts val="0"/>
              </a:spcBef>
              <a:spcAft>
                <a:spcPts val="0"/>
              </a:spcAft>
              <a:buNone/>
            </a:pPr>
            <a:r>
              <a:rPr lang="en" sz="1669">
                <a:solidFill>
                  <a:srgbClr val="20124D"/>
                </a:solidFill>
              </a:rPr>
              <a:t>Coding agent</a:t>
            </a:r>
            <a:endParaRPr sz="1669">
              <a:solidFill>
                <a:srgbClr val="20124D"/>
              </a:solidFill>
            </a:endParaRPr>
          </a:p>
        </p:txBody>
      </p:sp>
      <p:sp>
        <p:nvSpPr>
          <p:cNvPr id="859" name="Google Shape;859;p122"/>
          <p:cNvSpPr txBox="1"/>
          <p:nvPr>
            <p:ph type="title"/>
          </p:nvPr>
        </p:nvSpPr>
        <p:spPr>
          <a:xfrm>
            <a:off x="311700" y="267100"/>
            <a:ext cx="3701400" cy="690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Using AI for development…</a:t>
            </a:r>
            <a:endParaRPr sz="2220"/>
          </a:p>
        </p:txBody>
      </p:sp>
      <p:cxnSp>
        <p:nvCxnSpPr>
          <p:cNvPr id="860" name="Google Shape;860;p122"/>
          <p:cNvCxnSpPr>
            <a:stCxn id="858" idx="0"/>
            <a:endCxn id="857" idx="2"/>
          </p:cNvCxnSpPr>
          <p:nvPr/>
        </p:nvCxnSpPr>
        <p:spPr>
          <a:xfrm rot="-5400000">
            <a:off x="1314025" y="1849713"/>
            <a:ext cx="939000" cy="778800"/>
          </a:xfrm>
          <a:prstGeom prst="curvedConnector2">
            <a:avLst/>
          </a:prstGeom>
          <a:noFill/>
          <a:ln cap="flat" cmpd="sng" w="28575">
            <a:solidFill>
              <a:srgbClr val="674EA7"/>
            </a:solidFill>
            <a:prstDash val="solid"/>
            <a:round/>
            <a:headEnd len="med" w="med" type="none"/>
            <a:tailEnd len="med" w="med" type="triangle"/>
          </a:ln>
        </p:spPr>
      </p:cxnSp>
      <p:sp>
        <p:nvSpPr>
          <p:cNvPr id="861" name="Google Shape;861;p122"/>
          <p:cNvSpPr/>
          <p:nvPr/>
        </p:nvSpPr>
        <p:spPr>
          <a:xfrm>
            <a:off x="4894100" y="1010950"/>
            <a:ext cx="3593100" cy="3507300"/>
          </a:xfrm>
          <a:prstGeom prst="ellipse">
            <a:avLst/>
          </a:prstGeom>
          <a:solidFill>
            <a:srgbClr val="CFE2F3"/>
          </a:solidFill>
          <a:ln>
            <a:noFill/>
          </a:ln>
        </p:spPr>
        <p:txBody>
          <a:bodyPr anchorCtr="0" anchor="ctr" bIns="89575" lIns="89575" spcFirstLastPara="1" rIns="89575" wrap="square" tIns="89575">
            <a:noAutofit/>
          </a:bodyPr>
          <a:lstStyle/>
          <a:p>
            <a:pPr indent="0" lvl="0" marL="0" rtl="0" algn="ctr">
              <a:spcBef>
                <a:spcPts val="0"/>
              </a:spcBef>
              <a:spcAft>
                <a:spcPts val="0"/>
              </a:spcAft>
              <a:buNone/>
            </a:pPr>
            <a:r>
              <a:t/>
            </a:r>
            <a:endParaRPr sz="1666">
              <a:solidFill>
                <a:srgbClr val="073763"/>
              </a:solidFill>
            </a:endParaRPr>
          </a:p>
        </p:txBody>
      </p:sp>
      <p:sp>
        <p:nvSpPr>
          <p:cNvPr id="862" name="Google Shape;862;p122"/>
          <p:cNvSpPr/>
          <p:nvPr/>
        </p:nvSpPr>
        <p:spPr>
          <a:xfrm>
            <a:off x="6051652" y="2456648"/>
            <a:ext cx="1812300" cy="1781700"/>
          </a:xfrm>
          <a:prstGeom prst="ellipse">
            <a:avLst/>
          </a:prstGeom>
          <a:solidFill>
            <a:srgbClr val="B4A7D6"/>
          </a:solidFill>
          <a:ln>
            <a:noFill/>
          </a:ln>
        </p:spPr>
        <p:txBody>
          <a:bodyPr anchorCtr="0" anchor="ctr" bIns="89575" lIns="89575" spcFirstLastPara="1" rIns="89575" wrap="square" tIns="89575">
            <a:noAutofit/>
          </a:bodyPr>
          <a:lstStyle/>
          <a:p>
            <a:pPr indent="0" lvl="0" marL="0" rtl="0" algn="ctr">
              <a:spcBef>
                <a:spcPts val="0"/>
              </a:spcBef>
              <a:spcAft>
                <a:spcPts val="0"/>
              </a:spcAft>
              <a:buNone/>
            </a:pPr>
            <a:r>
              <a:rPr lang="en" sz="1372">
                <a:solidFill>
                  <a:srgbClr val="20124D"/>
                </a:solidFill>
              </a:rPr>
              <a:t>Programmatic AI</a:t>
            </a:r>
            <a:endParaRPr sz="1372">
              <a:solidFill>
                <a:srgbClr val="20124D"/>
              </a:solidFill>
            </a:endParaRPr>
          </a:p>
        </p:txBody>
      </p:sp>
      <p:sp>
        <p:nvSpPr>
          <p:cNvPr id="863" name="Google Shape;863;p122"/>
          <p:cNvSpPr txBox="1"/>
          <p:nvPr/>
        </p:nvSpPr>
        <p:spPr>
          <a:xfrm>
            <a:off x="4958700" y="1730351"/>
            <a:ext cx="2881500" cy="437400"/>
          </a:xfrm>
          <a:prstGeom prst="rect">
            <a:avLst/>
          </a:prstGeom>
          <a:noFill/>
          <a:ln>
            <a:noFill/>
          </a:ln>
        </p:spPr>
        <p:txBody>
          <a:bodyPr anchorCtr="0" anchor="t" bIns="89575" lIns="89575" spcFirstLastPara="1" rIns="89575" wrap="square" tIns="89575">
            <a:spAutoFit/>
          </a:bodyPr>
          <a:lstStyle/>
          <a:p>
            <a:pPr indent="0" lvl="0" marL="0" rtl="0" algn="ctr">
              <a:spcBef>
                <a:spcPts val="0"/>
              </a:spcBef>
              <a:spcAft>
                <a:spcPts val="0"/>
              </a:spcAft>
              <a:buNone/>
            </a:pPr>
            <a:r>
              <a:rPr lang="en" sz="1666">
                <a:solidFill>
                  <a:srgbClr val="073763"/>
                </a:solidFill>
              </a:rPr>
              <a:t>Software</a:t>
            </a:r>
            <a:endParaRPr sz="1666">
              <a:solidFill>
                <a:srgbClr val="073763"/>
              </a:solidFill>
            </a:endParaRPr>
          </a:p>
        </p:txBody>
      </p:sp>
      <p:sp>
        <p:nvSpPr>
          <p:cNvPr id="864" name="Google Shape;864;p122"/>
          <p:cNvSpPr txBox="1"/>
          <p:nvPr>
            <p:ph type="title"/>
          </p:nvPr>
        </p:nvSpPr>
        <p:spPr>
          <a:xfrm>
            <a:off x="4894100" y="267100"/>
            <a:ext cx="3701400" cy="690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SzPts val="990"/>
              <a:buNone/>
            </a:pPr>
            <a:r>
              <a:rPr lang="en" sz="2220"/>
              <a:t>Developing AI…</a:t>
            </a:r>
            <a:endParaRPr sz="2220"/>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8" name="Shape 868"/>
        <p:cNvGrpSpPr/>
        <p:nvPr/>
      </p:nvGrpSpPr>
      <p:grpSpPr>
        <a:xfrm>
          <a:off x="0" y="0"/>
          <a:ext cx="0" cy="0"/>
          <a:chOff x="0" y="0"/>
          <a:chExt cx="0" cy="0"/>
        </a:xfrm>
      </p:grpSpPr>
      <p:sp>
        <p:nvSpPr>
          <p:cNvPr id="869" name="Google Shape;869;p123"/>
          <p:cNvSpPr/>
          <p:nvPr/>
        </p:nvSpPr>
        <p:spPr>
          <a:xfrm>
            <a:off x="3118475" y="914825"/>
            <a:ext cx="4102500" cy="3761100"/>
          </a:xfrm>
          <a:prstGeom prst="ellipse">
            <a:avLst/>
          </a:prstGeom>
          <a:solidFill>
            <a:srgbClr val="CFE2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700"/>
          </a:p>
        </p:txBody>
      </p:sp>
      <p:sp>
        <p:nvSpPr>
          <p:cNvPr id="870" name="Google Shape;870;p123"/>
          <p:cNvSpPr txBox="1"/>
          <p:nvPr>
            <p:ph type="title"/>
          </p:nvPr>
        </p:nvSpPr>
        <p:spPr>
          <a:xfrm>
            <a:off x="311700" y="224525"/>
            <a:ext cx="3000000" cy="2807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“AI Development”</a:t>
            </a:r>
            <a:endParaRPr/>
          </a:p>
          <a:p>
            <a:pPr indent="0" lvl="0" marL="0" rtl="0" algn="l">
              <a:spcBef>
                <a:spcPts val="0"/>
              </a:spcBef>
              <a:spcAft>
                <a:spcPts val="0"/>
              </a:spcAft>
              <a:buNone/>
            </a:pPr>
            <a:br>
              <a:rPr lang="en"/>
            </a:br>
            <a:r>
              <a:rPr lang="en"/>
              <a:t>This is the focus of this course</a:t>
            </a:r>
            <a:endParaRPr/>
          </a:p>
        </p:txBody>
      </p:sp>
      <p:sp>
        <p:nvSpPr>
          <p:cNvPr id="871" name="Google Shape;871;p123"/>
          <p:cNvSpPr/>
          <p:nvPr/>
        </p:nvSpPr>
        <p:spPr>
          <a:xfrm>
            <a:off x="4685313" y="2571738"/>
            <a:ext cx="1887000" cy="1818600"/>
          </a:xfrm>
          <a:prstGeom prst="ellipse">
            <a:avLst/>
          </a:prstGeom>
          <a:solidFill>
            <a:srgbClr val="B4A7D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a:t>Programmatic AI</a:t>
            </a:r>
            <a:endParaRPr/>
          </a:p>
        </p:txBody>
      </p:sp>
      <p:sp>
        <p:nvSpPr>
          <p:cNvPr id="872" name="Google Shape;872;p123"/>
          <p:cNvSpPr txBox="1"/>
          <p:nvPr/>
        </p:nvSpPr>
        <p:spPr>
          <a:xfrm>
            <a:off x="3141750" y="1792563"/>
            <a:ext cx="3000000" cy="446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700">
                <a:solidFill>
                  <a:srgbClr val="073763"/>
                </a:solidFill>
              </a:rPr>
              <a:t>Software</a:t>
            </a:r>
            <a:endParaRPr sz="1700">
              <a:solidFill>
                <a:srgbClr val="073763"/>
              </a:solidFill>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6" name="Shape 876"/>
        <p:cNvGrpSpPr/>
        <p:nvPr/>
      </p:nvGrpSpPr>
      <p:grpSpPr>
        <a:xfrm>
          <a:off x="0" y="0"/>
          <a:ext cx="0" cy="0"/>
          <a:chOff x="0" y="0"/>
          <a:chExt cx="0" cy="0"/>
        </a:xfrm>
      </p:grpSpPr>
      <p:sp>
        <p:nvSpPr>
          <p:cNvPr id="877" name="Google Shape;877;p124"/>
          <p:cNvSpPr/>
          <p:nvPr/>
        </p:nvSpPr>
        <p:spPr>
          <a:xfrm>
            <a:off x="3118475" y="914825"/>
            <a:ext cx="4102500" cy="3761100"/>
          </a:xfrm>
          <a:prstGeom prst="ellipse">
            <a:avLst/>
          </a:prstGeom>
          <a:solidFill>
            <a:srgbClr val="CFE2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700"/>
          </a:p>
        </p:txBody>
      </p:sp>
      <p:sp>
        <p:nvSpPr>
          <p:cNvPr id="878" name="Google Shape;878;p124"/>
          <p:cNvSpPr/>
          <p:nvPr/>
        </p:nvSpPr>
        <p:spPr>
          <a:xfrm>
            <a:off x="4685313" y="2571738"/>
            <a:ext cx="1887000" cy="1818600"/>
          </a:xfrm>
          <a:prstGeom prst="ellipse">
            <a:avLst/>
          </a:prstGeom>
          <a:solidFill>
            <a:srgbClr val="B4A7D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a:t>Programmatic AI</a:t>
            </a:r>
            <a:endParaRPr/>
          </a:p>
        </p:txBody>
      </p:sp>
      <p:sp>
        <p:nvSpPr>
          <p:cNvPr id="879" name="Google Shape;879;p124"/>
          <p:cNvSpPr txBox="1"/>
          <p:nvPr/>
        </p:nvSpPr>
        <p:spPr>
          <a:xfrm>
            <a:off x="3141750" y="1792563"/>
            <a:ext cx="3000000" cy="446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700">
                <a:solidFill>
                  <a:srgbClr val="073763"/>
                </a:solidFill>
              </a:rPr>
              <a:t>Software</a:t>
            </a:r>
            <a:endParaRPr sz="1700">
              <a:solidFill>
                <a:srgbClr val="073763"/>
              </a:solidFill>
            </a:endParaRPr>
          </a:p>
        </p:txBody>
      </p:sp>
      <p:sp>
        <p:nvSpPr>
          <p:cNvPr id="880" name="Google Shape;880;p124"/>
          <p:cNvSpPr/>
          <p:nvPr/>
        </p:nvSpPr>
        <p:spPr>
          <a:xfrm>
            <a:off x="757725" y="3333323"/>
            <a:ext cx="1515900" cy="1443000"/>
          </a:xfrm>
          <a:prstGeom prst="ellipse">
            <a:avLst/>
          </a:prstGeom>
          <a:solidFill>
            <a:srgbClr val="EDE6FF"/>
          </a:solidFill>
          <a:ln>
            <a:noFill/>
          </a:ln>
        </p:spPr>
        <p:txBody>
          <a:bodyPr anchorCtr="0" anchor="ctr" bIns="89775" lIns="89775" spcFirstLastPara="1" rIns="89775" wrap="square" tIns="89775">
            <a:noAutofit/>
          </a:bodyPr>
          <a:lstStyle/>
          <a:p>
            <a:pPr indent="0" lvl="0" marL="0" rtl="0" algn="ctr">
              <a:spcBef>
                <a:spcPts val="0"/>
              </a:spcBef>
              <a:spcAft>
                <a:spcPts val="0"/>
              </a:spcAft>
              <a:buNone/>
            </a:pPr>
            <a:r>
              <a:rPr lang="en" sz="1669">
                <a:solidFill>
                  <a:srgbClr val="8E7CC3"/>
                </a:solidFill>
              </a:rPr>
              <a:t>Coding agent</a:t>
            </a:r>
            <a:endParaRPr sz="1669">
              <a:solidFill>
                <a:srgbClr val="8E7CC3"/>
              </a:solidFill>
            </a:endParaRPr>
          </a:p>
        </p:txBody>
      </p:sp>
      <p:cxnSp>
        <p:nvCxnSpPr>
          <p:cNvPr id="881" name="Google Shape;881;p124"/>
          <p:cNvCxnSpPr>
            <a:stCxn id="880" idx="7"/>
            <a:endCxn id="877" idx="2"/>
          </p:cNvCxnSpPr>
          <p:nvPr/>
        </p:nvCxnSpPr>
        <p:spPr>
          <a:xfrm rot="-5400000">
            <a:off x="2210327" y="2636545"/>
            <a:ext cx="749400" cy="1066800"/>
          </a:xfrm>
          <a:prstGeom prst="curvedConnector2">
            <a:avLst/>
          </a:prstGeom>
          <a:noFill/>
          <a:ln cap="flat" cmpd="sng" w="28575">
            <a:solidFill>
              <a:srgbClr val="D9D2E9"/>
            </a:solidFill>
            <a:prstDash val="solid"/>
            <a:round/>
            <a:headEnd len="med" w="med" type="none"/>
            <a:tailEnd len="med" w="med" type="triangle"/>
          </a:ln>
        </p:spPr>
      </p:cxnSp>
      <p:sp>
        <p:nvSpPr>
          <p:cNvPr id="882" name="Google Shape;882;p124"/>
          <p:cNvSpPr txBox="1"/>
          <p:nvPr/>
        </p:nvSpPr>
        <p:spPr>
          <a:xfrm>
            <a:off x="1034125" y="2871625"/>
            <a:ext cx="10668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800">
                <a:solidFill>
                  <a:srgbClr val="D9D2E9"/>
                </a:solidFill>
              </a:rPr>
              <a:t>Optional</a:t>
            </a:r>
            <a:endParaRPr i="1" sz="1800">
              <a:solidFill>
                <a:srgbClr val="D9D2E9"/>
              </a:solidFill>
            </a:endParaRPr>
          </a:p>
        </p:txBody>
      </p:sp>
      <p:sp>
        <p:nvSpPr>
          <p:cNvPr id="883" name="Google Shape;883;p124"/>
          <p:cNvSpPr txBox="1"/>
          <p:nvPr>
            <p:ph type="title"/>
          </p:nvPr>
        </p:nvSpPr>
        <p:spPr>
          <a:xfrm>
            <a:off x="311700" y="224525"/>
            <a:ext cx="3000000" cy="2807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“AI Development”</a:t>
            </a:r>
            <a:endParaRPr/>
          </a:p>
          <a:p>
            <a:pPr indent="0" lvl="0" marL="0" rtl="0" algn="l">
              <a:spcBef>
                <a:spcPts val="0"/>
              </a:spcBef>
              <a:spcAft>
                <a:spcPts val="0"/>
              </a:spcAft>
              <a:buNone/>
            </a:pPr>
            <a:br>
              <a:rPr lang="en"/>
            </a:br>
            <a:r>
              <a:rPr lang="en"/>
              <a:t>This is the focus of this course</a:t>
            </a:r>
            <a:endParaRP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7" name="Shape 887"/>
        <p:cNvGrpSpPr/>
        <p:nvPr/>
      </p:nvGrpSpPr>
      <p:grpSpPr>
        <a:xfrm>
          <a:off x="0" y="0"/>
          <a:ext cx="0" cy="0"/>
          <a:chOff x="0" y="0"/>
          <a:chExt cx="0" cy="0"/>
        </a:xfrm>
      </p:grpSpPr>
      <p:sp>
        <p:nvSpPr>
          <p:cNvPr id="888" name="Google Shape;888;p125"/>
          <p:cNvSpPr/>
          <p:nvPr/>
        </p:nvSpPr>
        <p:spPr>
          <a:xfrm>
            <a:off x="3118475" y="914825"/>
            <a:ext cx="4102500" cy="3761100"/>
          </a:xfrm>
          <a:prstGeom prst="ellipse">
            <a:avLst/>
          </a:prstGeom>
          <a:solidFill>
            <a:srgbClr val="CFE2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sz="1700"/>
          </a:p>
        </p:txBody>
      </p:sp>
      <p:sp>
        <p:nvSpPr>
          <p:cNvPr id="889" name="Google Shape;889;p125"/>
          <p:cNvSpPr txBox="1"/>
          <p:nvPr>
            <p:ph type="title"/>
          </p:nvPr>
        </p:nvSpPr>
        <p:spPr>
          <a:xfrm>
            <a:off x="311700" y="224525"/>
            <a:ext cx="3512100" cy="1483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This course’s exercises…</a:t>
            </a:r>
            <a:endParaRPr/>
          </a:p>
        </p:txBody>
      </p:sp>
      <p:sp>
        <p:nvSpPr>
          <p:cNvPr id="890" name="Google Shape;890;p125"/>
          <p:cNvSpPr/>
          <p:nvPr/>
        </p:nvSpPr>
        <p:spPr>
          <a:xfrm>
            <a:off x="4685313" y="2571738"/>
            <a:ext cx="1887000" cy="1818600"/>
          </a:xfrm>
          <a:prstGeom prst="ellipse">
            <a:avLst/>
          </a:prstGeom>
          <a:solidFill>
            <a:srgbClr val="B4A7D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a:solidFill>
                  <a:srgbClr val="20124D"/>
                </a:solidFill>
              </a:rPr>
              <a:t>Use LLM to analyze contents of resumes</a:t>
            </a:r>
            <a:endParaRPr>
              <a:solidFill>
                <a:srgbClr val="20124D"/>
              </a:solidFill>
            </a:endParaRPr>
          </a:p>
        </p:txBody>
      </p:sp>
      <p:sp>
        <p:nvSpPr>
          <p:cNvPr id="891" name="Google Shape;891;p125"/>
          <p:cNvSpPr txBox="1"/>
          <p:nvPr/>
        </p:nvSpPr>
        <p:spPr>
          <a:xfrm>
            <a:off x="3485225" y="1442963"/>
            <a:ext cx="3000000" cy="969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700">
                <a:solidFill>
                  <a:srgbClr val="073763"/>
                </a:solidFill>
              </a:rPr>
              <a:t>Load resumes, do programmatic parsing, and call LLMs via API</a:t>
            </a:r>
            <a:endParaRPr sz="1700">
              <a:solidFill>
                <a:srgbClr val="073763"/>
              </a:solidFill>
            </a:endParaRPr>
          </a:p>
        </p:txBody>
      </p:sp>
      <p:sp>
        <p:nvSpPr>
          <p:cNvPr id="892" name="Google Shape;892;p125"/>
          <p:cNvSpPr/>
          <p:nvPr/>
        </p:nvSpPr>
        <p:spPr>
          <a:xfrm>
            <a:off x="757725" y="3333323"/>
            <a:ext cx="1515900" cy="1443000"/>
          </a:xfrm>
          <a:prstGeom prst="ellipse">
            <a:avLst/>
          </a:prstGeom>
          <a:solidFill>
            <a:srgbClr val="EDE6FF"/>
          </a:solidFill>
          <a:ln>
            <a:noFill/>
          </a:ln>
        </p:spPr>
        <p:txBody>
          <a:bodyPr anchorCtr="0" anchor="ctr" bIns="89775" lIns="89775" spcFirstLastPara="1" rIns="89775" wrap="square" tIns="89775">
            <a:noAutofit/>
          </a:bodyPr>
          <a:lstStyle/>
          <a:p>
            <a:pPr indent="0" lvl="0" marL="0" rtl="0" algn="ctr">
              <a:spcBef>
                <a:spcPts val="0"/>
              </a:spcBef>
              <a:spcAft>
                <a:spcPts val="0"/>
              </a:spcAft>
              <a:buNone/>
            </a:pPr>
            <a:r>
              <a:rPr lang="en" sz="1669">
                <a:solidFill>
                  <a:srgbClr val="8E7CC3"/>
                </a:solidFill>
              </a:rPr>
              <a:t>Coding agent</a:t>
            </a:r>
            <a:endParaRPr sz="1669">
              <a:solidFill>
                <a:srgbClr val="8E7CC3"/>
              </a:solidFill>
            </a:endParaRPr>
          </a:p>
        </p:txBody>
      </p:sp>
      <p:cxnSp>
        <p:nvCxnSpPr>
          <p:cNvPr id="893" name="Google Shape;893;p125"/>
          <p:cNvCxnSpPr>
            <a:stCxn id="892" idx="7"/>
            <a:endCxn id="888" idx="2"/>
          </p:cNvCxnSpPr>
          <p:nvPr/>
        </p:nvCxnSpPr>
        <p:spPr>
          <a:xfrm rot="-5400000">
            <a:off x="2210327" y="2636545"/>
            <a:ext cx="749400" cy="1066800"/>
          </a:xfrm>
          <a:prstGeom prst="curvedConnector2">
            <a:avLst/>
          </a:prstGeom>
          <a:noFill/>
          <a:ln cap="flat" cmpd="sng" w="28575">
            <a:solidFill>
              <a:srgbClr val="D9D2E9"/>
            </a:solidFill>
            <a:prstDash val="solid"/>
            <a:round/>
            <a:headEnd len="med" w="med" type="none"/>
            <a:tailEnd len="med" w="med" type="triangle"/>
          </a:ln>
        </p:spPr>
      </p:cxnSp>
      <p:sp>
        <p:nvSpPr>
          <p:cNvPr id="894" name="Google Shape;894;p125"/>
          <p:cNvSpPr txBox="1"/>
          <p:nvPr/>
        </p:nvSpPr>
        <p:spPr>
          <a:xfrm>
            <a:off x="632025" y="2871625"/>
            <a:ext cx="14688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800">
                <a:solidFill>
                  <a:srgbClr val="D9D2E9"/>
                </a:solidFill>
              </a:rPr>
              <a:t>Probably not</a:t>
            </a:r>
            <a:endParaRPr i="1" sz="1800">
              <a:solidFill>
                <a:srgbClr val="D9D2E9"/>
              </a:solidFill>
            </a:endParaRP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8" name="Shape 898"/>
        <p:cNvGrpSpPr/>
        <p:nvPr/>
      </p:nvGrpSpPr>
      <p:grpSpPr>
        <a:xfrm>
          <a:off x="0" y="0"/>
          <a:ext cx="0" cy="0"/>
          <a:chOff x="0" y="0"/>
          <a:chExt cx="0" cy="0"/>
        </a:xfrm>
      </p:grpSpPr>
      <p:sp>
        <p:nvSpPr>
          <p:cNvPr id="899" name="Google Shape;899;p126"/>
          <p:cNvSpPr txBox="1"/>
          <p:nvPr>
            <p:ph type="title"/>
          </p:nvPr>
        </p:nvSpPr>
        <p:spPr>
          <a:xfrm>
            <a:off x="311700" y="1728125"/>
            <a:ext cx="8520600" cy="1687200"/>
          </a:xfrm>
          <a:prstGeom prst="rect">
            <a:avLst/>
          </a:prstGeom>
          <a:noFill/>
          <a:ln>
            <a:noFill/>
          </a:ln>
        </p:spPr>
        <p:txBody>
          <a:bodyPr anchorCtr="0" anchor="ctr" bIns="91425" lIns="91425" spcFirstLastPara="1" rIns="91425" wrap="square" tIns="91425">
            <a:noAutofit/>
          </a:bodyPr>
          <a:lstStyle/>
          <a:p>
            <a:pPr indent="0" lvl="0" marL="0" rtl="0" algn="l">
              <a:lnSpc>
                <a:spcPct val="100000"/>
              </a:lnSpc>
              <a:spcBef>
                <a:spcPts val="0"/>
              </a:spcBef>
              <a:spcAft>
                <a:spcPts val="0"/>
              </a:spcAft>
              <a:buSzPts val="3600"/>
              <a:buNone/>
            </a:pPr>
            <a:r>
              <a:rPr lang="en" sz="4000"/>
              <a:t>Today’s hands-on exercise</a:t>
            </a:r>
            <a:endParaRPr sz="4000"/>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3" name="Shape 903"/>
        <p:cNvGrpSpPr/>
        <p:nvPr/>
      </p:nvGrpSpPr>
      <p:grpSpPr>
        <a:xfrm>
          <a:off x="0" y="0"/>
          <a:ext cx="0" cy="0"/>
          <a:chOff x="0" y="0"/>
          <a:chExt cx="0" cy="0"/>
        </a:xfrm>
      </p:grpSpPr>
      <p:sp>
        <p:nvSpPr>
          <p:cNvPr id="904" name="Google Shape;904;p12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goal for today is:</a:t>
            </a:r>
            <a:endParaRPr/>
          </a:p>
        </p:txBody>
      </p:sp>
      <p:sp>
        <p:nvSpPr>
          <p:cNvPr id="905" name="Google Shape;905;p12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t/>
            </a:r>
            <a:endParaRPr/>
          </a:p>
          <a:p>
            <a:pPr indent="-342900" lvl="0" marL="457200" rtl="0" algn="l">
              <a:spcBef>
                <a:spcPts val="1000"/>
              </a:spcBef>
              <a:spcAft>
                <a:spcPts val="0"/>
              </a:spcAft>
              <a:buSzPts val="1800"/>
              <a:buChar char="●"/>
            </a:pPr>
            <a:r>
              <a:rPr lang="en"/>
              <a:t>Team up with another person (between 2 and 4 people in each group)</a:t>
            </a:r>
            <a:endParaRPr/>
          </a:p>
          <a:p>
            <a:pPr indent="-342900" lvl="0" marL="457200" rtl="0" algn="l">
              <a:spcBef>
                <a:spcPts val="1000"/>
              </a:spcBef>
              <a:spcAft>
                <a:spcPts val="0"/>
              </a:spcAft>
              <a:buSzPts val="1800"/>
              <a:buChar char="●"/>
            </a:pPr>
            <a:r>
              <a:rPr lang="en"/>
              <a:t>Get access to your API keys</a:t>
            </a:r>
            <a:endParaRPr/>
          </a:p>
          <a:p>
            <a:pPr indent="-342900" lvl="0" marL="457200" rtl="0" algn="l">
              <a:spcBef>
                <a:spcPts val="1000"/>
              </a:spcBef>
              <a:spcAft>
                <a:spcPts val="0"/>
              </a:spcAft>
              <a:buSzPts val="1800"/>
              <a:buChar char="●"/>
            </a:pPr>
            <a:r>
              <a:rPr lang="en"/>
              <a:t>Verify that you can use the API keys</a:t>
            </a:r>
            <a:endParaRPr/>
          </a:p>
          <a:p>
            <a:pPr indent="-342900" lvl="0" marL="457200" rtl="0" algn="l">
              <a:spcBef>
                <a:spcPts val="1000"/>
              </a:spcBef>
              <a:spcAft>
                <a:spcPts val="0"/>
              </a:spcAft>
              <a:buSzPts val="1800"/>
              <a:buChar char="●"/>
            </a:pPr>
            <a:r>
              <a:rPr lang="en"/>
              <a:t>Complete the notebook by answering the following questions:</a:t>
            </a:r>
            <a:endParaRPr/>
          </a:p>
          <a:p>
            <a:pPr indent="-317500" lvl="1" marL="914400" rtl="0" algn="l">
              <a:spcBef>
                <a:spcPts val="1000"/>
              </a:spcBef>
              <a:spcAft>
                <a:spcPts val="0"/>
              </a:spcAft>
              <a:buSzPts val="1400"/>
              <a:buChar char="○"/>
            </a:pPr>
            <a:r>
              <a:rPr lang="en"/>
              <a:t>How did the different models perform?</a:t>
            </a:r>
            <a:endParaRPr/>
          </a:p>
          <a:p>
            <a:pPr indent="-317500" lvl="1" marL="914400" rtl="0" algn="l">
              <a:spcBef>
                <a:spcPts val="1000"/>
              </a:spcBef>
              <a:spcAft>
                <a:spcPts val="1000"/>
              </a:spcAft>
              <a:buSzPts val="1400"/>
              <a:buChar char="○"/>
            </a:pPr>
            <a:r>
              <a:rPr lang="en"/>
              <a:t>What did you learn?</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