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guy915/System-Prompts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platform.openai.com/docs/pricing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openai.com/api/pricing/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DSI: AI Development Program</a:t>
            </a:r>
            <a:endParaRPr sz="4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Part 1: Introduction to AI Development</a:t>
            </a:r>
            <a:endParaRPr sz="1800"/>
          </a:p>
          <a:p>
            <a:pPr lvl="0" rtl="0" algn="l"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University of Chicago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Outline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Motivation and Learning Objectives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Foundations &amp; Terminology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Context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Pricing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Exercise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Who Am I?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Director Data Science Clinic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Undergrad: UC Berkeley, PhD: UCLA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Worked in Consulting, Video Games, AI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I'm also an investor and consultant for AI Startups.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Some Games I've Worked on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28125"/>
            <a:ext cx="8520600" cy="16873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Motivation and Learning Objectives</a:t>
            </a:r>
            <a:endParaRPr sz="4000"/>
          </a:p>
        </p:txBody>
      </p:sp>
      <p:sp>
        <p:nvSpPr>
          <p:cNvPr id="3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Motivation: Why AI Development?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AI can be used directly through chat interfaces (ChatGPT, Claude)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However, most production AI systems are built </a:t>
            </a:r>
            <a:r>
              <a:rPr lang="en" b="1" sz="1600"/>
              <a:t>programmatically</a:t>
            </a:r>
            <a:r>
              <a:rPr lang="en" sz="1600"/>
              <a:t> through APIs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Why?</a:t>
            </a:r>
            <a:endParaRPr sz="1600"/>
          </a:p>
          <a:p>
            <a:pPr lvl="1" rtl="0" algn="l" marL="914400" indent="-317500">
              <a:spcBef>
                <a:spcPts val="675"/>
              </a:spcBef>
              <a:spcAft>
                <a:spcPts val="0"/>
              </a:spcAft>
              <a:buSzPts val="1500"/>
              <a:buAutoNum type="arabicPeriod"/>
            </a:pPr>
            <a:r>
              <a:rPr lang="en" b="1" sz="1500"/>
              <a:t>Control</a:t>
            </a:r>
            <a:r>
              <a:rPr lang="en" sz="1500"/>
              <a:t>: Cost management, output formatting, verification</a:t>
            </a:r>
            <a:endParaRPr sz="1500"/>
          </a:p>
          <a:p>
            <a:pPr lvl="1" rtl="0" algn="l" marL="914400" indent="-317500">
              <a:spcBef>
                <a:spcPts val="675"/>
              </a:spcBef>
              <a:spcAft>
                <a:spcPts val="0"/>
              </a:spcAft>
              <a:buSzPts val="1500"/>
              <a:buAutoNum type="arabicPeriod"/>
            </a:pPr>
            <a:r>
              <a:rPr lang="en" b="1" sz="1500"/>
              <a:t>Integration</a:t>
            </a:r>
            <a:r>
              <a:rPr lang="en" sz="1500"/>
              <a:t>: Connect AI to existing systems (databases, CRMs, APIs)</a:t>
            </a:r>
            <a:endParaRPr sz="1500"/>
          </a:p>
          <a:p>
            <a:pPr lvl="1" rtl="0" algn="l" marL="914400" indent="-317500">
              <a:spcBef>
                <a:spcPts val="675"/>
              </a:spcBef>
              <a:spcAft>
                <a:spcPts val="0"/>
              </a:spcAft>
              <a:buSzPts val="1500"/>
              <a:buAutoNum type="arabicPeriod"/>
            </a:pPr>
            <a:r>
              <a:rPr lang="en" b="1" sz="1500"/>
              <a:t>Human Oversight</a:t>
            </a:r>
            <a:r>
              <a:rPr lang="en" sz="1500"/>
              <a:t>: Code provides guardrails against hallucination</a:t>
            </a:r>
            <a:endParaRPr sz="1500"/>
          </a:p>
          <a:p>
            <a:pPr lvl="1" rtl="0" algn="l" marL="914400" indent="-317500">
              <a:spcBef>
                <a:spcPts val="675"/>
              </a:spcBef>
              <a:spcAft>
                <a:spcPts val="0"/>
              </a:spcAft>
              <a:buSzPts val="1500"/>
              <a:buAutoNum type="arabicPeriod"/>
            </a:pPr>
            <a:r>
              <a:rPr lang="en" b="1" sz="1500"/>
              <a:t>Automation</a:t>
            </a:r>
            <a:r>
              <a:rPr lang="en" sz="1500"/>
              <a:t>: Scale beyond manual chat interactions</a:t>
            </a:r>
            <a:endParaRPr sz="1500"/>
          </a:p>
          <a:p>
            <a:pPr lvl="1" rtl="0" algn="l" marL="914400" indent="-317500">
              <a:spcBef>
                <a:spcPts val="675"/>
              </a:spcBef>
              <a:spcAft>
                <a:spcPts val="0"/>
              </a:spcAft>
              <a:buSzPts val="1500"/>
              <a:buAutoNum type="arabicPeriod"/>
            </a:pPr>
            <a:r>
              <a:rPr lang="en" b="1" sz="1500"/>
              <a:t>Scalability</a:t>
            </a:r>
            <a:r>
              <a:rPr lang="en" sz="1500"/>
              <a:t>: Building systems that can scale beyond a one-to-one human-chat.</a:t>
            </a:r>
            <a:endParaRPr sz="15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System Understanding: By learning how to use these systems via API we will understand better how agentic workflows </a:t>
            </a:r>
            <a:r>
              <a:rPr lang="en" i="1" sz="1600"/>
              <a:t>actually</a:t>
            </a:r>
            <a:r>
              <a:rPr lang="en" sz="1600"/>
              <a:t> work.</a:t>
            </a:r>
            <a:endParaRPr sz="16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Example: Personalized Marketing Outreach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 company wants to connect their email and sales system to send personalized coupons.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They need to write code to:</a:t>
            </a:r>
            <a:endParaRPr sz="18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Connect to their sales database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Retrieve prospect information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Generate personalized emails using an LLM API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Send emails through their email system</a:t>
            </a:r>
            <a:endParaRPr sz="17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This requires </a:t>
            </a:r>
            <a:r>
              <a:rPr lang="en" b="1" sz="1800"/>
              <a:t>programmatic integration</a:t>
            </a:r>
            <a:r>
              <a:rPr lang="en" sz="1800"/>
              <a:t>, not just chat interfaces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Course Learning Objectives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/>
              <a:t>By the end of this course, you will:</a:t>
            </a:r>
            <a:endParaRPr sz="1500"/>
          </a:p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AutoNum type="arabicPeriod"/>
            </a:pPr>
            <a:r>
              <a:rPr lang="en" b="1" sz="1500"/>
              <a:t>Understand AI terminology</a:t>
            </a:r>
            <a:endParaRPr sz="1500"/>
          </a:p>
          <a:p>
            <a:pPr lvl="1" rtl="0" algn="l" marL="914400" indent="-317500">
              <a:spcBef>
                <a:spcPts val="63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Don't make an ass out of yourself during an interview</a:t>
            </a:r>
            <a:endParaRPr sz="1400"/>
          </a:p>
          <a:p>
            <a:pPr lvl="1" rtl="0" algn="l" marL="914400" indent="-317500">
              <a:spcBef>
                <a:spcPts val="63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Speak confidently about LLMs, tokens, context windows, agents, tools</a:t>
            </a:r>
            <a:endParaRPr sz="1400"/>
          </a:p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AutoNum type="arabicPeriod"/>
            </a:pPr>
            <a:r>
              <a:rPr lang="en" b="1" sz="1500"/>
              <a:t>Gain familiarity with cost drivers</a:t>
            </a:r>
            <a:endParaRPr sz="1500"/>
          </a:p>
          <a:p>
            <a:pPr lvl="1" rtl="0" algn="l" marL="914400" indent="-317500">
              <a:spcBef>
                <a:spcPts val="63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Understand what makes ROI sense and what doesn't</a:t>
            </a:r>
            <a:endParaRPr sz="1400"/>
          </a:p>
          <a:p>
            <a:pPr lvl="1" rtl="0" algn="l" marL="914400" indent="-317500">
              <a:spcBef>
                <a:spcPts val="63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Calculate and optimize token costs</a:t>
            </a:r>
            <a:endParaRPr sz="1400"/>
          </a:p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AutoNum type="arabicPeriod"/>
            </a:pPr>
            <a:r>
              <a:rPr lang="en" b="1" sz="1500"/>
              <a:t>Experience building AI systems</a:t>
            </a:r>
            <a:endParaRPr sz="1500"/>
          </a:p>
          <a:p>
            <a:pPr lvl="1" rtl="0" algn="l" marL="914400" indent="-317500">
              <a:spcBef>
                <a:spcPts val="63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Have concrete experiences to talk about in interviews</a:t>
            </a:r>
            <a:endParaRPr sz="1400"/>
          </a:p>
          <a:p>
            <a:pPr lvl="1" rtl="0" algn="l" marL="914400" indent="-317500">
              <a:spcBef>
                <a:spcPts val="63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Tune and optimize real systems</a:t>
            </a:r>
            <a:endParaRPr sz="1400"/>
          </a:p>
          <a:p>
            <a:pPr lvl="1" rtl="0" algn="l" marL="914400" indent="-317500">
              <a:spcBef>
                <a:spcPts val="63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Understand the trade-offs in building such systems</a:t>
            </a:r>
            <a:endParaRPr sz="1400"/>
          </a:p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AutoNum type="arabicPeriod"/>
            </a:pPr>
            <a:r>
              <a:rPr lang="en" b="1" sz="1500"/>
              <a:t>Understand the Agent Loop</a:t>
            </a:r>
            <a:endParaRPr sz="15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Today: Workshop 1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Focus on the </a:t>
            </a:r>
            <a:r>
              <a:rPr lang="en" b="1" sz="1700"/>
              <a:t>basic</a:t>
            </a:r>
            <a:r>
              <a:rPr lang="en" sz="1700"/>
              <a:t> definitions and how to work with these models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Build foundation for hands-on work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About 1 hour of lecture, 30 minutes hands-on</a:t>
            </a:r>
            <a:endParaRPr sz="1700"/>
          </a:p>
          <a:p>
            <a:pPr lvl="0" rtl="0" algn="l" marL="0" indent="0">
              <a:spcBef>
                <a:spcPts val="1019"/>
              </a:spcBef>
              <a:spcAft>
                <a:spcPts val="0"/>
              </a:spcAft>
              <a:buNone/>
            </a:pPr>
            <a:r>
              <a:rPr lang="en" b="1" sz="1700"/>
              <a:t>Next lectures</a:t>
            </a:r>
            <a:r>
              <a:rPr lang="en" sz="1700"/>
              <a:t>: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Workshop 2 - 4: Specific Implementation that highlight concrete problems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Dates: TuTh this week and next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Workshops will be 30-ish minutes of lecture followed by 1 hour of hands-on time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Between each lecture there will be a set of readings (usually articles)</a:t>
            </a:r>
            <a:endParaRPr sz="17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28125"/>
            <a:ext cx="8520600" cy="16873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Foundations &amp; Terminology</a:t>
            </a:r>
            <a:endParaRPr sz="4000"/>
          </a:p>
        </p:txBody>
      </p:sp>
      <p:sp>
        <p:nvSpPr>
          <p:cNvPr id="3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So what is AI?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ctr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sz="1800"/>
              <a:t>When people say “AI” today, they usually mean </a:t>
            </a:r>
            <a:r>
              <a:rPr lang="en" b="1" sz="1800"/>
              <a:t>Large Language Models (LLMs)</a:t>
            </a:r>
            <a:r>
              <a:rPr lang="en" sz="1800"/>
              <a:t> or </a:t>
            </a:r>
            <a:r>
              <a:rPr lang="en" b="1" sz="1800"/>
              <a:t>Foundation Model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sz="1800"/>
              <a:t>... So what is an LLM / Foundation Model?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Lets start with LLMs!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 </a:t>
            </a:r>
            <a:r>
              <a:rPr lang="en" b="1" sz="1700"/>
              <a:t>Large Language Model (LLM)</a:t>
            </a:r>
            <a:r>
              <a:rPr lang="en" sz="1700"/>
              <a:t> is an artificial intelligence system trained on massive amounts of text data (often trillions of words)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These models learn patterns in language and can:</a:t>
            </a:r>
            <a:endParaRPr sz="1700"/>
          </a:p>
          <a:p>
            <a:pPr lvl="1" rtl="0" algn="l" marL="914400" indent="-317500">
              <a:spcBef>
                <a:spcPts val="72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Generate human-like text</a:t>
            </a:r>
            <a:endParaRPr sz="1600"/>
          </a:p>
          <a:p>
            <a:pPr lvl="1" rtl="0" algn="l" marL="914400" indent="-317500">
              <a:spcBef>
                <a:spcPts val="72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Answer questions</a:t>
            </a:r>
            <a:endParaRPr sz="1600"/>
          </a:p>
          <a:p>
            <a:pPr lvl="1" rtl="0" algn="l" marL="914400" indent="-317500">
              <a:spcBef>
                <a:spcPts val="72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Translate languages</a:t>
            </a:r>
            <a:endParaRPr sz="1600"/>
          </a:p>
          <a:p>
            <a:pPr lvl="1" rtl="0" algn="l" marL="914400" indent="-317500">
              <a:spcBef>
                <a:spcPts val="72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Summarize documents</a:t>
            </a:r>
            <a:endParaRPr sz="1600"/>
          </a:p>
          <a:p>
            <a:pPr lvl="1" rtl="0" algn="l" marL="914400" indent="-317500">
              <a:spcBef>
                <a:spcPts val="72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Write code</a:t>
            </a:r>
            <a:endParaRPr sz="1600"/>
          </a:p>
          <a:p>
            <a:pPr lvl="1" rtl="0" algn="l" marL="914400" indent="-317500">
              <a:spcBef>
                <a:spcPts val="72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And much more</a:t>
            </a:r>
            <a:endParaRPr sz="16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Think of an LLM as a very sophisticated autocomplete system that has read a significant portion of the internet</a:t>
            </a:r>
            <a:endParaRPr sz="17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LLM Mental Model: Simplified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sz="1800"/>
              <a:t>We won't dive into the specifics of how this works, but this mental model is useful for understanding cost and performance.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Foundation Models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about images and text?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 </a:t>
            </a:r>
            <a:r>
              <a:rPr lang="en" b="1" sz="1800"/>
              <a:t>foundation model</a:t>
            </a:r>
            <a:r>
              <a:rPr lang="en" sz="1800"/>
              <a:t> is a large-scale machine learning model trained on broad data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Key characteristics:</a:t>
            </a:r>
            <a:endParaRPr sz="18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Broad training: Trained on diverse, large-scale datasets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General-purpose: Can be adapted to many different tasks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Transfer learning: Knowledge learned from training can be applied to new tasks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Base for specialization: Can be fine-tuned or used as-is for specific applications</a:t>
            </a:r>
            <a:endParaRPr sz="17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Foundation Models vs LLMs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Foundation Model</a:t>
            </a:r>
            <a:r>
              <a:rPr lang="en" sz="1800"/>
              <a:t> is the broader category</a:t>
            </a:r>
            <a:endParaRPr sz="18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Can handle multiple modalities (text, images, audio, video)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Often called “multimodal models”</a:t>
            </a:r>
            <a:endParaRPr sz="17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LLM</a:t>
            </a:r>
            <a:r>
              <a:rPr lang="en" sz="1800"/>
              <a:t> (should) specifically refers to language models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Colloquially</a:t>
            </a:r>
            <a:r>
              <a:rPr lang="en" sz="1800"/>
              <a:t>: People often say “LLM” to mean “foundation model”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They operate the same way (embedding → transformation → output)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Examples of foundation models: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Language</a:t>
            </a:r>
            <a:r>
              <a:rPr lang="en" sz="1800"/>
              <a:t>: GPT-4, Claude, Llama (these are LLMs)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Vision</a:t>
            </a:r>
            <a:r>
              <a:rPr lang="en" sz="1800"/>
              <a:t>: CLIP, DALL-E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Multimodal</a:t>
            </a:r>
            <a:r>
              <a:rPr lang="en" sz="1800"/>
              <a:t>: GPT-4V (vision + language), Gemini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Key Terminology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Token</a:t>
            </a:r>
            <a:r>
              <a:rPr lang="en" sz="1800"/>
              <a:t>: The basic unit of text that an LLM processes (word, part of word, or punctuation)</a:t>
            </a:r>
            <a:endParaRPr sz="18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1 token ≈ .75 words (so a bit less than a word)</a:t>
            </a:r>
            <a:endParaRPr sz="17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Prompt</a:t>
            </a:r>
            <a:r>
              <a:rPr lang="en" sz="1800"/>
              <a:t>: The input text you give to an LLM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Completion/Response</a:t>
            </a:r>
            <a:r>
              <a:rPr lang="en" sz="1800"/>
              <a:t>: The output text generated by the LLM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How Do We Use These Models?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Chat Interfaces</a:t>
            </a:r>
            <a:r>
              <a:rPr lang="en" sz="1800"/>
              <a:t>: ChatGPT, Claude, Gemini</a:t>
            </a:r>
            <a:endParaRPr sz="18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Direct user interaction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Good for exploration and prototyping</a:t>
            </a:r>
            <a:endParaRPr sz="17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Terminal Interfaces</a:t>
            </a:r>
            <a:r>
              <a:rPr lang="en" sz="1800"/>
              <a:t>: Claude Code CLI, Open AI Codex, OpenCode</a:t>
            </a:r>
            <a:endParaRPr sz="18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Command-line access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Integration with development workflows</a:t>
            </a:r>
            <a:endParaRPr sz="17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API (Application Programming Interface)</a:t>
            </a:r>
            <a:endParaRPr sz="18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b="1" sz="1700"/>
              <a:t>This is our focus</a:t>
            </a:r>
            <a:r>
              <a:rPr lang="en" sz="1700"/>
              <a:t> - programmatic access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Build production systems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Integrate with existing applications</a:t>
            </a:r>
            <a:endParaRPr sz="17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LLM Limitations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sz="1800"/>
              <a:t>While LLMs are powerful, they have important limitations: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Knowledge Cutoff</a:t>
            </a:r>
            <a:r>
              <a:rPr lang="en" sz="1800"/>
              <a:t>: They only know information from their training data up to a certain date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Hallucination</a:t>
            </a:r>
            <a:r>
              <a:rPr lang="en" sz="1800"/>
              <a:t>: They can generate plausible-sounding but incorrect information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No Real-World Actions</a:t>
            </a:r>
            <a:r>
              <a:rPr lang="en" sz="1800"/>
              <a:t>: They can't directly interact with external systems (databases, APIs, file systems)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Context Limits</a:t>
            </a:r>
            <a:r>
              <a:rPr lang="en" sz="1800"/>
              <a:t>: They have maximum context window sizes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Static Knowledge</a:t>
            </a:r>
            <a:r>
              <a:rPr lang="en" sz="1800"/>
              <a:t>: They can't learn new information after training without fine-tuning or retrieval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28125"/>
            <a:ext cx="8520600" cy="16873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Context</a:t>
            </a:r>
            <a:endParaRPr sz="4000"/>
          </a:p>
        </p:txBody>
      </p:sp>
      <p:sp>
        <p:nvSpPr>
          <p:cNvPr id="3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Content Engineering: The Core of AI System Development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Most of what we do when programming AI systems is </a:t>
            </a:r>
            <a:r>
              <a:rPr lang="en" b="1" sz="1700"/>
              <a:t>engineering what goes into the model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We call this </a:t>
            </a:r>
            <a:r>
              <a:rPr lang="en" b="1" sz="1700"/>
              <a:t>content engineering</a:t>
            </a:r>
            <a:r>
              <a:rPr lang="en" sz="1700"/>
              <a:t> (or </a:t>
            </a:r>
            <a:r>
              <a:rPr lang="en" b="1" sz="1700"/>
              <a:t>context engineering</a:t>
            </a:r>
            <a:r>
              <a:rPr lang="en" sz="1700"/>
              <a:t>)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It focuses on manipulating the </a:t>
            </a:r>
            <a:r>
              <a:rPr lang="en" b="1" sz="1700"/>
              <a:t>context window</a:t>
            </a:r>
            <a:r>
              <a:rPr lang="en" sz="1700"/>
              <a:t> to generate responses that are most likely to succeed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This is where the real work happens:</a:t>
            </a:r>
            <a:endParaRPr sz="1700"/>
          </a:p>
          <a:p>
            <a:pPr lvl="1" rtl="0" algn="l" marL="914400" indent="-317500">
              <a:spcBef>
                <a:spcPts val="72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Designing effective prompts</a:t>
            </a:r>
            <a:endParaRPr sz="1600"/>
          </a:p>
          <a:p>
            <a:pPr lvl="1" rtl="0" algn="l" marL="914400" indent="-317500">
              <a:spcBef>
                <a:spcPts val="72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Structuring information for the model</a:t>
            </a:r>
            <a:endParaRPr sz="1600"/>
          </a:p>
          <a:p>
            <a:pPr lvl="1" rtl="0" algn="l" marL="914400" indent="-317500">
              <a:spcBef>
                <a:spcPts val="72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Providing the right examples and constraints</a:t>
            </a:r>
            <a:endParaRPr sz="1600"/>
          </a:p>
          <a:p>
            <a:pPr lvl="1" rtl="0" algn="l" marL="914400" indent="-317500">
              <a:spcBef>
                <a:spcPts val="72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Managing context size and relevance</a:t>
            </a:r>
            <a:endParaRPr sz="16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b="1" sz="1700"/>
              <a:t>The model is powerful, but what you put in determines what you get out</a:t>
            </a:r>
            <a:endParaRPr sz="17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Context windows: What are they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</a:t>
            </a:r>
            <a:r>
              <a:rPr lang="en" b="1" sz="1800"/>
              <a:t>context window</a:t>
            </a:r>
            <a:r>
              <a:rPr lang="en" sz="1800"/>
              <a:t> is the model's working memory for a single request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Everything the model can use must fit inside it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When you exceed the window, something gets dropped or truncated</a:t>
            </a:r>
            <a:endParaRPr sz="18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Some tools will do automatic context window management (compacting, etc), but the trade-offs remain</a:t>
            </a:r>
            <a:endParaRPr sz="17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So how big are these context windows?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Context Window Size Limitations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54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Different models have different maximum context window sizes (measured in </a:t>
            </a:r>
            <a:r>
              <a:rPr lang="en" b="1" sz="1200"/>
              <a:t>tokens</a:t>
            </a:r>
            <a:r>
              <a:rPr lang="en" sz="1200"/>
              <a:t>)</a:t>
            </a:r>
            <a:endParaRPr sz="1200"/>
          </a:p>
          <a:p>
            <a:pPr lvl="0" rtl="0" algn="l" marL="457200" indent="-342900">
              <a:spcBef>
                <a:spcPts val="54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Common model context windows:</a:t>
            </a:r>
            <a:endParaRPr sz="1200"/>
          </a:p>
          <a:p>
            <a:pPr lvl="0" rtl="0" algn="l" marL="457200" indent="-342900">
              <a:spcBef>
                <a:spcPts val="54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Common model context windows:</a:t>
            </a:r>
            <a:endParaRPr sz="1200"/>
          </a:p>
          <a:p>
            <a:pPr lvl="1" rtl="0" algn="l" marL="914400" indent="-317500">
              <a:spcBef>
                <a:spcPts val="495"/>
              </a:spcBef>
              <a:spcAft>
                <a:spcPts val="0"/>
              </a:spcAft>
              <a:buSzPts val="1100"/>
              <a:buChar char="○"/>
            </a:pPr>
            <a:r>
              <a:rPr lang="en" b="1" sz="1100"/>
              <a:t>GPT-5.4</a:t>
            </a:r>
            <a:r>
              <a:rPr lang="en" sz="1100"/>
              <a:t>: 272,000 tokens (standard), expandable to 1,000,000 via API</a:t>
            </a:r>
            <a:endParaRPr sz="1100"/>
          </a:p>
          <a:p>
            <a:pPr lvl="1" rtl="0" algn="l" marL="914400" indent="-317500">
              <a:spcBef>
                <a:spcPts val="495"/>
              </a:spcBef>
              <a:spcAft>
                <a:spcPts val="0"/>
              </a:spcAft>
              <a:buSzPts val="1100"/>
              <a:buChar char="○"/>
            </a:pPr>
            <a:r>
              <a:rPr lang="en" b="1" sz="1100"/>
              <a:t>Claude Sonnet 4.6</a:t>
            </a:r>
            <a:r>
              <a:rPr lang="en" sz="1100"/>
              <a:t>: 1,000,000 tokens</a:t>
            </a:r>
            <a:endParaRPr sz="1100"/>
          </a:p>
          <a:p>
            <a:pPr lvl="1" rtl="0" algn="l" marL="914400" indent="-317500">
              <a:spcBef>
                <a:spcPts val="495"/>
              </a:spcBef>
              <a:spcAft>
                <a:spcPts val="0"/>
              </a:spcAft>
              <a:buSzPts val="1100"/>
              <a:buChar char="○"/>
            </a:pPr>
            <a:r>
              <a:rPr lang="en" b="1" sz="1100"/>
              <a:t>Claude Opus 4.6</a:t>
            </a:r>
            <a:r>
              <a:rPr lang="en" sz="1100"/>
              <a:t>: 1,000,000 tokens</a:t>
            </a:r>
            <a:endParaRPr sz="1100"/>
          </a:p>
          <a:p>
            <a:pPr lvl="1" rtl="0" algn="l" marL="914400" indent="-317500">
              <a:spcBef>
                <a:spcPts val="495"/>
              </a:spcBef>
              <a:spcAft>
                <a:spcPts val="0"/>
              </a:spcAft>
              <a:buSzPts val="1100"/>
              <a:buChar char="○"/>
            </a:pPr>
            <a:r>
              <a:rPr lang="en" b="1" sz="1100"/>
              <a:t>Gemini 3.1 Pro</a:t>
            </a:r>
            <a:r>
              <a:rPr lang="en" sz="1100"/>
              <a:t>: 1,000,000 tokens</a:t>
            </a:r>
            <a:endParaRPr sz="1100"/>
          </a:p>
          <a:p>
            <a:pPr lvl="1" rtl="0" algn="l" marL="914400" indent="-317500">
              <a:spcBef>
                <a:spcPts val="495"/>
              </a:spcBef>
              <a:spcAft>
                <a:spcPts val="0"/>
              </a:spcAft>
              <a:buSzPts val="1100"/>
              <a:buChar char="○"/>
            </a:pPr>
            <a:r>
              <a:rPr lang="en" b="1" sz="1100"/>
              <a:t>Llama 4 Scout</a:t>
            </a:r>
            <a:r>
              <a:rPr lang="en" sz="1100"/>
              <a:t>: 10,000,000 tokens</a:t>
            </a:r>
            <a:endParaRPr sz="1100"/>
          </a:p>
          <a:p>
            <a:pPr lvl="1" rtl="0" algn="l" marL="914400" indent="-317500">
              <a:spcBef>
                <a:spcPts val="495"/>
              </a:spcBef>
              <a:spcAft>
                <a:spcPts val="0"/>
              </a:spcAft>
              <a:buSzPts val="1100"/>
              <a:buChar char="○"/>
            </a:pPr>
            <a:r>
              <a:rPr lang="en" b="1" sz="1100"/>
              <a:t>Llama 3.1</a:t>
            </a:r>
            <a:r>
              <a:rPr lang="en" sz="1100"/>
              <a:t> (70B, 405B): 128,000 tokens</a:t>
            </a:r>
            <a:endParaRPr sz="1100"/>
          </a:p>
          <a:p>
            <a:pPr lvl="0" rtl="0" algn="l" marL="457200" indent="-342900">
              <a:spcBef>
                <a:spcPts val="540"/>
              </a:spcBef>
              <a:spcAft>
                <a:spcPts val="0"/>
              </a:spcAft>
              <a:buSzPts val="1200"/>
              <a:buChar char="●"/>
            </a:pPr>
            <a:r>
              <a:rPr lang="en" b="1" sz="1200"/>
              <a:t>Remember</a:t>
            </a:r>
            <a:r>
              <a:rPr lang="en" sz="1200"/>
              <a:t>: 1 token ≈ 0.75 words</a:t>
            </a:r>
            <a:endParaRPr sz="1200"/>
          </a:p>
          <a:p>
            <a:pPr lvl="0" rtl="0" algn="l" marL="457200" indent="-342900">
              <a:spcBef>
                <a:spcPts val="54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Larger context windows enable:</a:t>
            </a:r>
            <a:endParaRPr sz="1200"/>
          </a:p>
          <a:p>
            <a:pPr lvl="1" rtl="0" algn="l" marL="914400" indent="-317500">
              <a:spcBef>
                <a:spcPts val="495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Processing longer documents</a:t>
            </a:r>
            <a:endParaRPr sz="1100"/>
          </a:p>
          <a:p>
            <a:pPr lvl="1" rtl="0" algn="l" marL="914400" indent="-317500">
              <a:spcBef>
                <a:spcPts val="495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Maintaining longer conversation history</a:t>
            </a:r>
            <a:endParaRPr sz="1100"/>
          </a:p>
          <a:p>
            <a:pPr lvl="1" rtl="0" algn="l" marL="914400" indent="-317500">
              <a:spcBef>
                <a:spcPts val="495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Including more retrieved information</a:t>
            </a:r>
            <a:endParaRPr sz="1100"/>
          </a:p>
          <a:p>
            <a:pPr lvl="0" rtl="0" algn="l" marL="457200" indent="-342900">
              <a:spcBef>
                <a:spcPts val="54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But they also increase cost and latency</a:t>
            </a:r>
            <a:endParaRPr sz="12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Context windows: practical implications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Tradeoffs</a:t>
            </a:r>
            <a:r>
              <a:rPr lang="en" sz="1800"/>
              <a:t>: More context can improve grounding, but increases cost/latency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Recency and placement matter</a:t>
            </a:r>
            <a:r>
              <a:rPr lang="en" sz="1800"/>
              <a:t>: Newer text is usually attended to more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Breaking Down the Context Window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For commercial LLMs, the context window can be broken into 3 components</a:t>
            </a:r>
            <a:endParaRPr sz="18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AutoNum type="arabicPeriod"/>
            </a:pPr>
            <a:r>
              <a:rPr lang="en" b="1" sz="1700"/>
              <a:t>System Prompt</a:t>
            </a:r>
            <a:r>
              <a:rPr lang="en" sz="1700"/>
              <a:t>: High-level instructions &amp; safety rules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AutoNum type="arabicPeriod"/>
            </a:pPr>
            <a:r>
              <a:rPr lang="en" b="1" sz="1700"/>
              <a:t>User Prompt</a:t>
            </a:r>
            <a:r>
              <a:rPr lang="en" sz="1700"/>
              <a:t>: The actual request or question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AutoNum type="arabicPeriod"/>
            </a:pPr>
            <a:r>
              <a:rPr lang="en" b="1" sz="1700"/>
              <a:t>Environment Context</a:t>
            </a:r>
            <a:r>
              <a:rPr lang="en" sz="1700"/>
              <a:t>: Retrieved documents, tool outputs, conversation history</a:t>
            </a:r>
            <a:endParaRPr sz="17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Understanding this breakdown helps with:</a:t>
            </a:r>
            <a:endParaRPr sz="18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Cost optimization (what's necessary vs. optional)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Prompt design (where to put different types of instructions)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Debugging (what the model actually sees)</a:t>
            </a:r>
            <a:endParaRPr sz="17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System Prompt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</a:t>
            </a:r>
            <a:r>
              <a:rPr lang="en" b="1" sz="1800"/>
              <a:t>system prompt</a:t>
            </a:r>
            <a:r>
              <a:rPr lang="en" sz="1800"/>
              <a:t> is separate from the user prompt and sets the model's behavior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</a:t>
            </a:r>
            <a:r>
              <a:rPr lang="en" b="1" sz="1800"/>
              <a:t>system prompt</a:t>
            </a:r>
            <a:r>
              <a:rPr lang="en" sz="1800"/>
              <a:t> sets the highest-level behavior (tone, rules, safety, format)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It is NOT under our control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It can be changed without us noticing or warning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sz="1800"/>
              <a:t>See example system prompts: </a:t>
            </a:r>
            <a:r>
              <a:rPr lang="en" sz="1800">
                <a:hlinkClick r:id="rId2"/>
              </a:rPr>
              <a:t>https://github.com/guy915/System-Prompts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Environment Context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We can add additional features to our context window to give "abilities" to our LLM</a:t>
            </a:r>
            <a:endParaRPr sz="1500"/>
          </a:p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For example: we could add a tool that would allow our LLM to browse our hard drive (in the case of local Claude code)</a:t>
            </a:r>
            <a:endParaRPr sz="1500"/>
          </a:p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There are a lot of different patterns for this:</a:t>
            </a:r>
            <a:endParaRPr sz="1500"/>
          </a:p>
          <a:p>
            <a:pPr lvl="1" rtl="0" algn="l" marL="914400" indent="-317500">
              <a:spcBef>
                <a:spcPts val="63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MCP</a:t>
            </a:r>
            <a:endParaRPr sz="1400"/>
          </a:p>
          <a:p>
            <a:pPr lvl="1" rtl="0" algn="l" marL="914400" indent="-317500">
              <a:spcBef>
                <a:spcPts val="63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Skills</a:t>
            </a:r>
            <a:endParaRPr sz="1400"/>
          </a:p>
          <a:p>
            <a:pPr lvl="1" rtl="0" algn="l" marL="914400" indent="-317500">
              <a:spcBef>
                <a:spcPts val="63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Tools</a:t>
            </a:r>
            <a:endParaRPr sz="1400"/>
          </a:p>
          <a:p>
            <a:pPr lvl="1" rtl="0" algn="l" marL="914400" indent="-317500">
              <a:spcBef>
                <a:spcPts val="63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AGENTS.md</a:t>
            </a:r>
            <a:r>
              <a:rPr lang="en" sz="1400"/>
              <a:t> files</a:t>
            </a:r>
            <a:endParaRPr sz="1400"/>
          </a:p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Anything programmatically accessible that helps the model understand the environment, task, or user's situation</a:t>
            </a:r>
            <a:endParaRPr sz="1500"/>
          </a:p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These are generally put into the context window one time and then always exist when starting up.</a:t>
            </a:r>
            <a:endParaRPr sz="15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User Prompt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</a:t>
            </a:r>
            <a:r>
              <a:rPr lang="en" b="1" sz="1800"/>
              <a:t>User Prompt</a:t>
            </a:r>
            <a:r>
              <a:rPr lang="en" sz="1800"/>
              <a:t> or </a:t>
            </a:r>
            <a:r>
              <a:rPr lang="en" b="1" sz="1800"/>
              <a:t>User Messages</a:t>
            </a:r>
            <a:r>
              <a:rPr lang="en" sz="1800"/>
              <a:t> is what we provide the LLM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This is our most common interaction point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Context Failure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When LLMs fail it is (frequently) due to problems by incorrectly engineered context.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Failure modes</a:t>
            </a:r>
            <a:r>
              <a:rPr lang="en" sz="1800"/>
              <a:t> to watch for:</a:t>
            </a:r>
            <a:endParaRPr sz="18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forgetting earlier constraints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losing critical details due to truncation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quoting the wrong source when too many docs are included</a:t>
            </a:r>
            <a:endParaRPr sz="17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28125"/>
            <a:ext cx="8520600" cy="16873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Pricing</a:t>
            </a:r>
            <a:endParaRPr sz="4000"/>
          </a:p>
        </p:txBody>
      </p:sp>
      <p:sp>
        <p:nvSpPr>
          <p:cNvPr id="3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Token economics: why tokens matter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Most LLM APIs charge by tokens:</a:t>
            </a:r>
            <a:endParaRPr sz="18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b="1" sz="1700"/>
              <a:t>input tokens</a:t>
            </a:r>
            <a:r>
              <a:rPr lang="en" sz="1700"/>
              <a:t> (prompt, system prompt, retrieved docs, tool outputs)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b="1" sz="1700"/>
              <a:t>output tokens</a:t>
            </a:r>
            <a:r>
              <a:rPr lang="en" sz="1700"/>
              <a:t> (the model's response)</a:t>
            </a:r>
            <a:endParaRPr sz="17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Cost and latency generally scale with total tokens processed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Context engineering is also cost engineering</a:t>
            </a:r>
            <a:r>
              <a:rPr lang="en" sz="1800"/>
              <a:t>:</a:t>
            </a:r>
            <a:endParaRPr sz="18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tighter prompts → lower cost and often higher reliability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smaller context when possible → faster, cheaper</a:t>
            </a:r>
            <a:endParaRPr sz="17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Real-world pricing examples</a:t>
            </a:r>
            <a:endParaRPr sz="2800"/>
          </a:p>
        </p:txBody>
      </p:sp>
      <p:sp>
        <p:nvSpPr>
          <p:cNvPr id="3" name="TextBox"/>
          <p:cNvSpPr txBox="1"/>
          <p:nvPr/>
        </p:nvSpPr>
        <p:spPr>
          <a:xfrm>
            <a:off x="311700" y="1152475"/>
            <a:ext cx="8520600" cy="502920"/>
          </a:xfrm>
          <a:prstGeom prst="rect">
            <a:avLst/>
          </a:prstGeom>
          <a:noFill/>
        </p:spPr>
        <p:txBody>
          <a:bodyPr wrap="square" anchor="t" lIns="91425" rIns="91425" tIns="45700" bIns="45700"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Example (OpenAI GPT-4.1 family; per 1M tokens)</a:t>
            </a:r>
            <a:endParaRPr sz="180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1700" y="1756995"/>
          <a:ext cx="8520599" cy="2034539"/>
        </p:xfrm>
        <a:graphic>
          <a:graphicData uri="http://schemas.openxmlformats.org/drawingml/2006/table">
            <a:tbl>
              <a:tblPr firstRow="0" bandRow="0"/>
              <a:tblGrid>
                <a:gridCol w="4445530"/>
                <a:gridCol w="1852304"/>
                <a:gridCol w="2222765"/>
              </a:tblGrid>
              <a:tr h="406907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600"/>
                        <a:t>Model</a:t>
                      </a:r>
                      <a:endParaRPr sz="16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600"/>
                        <a:t>Input</a:t>
                      </a:r>
                      <a:endParaRPr sz="16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600"/>
                        <a:t>Output</a:t>
                      </a:r>
                      <a:endParaRPr sz="16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406907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GPT-5.2</a:t>
                      </a:r>
                      <a:endParaRPr sz="16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$1.75</a:t>
                      </a:r>
                      <a:endParaRPr sz="16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$14.00</a:t>
                      </a:r>
                      <a:endParaRPr sz="16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406907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GPT-4.1</a:t>
                      </a:r>
                      <a:endParaRPr sz="16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$2.00</a:t>
                      </a:r>
                      <a:endParaRPr sz="16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$8.00</a:t>
                      </a:r>
                      <a:endParaRPr sz="16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406907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GPT-4.1 mini</a:t>
                      </a:r>
                      <a:endParaRPr sz="16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$0.40</a:t>
                      </a:r>
                      <a:endParaRPr sz="16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$1.60</a:t>
                      </a:r>
                      <a:endParaRPr sz="16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406911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GPT-4.1 nano</a:t>
                      </a:r>
                      <a:endParaRPr sz="16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$0.10</a:t>
                      </a:r>
                      <a:endParaRPr sz="16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$0.40</a:t>
                      </a:r>
                      <a:endParaRPr sz="16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"/>
          <p:cNvSpPr txBox="1"/>
          <p:nvPr/>
        </p:nvSpPr>
        <p:spPr>
          <a:xfrm>
            <a:off x="311700" y="3893134"/>
            <a:ext cx="8520600" cy="502920"/>
          </a:xfrm>
          <a:prstGeom prst="rect">
            <a:avLst/>
          </a:prstGeom>
          <a:noFill/>
        </p:spPr>
        <p:txBody>
          <a:bodyPr wrap="square" anchor="t" lIns="91425" rIns="91425" tIns="45700" bIns="45700"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sz="1800"/>
              <a:t>Source: </a:t>
            </a:r>
            <a:r>
              <a:rPr lang="en" sz="1800">
                <a:hlinkClick r:id="rId2"/>
              </a:rPr>
              <a:t>https://platform.openai.com/docs/pricing</a:t>
            </a:r>
            <a:endParaRPr sz="1800"/>
          </a:p>
        </p:txBody>
      </p:sp>
      <p:sp>
        <p:nvSpPr>
          <p:cNvPr id="6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Cost math (simple model)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Typical pricing is “$ per 1M tokens”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Approximate cost per call:</a:t>
            </a:r>
            <a:br/>
            <a:r>
              <a:rPr lang="en" sz="1800"/>
              <a:t>cost ≈ (T_in/10^6 · p_in) + (T_out/10^6 · p_out)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Engineering levers:</a:t>
            </a:r>
            <a:endParaRPr sz="18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reduce retrieved context (better retrieval, smaller snippets)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constrain output length (max tokens, structured output)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pick the cheapest model that meets quality requirements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cache repeated context (where supported)</a:t>
            </a:r>
            <a:endParaRPr sz="17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sz="1800"/>
              <a:t>Pricing references: </a:t>
            </a:r>
            <a:r>
              <a:rPr lang="en" sz="1800">
                <a:hlinkClick r:id="rId2"/>
              </a:rPr>
              <a:t>https://openai.com/api/pricing/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28125"/>
            <a:ext cx="8520600" cy="16873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Exercise</a:t>
            </a:r>
            <a:endParaRPr sz="4000"/>
          </a:p>
        </p:txBody>
      </p:sp>
      <p:sp>
        <p:nvSpPr>
          <p:cNvPr id="3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Exercise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sz="1800"/>
              <a:t>The goal for today is: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Team up with another person (min group 2, max group 4)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Get access to your API Keys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Verify that you can use the keys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Complete the notebook by answering the following questions:</a:t>
            </a:r>
            <a:endParaRPr sz="18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How did the different models perform?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What are your take-aways?</a:t>
            </a:r>
            <a:endParaRPr sz="17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