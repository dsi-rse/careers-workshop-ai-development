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Lecture 3: Improving Performance</a:t>
            </a:r>
            <a:endParaRPr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a Working Prototype to Reliable Results</a:t>
            </a:r>
            <a:endParaRPr sz="1800"/>
          </a:p>
          <a:p>
            <a:pPr lvl="0" rtl="0" algn="l"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University of Chicago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Where We Are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Review: What We've Covered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Lecture 1: Foundations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Basic AI terminology (LLMs, tokens, context windows, APIs)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to work with these models programmatically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Understanding pricing and token economics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Lecture 2: Building AI Systems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Vertical slices – prove end-to-end flow works first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Crawl, Walk, Run – start simple, add complexity incrementally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Built a resume scorer: resume + job req → 0–100 score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Where We're Going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Last time</a:t>
            </a:r>
            <a:r>
              <a:rPr lang="en" sz="1800"/>
              <a:t>: We built a working resume scorer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Single prompt, single call, returns a score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works! But how </a:t>
            </a:r>
            <a:r>
              <a:rPr lang="en" i="1" sz="1800"/>
              <a:t>well</a:t>
            </a:r>
            <a:r>
              <a:rPr lang="en" sz="1800"/>
              <a:t> does it work?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Today</a:t>
            </a:r>
            <a:r>
              <a:rPr lang="en" sz="1800"/>
              <a:t>: Techniques to improve AI system performance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Walk through common failure modes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 a toolkit of solutions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Apply them to the resume scorer in the notebook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Framework</a:t>
            </a:r>
            <a:r>
              <a:rPr lang="en" sz="1800"/>
              <a:t>: Problem → Why it happens → Solution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The Single-Shot Baseline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Our Starting Point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The resume scorer from Lecture 2</a:t>
            </a:r>
            <a:r>
              <a:rPr lang="en" sz="1800"/>
              <a:t>:</a:t>
            </a:r>
            <a:endParaRPr sz="1800"/>
          </a:p>
          <a:p>
            <a:pPr lvl="0" rtl="0" algn="ctr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[ Resume Text ] + [ Job Requirements ]</a:t>
            </a:r>
            <a:br/>
            <a:r>
              <a:rPr lang="en" sz="1800"/>
              <a:t>→</a:t>
            </a:r>
            <a:br/>
            <a:r>
              <a:rPr lang="en" sz="1800"/>
              <a:t>[ LLM: “Score 0–100” ]</a:t>
            </a:r>
            <a:br/>
            <a:r>
              <a:rPr lang="en" sz="1800"/>
              <a:t>→</a:t>
            </a:r>
            <a:br/>
            <a:r>
              <a:rPr lang="en" sz="1800"/>
              <a:t>[ Score: 72 ]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This is a vertical slice</a:t>
            </a:r>
            <a:r>
              <a:rPr lang="en" sz="1800"/>
              <a:t> – it works end-to-end.</a:t>
            </a:r>
            <a:br/>
            <a:r>
              <a:rPr lang="en" sz="1800"/>
              <a:t>Now: how do we make it </a:t>
            </a:r>
            <a:r>
              <a:rPr lang="en" i="1" sz="1800"/>
              <a:t>good</a:t>
            </a:r>
            <a:r>
              <a:rPr lang="en" sz="1800"/>
              <a:t>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Does “Good” Look Like?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are some characteristics of good?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(Open Question)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Does “Good” Look Like?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Accurate</a:t>
            </a:r>
            <a:r>
              <a:rPr lang="en" sz="1800"/>
              <a:t> – scores reflect actual candidate quality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Consistent</a:t>
            </a:r>
            <a:r>
              <a:rPr lang="en" sz="1800"/>
              <a:t> – same resume gets the same score every time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Differentiated</a:t>
            </a:r>
            <a:r>
              <a:rPr lang="en" sz="1800"/>
              <a:t> – strong candidates score higher than weak ones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Explainable</a:t>
            </a:r>
            <a:r>
              <a:rPr lang="en" sz="1800"/>
              <a:t> – you can justify why a candidate got their score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Model Iteration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Best practice</a:t>
            </a:r>
            <a:r>
              <a:rPr lang="en" sz="1800"/>
              <a:t>: Create a measurable result, then iterate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Label some data</a:t>
            </a:r>
            <a:r>
              <a:rPr lang="en" sz="1800"/>
              <a:t> – identify resumes where you know the answer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Run your prompt</a:t>
            </a:r>
            <a:r>
              <a:rPr lang="en" sz="1800"/>
              <a:t> – see how the model performs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Identify failures</a:t>
            </a:r>
            <a:r>
              <a:rPr lang="en" sz="1800"/>
              <a:t> – where does it get things wrong?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Adjust and re-run</a:t>
            </a:r>
            <a:r>
              <a:rPr lang="en" sz="1800"/>
              <a:t> – change the prompt, check if results improve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This is the loop we'll follow today</a:t>
            </a:r>
            <a:r>
              <a:rPr lang="en" sz="1800"/>
              <a:t>: identify a problem, apply a fix, measure improvement.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Common Problems and Solutions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Problem 1: Score Averaging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Problem: Everything Gets a Similar Score</a:t>
            </a:r>
            <a:endParaRPr sz="2800"/>
          </a:p>
        </p:txBody>
      </p:sp>
      <p:sp>
        <p:nvSpPr>
          <p:cNvPr id="3" name="TextBox"/>
          <p:cNvSpPr txBox="1"/>
          <p:nvPr/>
        </p:nvSpPr>
        <p:spPr>
          <a:xfrm>
            <a:off x="311700" y="1152475"/>
            <a:ext cx="8520600" cy="434340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You run the scorer on 6 resumes and get</a:t>
            </a:r>
            <a:r>
              <a:rPr lang="en" sz="1500"/>
              <a:t>:</a:t>
            </a:r>
            <a:endParaRPr sz="15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688415"/>
          <a:ext cx="8520599" cy="2251710"/>
        </p:xfrm>
        <a:graphic>
          <a:graphicData uri="http://schemas.openxmlformats.org/drawingml/2006/table">
            <a:tbl>
              <a:tblPr firstRow="0" bandRow="0"/>
              <a:tblGrid>
                <a:gridCol w="5243446"/>
                <a:gridCol w="3277153"/>
              </a:tblGrid>
              <a:tr h="321672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300"/>
                        <a:t>Resume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300"/>
                        <a:t>Score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21672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Resume A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74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21672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Resume B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71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21672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Resume C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68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21672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Resume D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72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21672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Resume E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66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21678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Resume F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70</a:t>
                      </a:r>
                      <a:endParaRPr sz="13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"/>
          <p:cNvSpPr txBox="1"/>
          <p:nvPr/>
        </p:nvSpPr>
        <p:spPr>
          <a:xfrm>
            <a:off x="311700" y="4041725"/>
            <a:ext cx="8520600" cy="662940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Everything is between 66–74.</a:t>
            </a:r>
            <a:r>
              <a:rPr lang="en" sz="1500"/>
              <a:t> The scorer can't tell the difference between a great candidate and a poor one.</a:t>
            </a:r>
            <a:endParaRPr sz="1500"/>
          </a:p>
        </p:txBody>
      </p:sp>
      <p:sp>
        <p:nvSpPr>
          <p:cNvPr id="6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Why Score Bunching Happens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LLMs default to “safe” middle-range answers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Training data is full of moderate, hedging language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Without strong guidance, models avoid extremes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vague prompt like “score 0–100” gives the model no anchor points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The model doesn't know what you mean by “good”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 5 years of Python experience good or average?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 a Master's degree required or a nice-to-have?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Should missing a skill be a small or large penalty?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Without criteria, the model invents its own</a:t>
            </a:r>
            <a:r>
              <a:rPr lang="en" sz="1800"/>
              <a:t> – and they're inconsistent.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Solution: Domain Context and Grounding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Grounding</a:t>
            </a:r>
            <a:r>
              <a:rPr lang="en" sz="1600"/>
              <a:t> = anchoring the model's output in specific facts, criteria, or source material rather than letting it generate from general patterns.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Tell the model exactly what matters and how much</a:t>
            </a:r>
            <a:r>
              <a:rPr lang="en" sz="1600"/>
              <a:t>: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sz="1600"/>
              <a:t>Instead of: “Score this resume 0–100”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sz="1600"/>
              <a:t>Provide: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Specific criteria</a:t>
            </a:r>
            <a:r>
              <a:rPr lang="en" sz="1600"/>
              <a:t> with weights or importance levels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What “high” and “low” mean</a:t>
            </a:r>
            <a:r>
              <a:rPr lang="en" sz="1600"/>
              <a:t> for this role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Must-haves vs. nice-to-haves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Anchor points</a:t>
            </a:r>
            <a:r>
              <a:rPr lang="en" sz="1600"/>
              <a:t>: “A score of 90+ means the candidate meets all requirements. Below 40 means missing critical skills.”</a:t>
            </a:r>
            <a:endParaRPr sz="1600"/>
          </a:p>
          <a:p>
            <a:pPr lvl="0" rtl="0" algn="ctr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The more specific your criteria, the more differentiated the scores</a:t>
            </a:r>
            <a:endParaRPr sz="16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Problem 2: Hallucinated Reasoning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Problem: The Model Makes Things Up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Hallucination</a:t>
            </a:r>
            <a:r>
              <a:rPr lang="en" sz="1800"/>
              <a:t> = when the model generates confident, plausible-sounding content that is not supported by the input data.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You ask the model to explain its score</a:t>
            </a:r>
            <a:r>
              <a:rPr lang="en" sz="1800"/>
              <a:t>:</a:t>
            </a:r>
            <a:endParaRPr sz="1800"/>
          </a:p>
          <a:p>
            <a:pPr lvl="1" rtl="0" algn="l" marL="45720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sz="1700"/>
              <a:t>“The candidate has 8 years of Python experience and demonstrated strong leadership at a Fortune 500 company...”</a:t>
            </a:r>
            <a:endParaRPr sz="17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But the resume says</a:t>
            </a:r>
            <a:r>
              <a:rPr lang="en" sz="1800"/>
              <a:t>: 3 years of Python, worked at a 20-person startup.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The model generated a plausible-sounding justification that doesn't match the actual resume.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Why Hallucination Happens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LLMs are pattern completers, not fact checkers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They generate text that </a:t>
            </a:r>
            <a:r>
              <a:rPr lang="en" i="1" sz="1800"/>
              <a:t>sounds right</a:t>
            </a:r>
            <a:r>
              <a:rPr lang="en" sz="1800"/>
              <a:t> based on patterns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“Senior developer” in training data often correlates with “8+ years”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Without explicit instruction to reference the source, they fill gaps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This is especially dangerous for scoring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Score might be based on hallucinated qualifications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can't trust the reasoning to explain the score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Impossible to audit or defend decisions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Solution: Require Evidence (Grounding)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Force the model to cite its sources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Require </a:t>
            </a:r>
            <a:r>
              <a:rPr lang="en" b="1" sz="1800"/>
              <a:t>exact quotes</a:t>
            </a:r>
            <a:r>
              <a:rPr lang="en" sz="1800"/>
              <a:t> from the resume for every claim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Ask for evidence </a:t>
            </a:r>
            <a:r>
              <a:rPr lang="en" i="1" sz="1800"/>
              <a:t>before</a:t>
            </a:r>
            <a:r>
              <a:rPr lang="en" sz="1800"/>
              <a:t> the conclusion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an “evidence” field in structured output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Validate that cited text actually appears in the resume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Result</a:t>
            </a:r>
            <a:r>
              <a:rPr lang="en" sz="1800"/>
              <a:t>: Instead of inventing “8 years of Python,” the model must point to the actual text: “Python developer, 2021–2024”</a:t>
            </a:r>
            <a:endParaRPr sz="1800"/>
          </a:p>
          <a:p>
            <a:pPr lvl="0" rtl="0" algn="ctr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Grounding turns the LLM from a “creative writer” into an “evidence-based analyst”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Problem 3: Inconsistency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Problem: Same Resume, Different Scores</a:t>
            </a:r>
            <a:endParaRPr sz="2800"/>
          </a:p>
        </p:txBody>
      </p:sp>
      <p:sp>
        <p:nvSpPr>
          <p:cNvPr id="3" name="TextBox"/>
          <p:cNvSpPr txBox="1"/>
          <p:nvPr/>
        </p:nvSpPr>
        <p:spPr>
          <a:xfrm>
            <a:off x="311700" y="1152475"/>
            <a:ext cx="8520600" cy="457200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Run the same resume through the scorer three times</a:t>
            </a:r>
            <a:r>
              <a:rPr lang="en" sz="1600"/>
              <a:t>:</a:t>
            </a:r>
            <a:endParaRPr sz="16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711275"/>
          <a:ext cx="8520600" cy="1463040"/>
        </p:xfrm>
        <a:graphic>
          <a:graphicData uri="http://schemas.openxmlformats.org/drawingml/2006/table">
            <a:tbl>
              <a:tblPr firstRow="0" bandRow="0"/>
              <a:tblGrid>
                <a:gridCol w="4260300"/>
                <a:gridCol w="4260300"/>
              </a:tblGrid>
              <a:tr h="36576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400"/>
                        <a:t>Run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400"/>
                        <a:t>Score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Run 1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78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Run 2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65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Run 3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82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"/>
          <p:cNvSpPr txBox="1"/>
          <p:nvPr/>
        </p:nvSpPr>
        <p:spPr>
          <a:xfrm>
            <a:off x="311700" y="3275915"/>
            <a:ext cx="8520600" cy="1463040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A 17-point spread on the same input.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Is this candidate a 65 or an 82?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Would you trust this system to rank candidates?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if the hiring decision depends on a threshold?</a:t>
            </a:r>
            <a:endParaRPr sz="1600"/>
          </a:p>
        </p:txBody>
      </p:sp>
      <p:sp>
        <p:nvSpPr>
          <p:cNvPr id="6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Why Inconsistency Happens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LLMs are non-deterministic by design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Temperature controls randomness in token selection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Even at low temperature, outputs can vary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Vague instructions amplify variance – many “correct” answers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The less constrained the task, the more variance you get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“Score 0–100” has enormous output space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“Classify as: Strong Match / Partial Match / No Match” has 3 options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More structure = less room for random drift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Solution: Temperature and Structured Output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Reduce randomness and constrain the output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b="1" sz="1700"/>
              <a:t>Lower temperature</a:t>
            </a:r>
            <a:r>
              <a:rPr lang="en" sz="1700"/>
              <a:t> (0.0–0.3) for classification and scoring tasks</a:t>
            </a:r>
            <a:endParaRPr sz="17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Less creative, more consistent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Save high temperature for brainstorming, not evaluation</a:t>
            </a:r>
            <a:endParaRPr sz="16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b="1" sz="1700"/>
              <a:t>Structured output schemas</a:t>
            </a:r>
            <a:r>
              <a:rPr lang="en" sz="1700"/>
              <a:t> force specific fields and types</a:t>
            </a:r>
            <a:endParaRPr sz="17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JSON schema with required fields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Constrained ranges (score must be 0–100)</a:t>
            </a:r>
            <a:endParaRPr sz="16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Enumerated categories instead of free text</a:t>
            </a:r>
            <a:endParaRPr sz="16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b="1" sz="1700"/>
              <a:t>Specific criteria</a:t>
            </a:r>
            <a:r>
              <a:rPr lang="en" sz="1700"/>
              <a:t> reduce subjective interpretation</a:t>
            </a:r>
            <a:endParaRPr sz="1700"/>
          </a:p>
          <a:p>
            <a:pPr lvl="1" rtl="0" algn="l" marL="914400" indent="-317500">
              <a:spcBef>
                <a:spcPts val="72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“Does the candidate have 5+ years Python?” has less variance than “Rate their Python skills”</a:t>
            </a:r>
            <a:endParaRPr sz="16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Problem 4: Missing Nuance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Problem: The Scorer Ignores Important Factors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A strong candidate gets a mediocre score because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scorer focused on keyword matching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Missed that the candidate led a relevant project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Didn't weigh industry experience appropriately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Treated a PhD the same as a Bachelor's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A weaker candidate scores nearly as high because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Had the right keywords sprinkled throughout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Model couldn't distinguish depth from breadth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Single prompt tries to evaluate everything at once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One prompt asking “score this resume” is too much at once.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Solution: Decomposition</a:t>
            </a:r>
            <a:endParaRPr sz="2800"/>
          </a:p>
        </p:txBody>
      </p:sp>
      <p:sp>
        <p:nvSpPr>
          <p:cNvPr id="3" name="TextBox"/>
          <p:cNvSpPr txBox="1"/>
          <p:nvPr/>
        </p:nvSpPr>
        <p:spPr>
          <a:xfrm>
            <a:off x="311700" y="1152475"/>
            <a:ext cx="8520600" cy="480059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Break the scoring into focused sub-tasks</a:t>
            </a:r>
            <a:r>
              <a:rPr lang="en" sz="1700"/>
              <a:t>:</a:t>
            </a:r>
            <a:endParaRPr sz="17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734134"/>
          <a:ext cx="8520598" cy="1223010"/>
        </p:xfrm>
        <a:graphic>
          <a:graphicData uri="http://schemas.openxmlformats.org/drawingml/2006/table">
            <a:tbl>
              <a:tblPr firstRow="0" bandRow="0"/>
              <a:tblGrid>
                <a:gridCol w="1573033"/>
                <a:gridCol w="2883895"/>
                <a:gridCol w="4063670"/>
              </a:tblGrid>
              <a:tr h="40767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[ Extract Experience ]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[ Resume ] →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[ Extract Skills ]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→ [ Combine &amp; Score (in code) ]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[ Extract Education ]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"/>
          <p:cNvSpPr txBox="1"/>
          <p:nvPr/>
        </p:nvSpPr>
        <p:spPr>
          <a:xfrm>
            <a:off x="311700" y="3058744"/>
            <a:ext cx="8520600" cy="1548764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Each sub-task is simpler and more focused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Easier for the model to get right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Easier for you to debug (which step went wrong?)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Can use different prompts/models for different steps</a:t>
            </a:r>
            <a:endParaRPr sz="1700"/>
          </a:p>
        </p:txBody>
      </p:sp>
      <p:sp>
        <p:nvSpPr>
          <p:cNvPr id="6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Decomposition: Key Idea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Use LLMs for what they're good at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Extracting information from unstructured text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Classification and categorization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Summarization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Use code for what code is good at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Conditional logic (if/then rules)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Math and scoring formulas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Combining results from multiple steps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Enforcing business rules consistently</a:t>
            </a:r>
            <a:endParaRPr sz="1700"/>
          </a:p>
          <a:p>
            <a:pPr lvl="0" rtl="0" algn="ctr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LLMs extract and classify. Code decides and calculates.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Problem 5: Edge Cases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Problem: Ambiguous Resumes Get Random Scores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Some resumes are genuinely hard to evaluate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Career changer with transferable but non-obvious skills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Experience in adjacent technology (Java listed, role needs Python)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Years of experience in a broader category but not the specific area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Without guidance, the model handles these inconsistently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Sometimes gives benefit of the doubt, sometimes doesn't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consistent policy for “close but not exact” matches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run may interpret the ambiguity differently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Solution: Few-Shot Examples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Show the model how you want edge cases handled</a:t>
            </a:r>
            <a:r>
              <a:rPr lang="en" sz="1600"/>
              <a:t>: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Include 2–5 examples in your prompt that cover</a:t>
            </a:r>
            <a:r>
              <a:rPr lang="en" sz="1600"/>
              <a:t>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 sz="1600"/>
              <a:t>A clear strong match</a:t>
            </a:r>
            <a:r>
              <a:rPr lang="en" sz="1600"/>
              <a:t> – what does “high score” look like?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 sz="1600"/>
              <a:t>A clear weak match</a:t>
            </a:r>
            <a:r>
              <a:rPr lang="en" sz="1600"/>
              <a:t> – what earns a low score?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 sz="1600"/>
              <a:t>An ambiguous case</a:t>
            </a:r>
            <a:r>
              <a:rPr lang="en" sz="1600"/>
              <a:t> – how should the model handle it?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Examples are more powerful than instructions</a:t>
            </a:r>
            <a:r>
              <a:rPr lang="en" sz="1600"/>
              <a:t>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“Score based on relevant experience” is vague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Showing a scored example of “5 years Java → 60 for a Python role” is concrete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model learns your </a:t>
            </a:r>
            <a:r>
              <a:rPr lang="en" i="1" sz="1600"/>
              <a:t>policy</a:t>
            </a:r>
            <a:r>
              <a:rPr lang="en" sz="1600"/>
              <a:t>, not just your words</a:t>
            </a:r>
            <a:endParaRPr sz="1600"/>
          </a:p>
          <a:p>
            <a:pPr lvl="0" rtl="0" algn="ctr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Few-shot examples encode your judgment for edge cases</a:t>
            </a:r>
            <a:endParaRPr sz="16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More Techniques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Changing Models and Role Specification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Not all models are equal for every task</a:t>
            </a:r>
            <a:r>
              <a:rPr lang="en" sz="1500"/>
              <a:t>: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b="1" sz="1500"/>
              <a:t>Larger models</a:t>
            </a:r>
            <a:r>
              <a:rPr lang="en" sz="1500"/>
              <a:t> (GPT-4, Claude Opus) – better reasoning, more expensive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b="1" sz="1500"/>
              <a:t>Smaller models</a:t>
            </a:r>
            <a:r>
              <a:rPr lang="en" sz="1500"/>
              <a:t> (Claude Haiku, GPT-4o-mini) – faster, cheaper, good for simple tasks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Start with a capable model, then try cheaper ones and see if quality holds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Sometimes switching models fixes problems that prompt engineering can't</a:t>
            </a:r>
            <a:endParaRPr sz="1500"/>
          </a:p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Role/persona specification</a:t>
            </a:r>
            <a:r>
              <a:rPr lang="en" sz="1500"/>
              <a:t> – set the model's “mindset”: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“You are a hiring manager at a tech company” → evaluates like a practitioner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“You are a senior engineer reviewing technical qualifications” → focuses on depth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Activates relevant patterns from training data; one sentence is usually enough</a:t>
            </a:r>
            <a:endParaRPr sz="15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Chain-of-Thought and Output Validation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Chain-of-thought</a:t>
            </a:r>
            <a:r>
              <a:rPr lang="en" sz="1600"/>
              <a:t> – ask the model to reason before answering: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“First list the relevant qualifications, then evaluate each one”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Forces organized reasoning before committing to an answer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Tradeoff: more tokens (cost and latency) for better accuracy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Output validation and guardrails</a:t>
            </a:r>
            <a:r>
              <a:rPr lang="en" sz="1600"/>
              <a:t> – don't trust, verify: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Schema validation</a:t>
            </a:r>
            <a:r>
              <a:rPr lang="en" sz="1600"/>
              <a:t>: Use structured output (e.g., Pydantic) to enforce field types and ranges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Range checks</a:t>
            </a:r>
            <a:r>
              <a:rPr lang="en" sz="1600"/>
              <a:t>: Score must be 0–100, not 150 or -5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Re-prompting</a:t>
            </a:r>
            <a:r>
              <a:rPr lang="en" sz="1600"/>
              <a:t>: If output fails validation, try again (with a limit)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Combine AI flexibility with code reliability – a safety net, not a replacement for good prompts</a:t>
            </a:r>
            <a:endParaRPr sz="16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Beyond Prompt Engineering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When Prompting Isn't Enough: Fine-Tuning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Fine-tuning</a:t>
            </a:r>
            <a:r>
              <a:rPr lang="en" sz="1500"/>
              <a:t> = training a model on your specific data</a:t>
            </a:r>
            <a:endParaRPr sz="1500"/>
          </a:p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Consider fine-tuning when</a:t>
            </a:r>
            <a:r>
              <a:rPr lang="en" sz="1500"/>
              <a:t>: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have </a:t>
            </a:r>
            <a:r>
              <a:rPr lang="en" i="1" sz="1500"/>
              <a:t>lots</a:t>
            </a:r>
            <a:r>
              <a:rPr lang="en" sz="1500"/>
              <a:t> of labeled examples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Prompt engineering has plateaued and you need more consistency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need to reduce cost (fine-tuned small models can replace large ones)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have a very domain-specific task with specialized vocabulary</a:t>
            </a:r>
            <a:endParaRPr sz="1500"/>
          </a:p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Don't fine-tune when</a:t>
            </a:r>
            <a:r>
              <a:rPr lang="en" sz="1500"/>
              <a:t>: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haven't tried prompt engineering thoroughly first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Your labeled data is small or noisy</a:t>
            </a:r>
            <a:endParaRPr sz="15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Requirements change frequently (re-training is expensive)</a:t>
            </a:r>
            <a:endParaRPr sz="1500"/>
          </a:p>
          <a:p>
            <a:pPr lvl="0" rtl="0" algn="l"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" b="1" sz="1500"/>
              <a:t>Rule of thumb</a:t>
            </a:r>
            <a:r>
              <a:rPr lang="en" sz="1500"/>
              <a:t>: Exhaust prompt engineering before fine-tuning.</a:t>
            </a:r>
            <a:endParaRPr sz="15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Putting It All Together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The Improvement Toolkit</a:t>
            </a:r>
            <a:endParaRPr sz="2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1700" y="1152475"/>
          <a:ext cx="8520599" cy="3623310"/>
        </p:xfrm>
        <a:graphic>
          <a:graphicData uri="http://schemas.openxmlformats.org/drawingml/2006/table">
            <a:tbl>
              <a:tblPr firstRow="0" bandRow="0"/>
              <a:tblGrid>
                <a:gridCol w="4113393"/>
                <a:gridCol w="4407206"/>
              </a:tblGrid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500"/>
                        <a:t>Problem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500"/>
                        <a:t>Solution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Scores bunch together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Domain context, anchor points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Model makes things up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Grounding with citations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Results vary across runs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Temperature, structured output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Misses important factors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Decomposition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Edge cases handled randomly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Few-shot examples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Wrong “personality” for task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Role/persona specification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Reasoning is shallow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Chain-of-thought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Bad outputs slip through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Output validation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62331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Prompt engineering plateaus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Change model or fine-tune</a:t>
                      </a:r>
                      <a:endParaRPr sz="15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Order of Operations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When improving an AI system, try techniques in this order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Get specific</a:t>
            </a:r>
            <a:r>
              <a:rPr lang="en" sz="1800"/>
              <a:t> – Add domain context, criteria, and anchor points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Add structure</a:t>
            </a:r>
            <a:r>
              <a:rPr lang="en" sz="1800"/>
              <a:t> – Structured output, lower temperature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Ground it</a:t>
            </a:r>
            <a:r>
              <a:rPr lang="en" sz="1800"/>
              <a:t> – Require citations and evidence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Show examples</a:t>
            </a:r>
            <a:r>
              <a:rPr lang="en" sz="1800"/>
              <a:t> – Few-shot prompting for edge cases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Break it apart</a:t>
            </a:r>
            <a:r>
              <a:rPr lang="en" sz="1800"/>
              <a:t> – Decompose into sub-tasks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Try a different model</a:t>
            </a:r>
            <a:r>
              <a:rPr lang="en" sz="1800"/>
              <a:t> – Bigger, smaller, or specialized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Fine-tune</a:t>
            </a:r>
            <a:r>
              <a:rPr lang="en" sz="1800"/>
              <a:t> – Only after exhausting the above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Each step is more effort than the last.</a:t>
            </a:r>
            <a:r>
              <a:rPr lang="en" sz="1800"/>
              <a:t> Start cheap and simple.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Your Turn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Today's Exercise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Open the notebook</a:t>
            </a:r>
            <a:r>
              <a:rPr lang="en" sz="1700"/>
              <a:t>: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lecture_3_resume_scorer_improvement.ipynb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You have 6 resumes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2 </a:t>
            </a:r>
            <a:r>
              <a:rPr lang="en" b="1" sz="1700"/>
              <a:t>gold</a:t>
            </a:r>
            <a:r>
              <a:rPr lang="en" sz="1700"/>
              <a:t> – strong matches (should score high)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2 </a:t>
            </a:r>
            <a:r>
              <a:rPr lang="en" b="1" sz="1700"/>
              <a:t>silver</a:t>
            </a:r>
            <a:r>
              <a:rPr lang="en" sz="1700"/>
              <a:t> – decent matches (should score moderately)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2 </a:t>
            </a:r>
            <a:r>
              <a:rPr lang="en" b="1" sz="1700"/>
              <a:t>wild</a:t>
            </a:r>
            <a:r>
              <a:rPr lang="en" sz="1700"/>
              <a:t> – unknown quality (likely score lower)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Your goal</a:t>
            </a:r>
            <a:r>
              <a:rPr lang="en" sz="1700"/>
              <a:t>: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Start with the baseline single-shot scorer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Apply the techniques from today's lecture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Improve separation: gold &gt; silver &gt; wild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Submit your scores to the leaderboard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to Try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Pick techniques and experiment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Rewrite the prompt with specific scoring criteria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Add a role/persona to the system message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few-shot examples of good and bad resumes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Decompose into extraction steps and combine in code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Require evidence citations for the score justification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Try different models and compare results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Adjust temperature for more consistent outputs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Measure your progress</a:t>
            </a:r>
            <a:r>
              <a:rPr lang="en" sz="1800"/>
              <a:t>: Do gold resumes reliably outscore silver? Do silver outscore wild?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Let's Get Started!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ctr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Open the notebook:</a:t>
            </a:r>
            <a:br/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lecture_3_resume_scorer_improvement.ipynb</a:t>
            </a:r>
            <a:endParaRPr sz="1800"/>
          </a:p>
          <a:p>
            <a:pPr lvl="0" rtl="0" algn="ctr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Apply the techniques</a:t>
            </a:r>
            <a:br/>
            <a:r>
              <a:rPr lang="en" sz="1800"/>
              <a:t>Improve gold vs. silver vs. wild separation</a:t>
            </a:r>
            <a:br/>
            <a:r>
              <a:rPr lang="en" sz="1800"/>
              <a:t>Submit to the leaderboard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